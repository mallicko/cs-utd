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1387" r:id="rId2"/>
    <p:sldId id="1388" r:id="rId3"/>
    <p:sldId id="1389" r:id="rId4"/>
    <p:sldId id="1390" r:id="rId5"/>
    <p:sldId id="1391" r:id="rId6"/>
    <p:sldId id="1392" r:id="rId7"/>
    <p:sldId id="1421" r:id="rId8"/>
    <p:sldId id="1394" r:id="rId9"/>
    <p:sldId id="1396" r:id="rId10"/>
    <p:sldId id="1397" r:id="rId11"/>
    <p:sldId id="1398" r:id="rId12"/>
    <p:sldId id="1399" r:id="rId13"/>
    <p:sldId id="1400" r:id="rId14"/>
    <p:sldId id="1401" r:id="rId15"/>
    <p:sldId id="1402" r:id="rId16"/>
    <p:sldId id="1403" r:id="rId17"/>
    <p:sldId id="1404" r:id="rId18"/>
    <p:sldId id="1405" r:id="rId19"/>
    <p:sldId id="1406" r:id="rId20"/>
    <p:sldId id="1407" r:id="rId21"/>
    <p:sldId id="1408" r:id="rId22"/>
    <p:sldId id="1409" r:id="rId23"/>
    <p:sldId id="1410" r:id="rId24"/>
    <p:sldId id="1411" r:id="rId25"/>
    <p:sldId id="1413" r:id="rId26"/>
    <p:sldId id="141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BFE9F-B45D-48A6-9A7C-68497B96D00C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AF9BB-26F1-41A2-99BC-BF7CB34AD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4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37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77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0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17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48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6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96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050" b="0" i="0" u="none" strike="noStrike" baseline="0" dirty="0">
              <a:solidFill>
                <a:srgbClr val="221E1F"/>
              </a:solidFill>
              <a:latin typeface="STIX MathJax Mai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85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2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71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11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03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19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65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1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08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39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94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44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89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12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E8D09-9492-4554-9C8F-456CB81F32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51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50F4-130C-A339-BFB9-8023F5C69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6E409-147B-E899-36DE-7B6BDF87E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2F83-3AD0-7F11-0170-C7A6B88C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01358-C48F-FCF8-07D9-7B6564B2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6D278-D722-9109-BB40-809B8DD4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5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AFA5-CD33-2B7A-AE78-37A08C50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24A3-FCD1-0B00-1672-933AB20C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1C8AF-5269-A46B-F7B9-143F0D98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C4866-90BE-0EE8-F32A-C378D99D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77B32-FA75-FAF1-00E3-B7C7E23A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A5B7-8FA0-AE13-BAF4-01EE869A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A6474-F670-972E-430C-AE50609DA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D2F9-CD9E-FC0C-B4C5-D64186D1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C1EA9-098C-298A-AC24-F8149E70C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F3C72-89F5-BCF2-EDC5-FA870A6F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4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EEA1-6B2B-4AB3-E2E4-24C2B0AE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79508-8ABB-66CB-F189-FC58D04F2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D57AB-9813-9F76-6043-E5D40180F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1B73B-B27A-F9D8-B14D-CD3E037B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BC816-6DE8-965E-7DF6-31F87D67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DC1E4-6081-74C7-4E45-22C54D49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8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3936-AB1D-661C-1891-26D8DF50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F5BFD-3BCA-DFA4-6EB8-ED3B65287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15387-C2E8-909C-FD6B-03D1EB185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0D2A8-5A6D-D6E7-E595-B74B3E569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EB86F-35A4-D186-41C8-9E46CE627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30345-4BCA-DC34-B9AD-41001BB62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FA98-B1A1-411D-4A7D-227F6072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25BE78-380F-7F84-4350-EA8A6CDD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3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AE56-ED3C-13CA-6E80-A649B3F0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29FC1-4236-8579-F5FB-9A620C5FE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1BDC3-44AE-45FD-3591-BC42D506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390C2-CC0E-7005-2C9B-101C599E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2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A9DB8A-5E36-C096-3288-C40C93F8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9AB8B-0E75-9768-117F-1EF8EC37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0EDF4-CC40-804E-CAB3-044FBFC4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4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36CA-31ED-78A9-2C20-72704898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3BFC7-B9F6-379B-8D17-CF9776CA0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96CD9-BF2B-AEC4-A62C-A7FD7128D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4C00-400D-B033-F008-44CEC1052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A8FCD-FDFA-102A-809B-51FF1A5B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418E-E3E5-4E21-924B-4CE74EA4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1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1EA8-7031-2912-26E9-846E30C6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1A8E9-EAE4-E04A-A8CF-A16348A25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1D0B4-F046-629A-C030-7EF546853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1EA9E-4F8E-FD8A-830C-E495F721B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50C5-7A5E-30A9-77A9-F8DA7118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59FA6-4C32-BD28-4E14-61E2E850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7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E08A-F27A-349B-2E07-94BEED05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444E1-2DA5-B45E-F9DA-18931AAA0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630F-3E8B-11B8-4D37-0EECD3E3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EB3C3-4211-0B47-1AE9-7D6CCB72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B503-D2CE-0C7D-FFD0-54E3F413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1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946C3-CC23-3BCF-2CC2-7CD59498A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1C861-22E0-C5A7-ADAD-4C2BB95FB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E4EE0-86F6-7A5E-293C-208C52AA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E8674-BC35-5917-8705-A40A92C88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820DF-3F0E-E611-B8AE-58BD37DB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08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463" y="6324600"/>
            <a:ext cx="320707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F8D8291-5BF4-41AC-87CE-ED5DE4CB1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979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157732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916384"/>
            <a:ext cx="11277600" cy="1577327"/>
          </a:xfrm>
        </p:spPr>
        <p:txBody>
          <a:bodyPr/>
          <a:lstStyle>
            <a:lvl1pPr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752" y="6324600"/>
            <a:ext cx="320649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02FDC4-9007-47FA-8867-BFB4513F33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5667" y="4648198"/>
            <a:ext cx="11277600" cy="1577327"/>
          </a:xfrm>
        </p:spPr>
        <p:txBody>
          <a:bodyPr/>
          <a:lstStyle>
            <a:lvl1pPr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071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363842"/>
            <a:ext cx="11277600" cy="497169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463" y="6324600"/>
            <a:ext cx="320707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F8D8291-5BF4-41AC-87CE-ED5DE4CB1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40191-36CE-44C1-A5A8-83E9C7E9CD5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91367" y="3849688"/>
            <a:ext cx="33909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1914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612476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070496"/>
            <a:ext cx="11277600" cy="649138"/>
          </a:xfr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2900944"/>
            <a:ext cx="11277600" cy="673100"/>
          </a:xfr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3755354"/>
            <a:ext cx="11277600" cy="698500"/>
          </a:xfr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635164"/>
            <a:ext cx="11277600" cy="698500"/>
          </a:xfr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5514976"/>
            <a:ext cx="11277600" cy="733425"/>
          </a:xfr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752" y="6324600"/>
            <a:ext cx="320649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2" y="6684964"/>
            <a:ext cx="92963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13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2491"/>
            <a:ext cx="11277600" cy="90323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283809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4343400"/>
            <a:ext cx="11277600" cy="1905000"/>
          </a:xfrm>
        </p:spPr>
        <p:txBody>
          <a:bodyPr/>
          <a:lstStyle>
            <a:lvl1pPr>
              <a:defRPr sz="2400"/>
            </a:lvl1pPr>
            <a:lvl2pPr marL="292608" indent="-292608">
              <a:spcBef>
                <a:spcPts val="1000"/>
              </a:spcBef>
              <a:spcAft>
                <a:spcPts val="0"/>
              </a:spcAft>
              <a:defRPr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752" y="6324600"/>
            <a:ext cx="320649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1883" y="6673531"/>
            <a:ext cx="474453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30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E6B90-5371-FC02-5A71-B97A5068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5890-9EA6-C7EB-45DB-6EAF0C14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DE80D-83FF-3D62-4C89-B1B1858AF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67250-159A-4CB8-9078-1C01546B6077}" type="datetimeFigureOut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4ADF1-4017-F8EF-46AF-FF18B17AC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4FF59-A40F-F1D0-027E-9BE508C8A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DCD41-237B-45F9-93BF-03A3D10FB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2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0.e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0.e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6.w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6.w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2.w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2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19.e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3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4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BEC2-0E9B-4FC0-83A1-9413FE65B96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noProof="0" dirty="0">
                <a:solidFill>
                  <a:schemeClr val="tx1"/>
                </a:solidFill>
              </a:rPr>
              <a:t>Chapter outline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D0158-AABA-482E-BB3D-964FD51305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892" y="1933203"/>
            <a:ext cx="9727223" cy="4350366"/>
          </a:xfrm>
        </p:spPr>
        <p:txBody>
          <a:bodyPr/>
          <a:lstStyle/>
          <a:p>
            <a:pPr marL="292608" indent="-292608"/>
            <a:r>
              <a:rPr lang="en-US" altLang="en-US" sz="3200" dirty="0"/>
              <a:t>Sources and Uses of Cash</a:t>
            </a:r>
          </a:p>
          <a:p>
            <a:pPr marL="292608" indent="-292608"/>
            <a:r>
              <a:rPr lang="en-US" altLang="en-US" sz="3200" dirty="0"/>
              <a:t>Standardize financial statements for comparison purposes.</a:t>
            </a:r>
          </a:p>
          <a:p>
            <a:pPr marL="292608" indent="-292608"/>
            <a:r>
              <a:rPr lang="en-US" altLang="en-US" sz="3200" dirty="0"/>
              <a:t>Compute and interpret some common ratios. </a:t>
            </a:r>
          </a:p>
          <a:p>
            <a:pPr marL="1207008" lvl="2"/>
            <a:r>
              <a:rPr lang="en-US" altLang="en-US" dirty="0"/>
              <a:t>We will not cover ratios in detail</a:t>
            </a:r>
          </a:p>
          <a:p>
            <a:pPr marL="292608" indent="-292608"/>
            <a:r>
              <a:rPr lang="en-US" altLang="en-US" sz="3200" dirty="0"/>
              <a:t>Explain some of the problems and pitfalls in financial statement analysis.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96B56-44C5-4D7A-AEC2-0DA9C9C58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08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A6C2-D727-45EC-9DDE-24267C53642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sz="2400" dirty="0"/>
              <a:t>Cash flow and financial statements: A closer look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78C5D-7803-48AA-8320-07781BCAE8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333198"/>
            <a:ext cx="11277600" cy="2277965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en-US" sz="2200" dirty="0"/>
              <a:t>Activities that bring in cash are called </a:t>
            </a:r>
            <a:r>
              <a:rPr lang="en-US" altLang="en-US" sz="2200" b="1" dirty="0"/>
              <a:t>sources of cash</a:t>
            </a:r>
            <a:r>
              <a:rPr lang="en-US" altLang="en-US" sz="2200" dirty="0"/>
              <a:t>, while activities that involve spending cash are called </a:t>
            </a:r>
            <a:r>
              <a:rPr lang="en-US" altLang="en-US" sz="2200" b="1" dirty="0"/>
              <a:t>uses of cash.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2200" dirty="0"/>
              <a:t>An increase in a left-side (asset) account or a decrease in a right-side (liability or equity) account is a </a:t>
            </a:r>
            <a:r>
              <a:rPr lang="en-US" altLang="en-US" sz="2200" b="1" i="1" u="sng" dirty="0"/>
              <a:t>use of cash</a:t>
            </a:r>
            <a:r>
              <a:rPr lang="en-US" altLang="en-US" sz="2200" i="1" dirty="0"/>
              <a:t>.</a:t>
            </a:r>
          </a:p>
          <a:p>
            <a:pPr marL="0" lvl="1" indent="0">
              <a:buNone/>
              <a:defRPr/>
            </a:pPr>
            <a:r>
              <a:rPr lang="en-US" altLang="en-US" sz="2200" dirty="0"/>
              <a:t>	Increase in an asset account means the firm, on a net basis, bought some assets – a 	use of cash.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6DB8E-AD3A-42A5-B180-03C5AA577E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712954"/>
            <a:ext cx="11277599" cy="1577327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2200" dirty="0"/>
              <a:t>A decrease in a left-side (asset) account or an increase in a right-side (liability or equity) account is a </a:t>
            </a:r>
            <a:r>
              <a:rPr lang="en-US" altLang="en-US" sz="2200" b="1" i="1" u="sng" dirty="0"/>
              <a:t>source of cash</a:t>
            </a:r>
            <a:r>
              <a:rPr lang="en-US" altLang="en-US" sz="2200" i="1" dirty="0"/>
              <a:t>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en-US" sz="2200" i="1" dirty="0"/>
              <a:t>	</a:t>
            </a:r>
            <a:r>
              <a:rPr lang="en-US" altLang="en-US" sz="2200" dirty="0"/>
              <a:t>Decrease in an asset account, on a net basis, means the firm sold some assets (that 	is, a net source).</a:t>
            </a:r>
            <a:endParaRPr lang="en-US" sz="2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7D4550-D2AA-43CB-9109-73E48CD50E8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5677202"/>
            <a:ext cx="10996246" cy="78866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200" dirty="0"/>
              <a:t>To trace the flow of cash through a firm during the year in a detailed fashion,  we need two-year balance sheets and an income statement.</a:t>
            </a:r>
            <a:endParaRPr lang="en-US" sz="2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5587B-3B6C-4577-95B6-9CECB781B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0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FB59-3C4F-41DE-BF61-8EA51365DA4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Prufrock corporation: 2020 and 2021 balance sheets </a:t>
            </a:r>
            <a:r>
              <a:rPr lang="en-US" altLang="en-US" sz="1000" dirty="0"/>
              <a:t>1</a:t>
            </a:r>
            <a:endParaRPr lang="en-US" sz="1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12752-AC53-45F9-9ECA-9B559E49B7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73224" y="1273729"/>
            <a:ext cx="4911976" cy="1281556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en-US" sz="2400" b="1" dirty="0"/>
              <a:t>PRUFROCK CORPORATION 2023 and 2024 Balance Sheets (in $ millions)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53E9740-3341-4026-8C53-2FDA51B0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554850"/>
              </p:ext>
            </p:extLst>
          </p:nvPr>
        </p:nvGraphicFramePr>
        <p:xfrm>
          <a:off x="2669140" y="2623335"/>
          <a:ext cx="6896891" cy="335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2961">
                  <a:extLst>
                    <a:ext uri="{9D8B030D-6E8A-4147-A177-3AD203B41FA5}">
                      <a16:colId xmlns:a16="http://schemas.microsoft.com/office/drawing/2014/main" val="3126647435"/>
                    </a:ext>
                  </a:extLst>
                </a:gridCol>
                <a:gridCol w="1422497">
                  <a:extLst>
                    <a:ext uri="{9D8B030D-6E8A-4147-A177-3AD203B41FA5}">
                      <a16:colId xmlns:a16="http://schemas.microsoft.com/office/drawing/2014/main" val="3008476397"/>
                    </a:ext>
                  </a:extLst>
                </a:gridCol>
                <a:gridCol w="1614811">
                  <a:extLst>
                    <a:ext uri="{9D8B030D-6E8A-4147-A177-3AD203B41FA5}">
                      <a16:colId xmlns:a16="http://schemas.microsoft.com/office/drawing/2014/main" val="4281566931"/>
                    </a:ext>
                  </a:extLst>
                </a:gridCol>
                <a:gridCol w="1156622">
                  <a:extLst>
                    <a:ext uri="{9D8B030D-6E8A-4147-A177-3AD203B41FA5}">
                      <a16:colId xmlns:a16="http://schemas.microsoft.com/office/drawing/2014/main" val="2158374186"/>
                    </a:ext>
                  </a:extLst>
                </a:gridCol>
              </a:tblGrid>
              <a:tr h="302052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2023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744523"/>
                  </a:ext>
                </a:extLst>
              </a:tr>
              <a:tr h="302052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Assets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141201"/>
                  </a:ext>
                </a:extLst>
              </a:tr>
              <a:tr h="30205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Current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905912"/>
                  </a:ext>
                </a:extLst>
              </a:tr>
              <a:tr h="302052">
                <a:tc>
                  <a:txBody>
                    <a:bodyPr/>
                    <a:lstStyle/>
                    <a:p>
                      <a:pPr marL="0" indent="273050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Cash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$    84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$  146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+$   62</a:t>
                      </a:r>
                      <a:endParaRPr 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275965"/>
                  </a:ext>
                </a:extLst>
              </a:tr>
              <a:tr h="329402">
                <a:tc>
                  <a:txBody>
                    <a:bodyPr/>
                    <a:lstStyle/>
                    <a:p>
                      <a:pPr marL="0" indent="0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Accounts receivable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188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+     23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21255"/>
                  </a:ext>
                </a:extLst>
              </a:tr>
              <a:tr h="302052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 393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422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dirty="0">
                          <a:solidFill>
                            <a:schemeClr val="tx1"/>
                          </a:solidFill>
                        </a:rPr>
                        <a:t>+     29</a:t>
                      </a:r>
                      <a:endParaRPr lang="en-US" sz="16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792793"/>
                  </a:ext>
                </a:extLst>
              </a:tr>
              <a:tr h="302052">
                <a:tc>
                  <a:txBody>
                    <a:bodyPr/>
                    <a:lstStyle/>
                    <a:p>
                      <a:pPr marL="0" indent="534988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642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756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dbl" baseline="0" dirty="0">
                          <a:solidFill>
                            <a:schemeClr val="tx1"/>
                          </a:solidFill>
                        </a:rPr>
                        <a:t>+$114</a:t>
                      </a:r>
                      <a:endParaRPr lang="en-US" sz="1600" u="dbl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209233"/>
                  </a:ext>
                </a:extLst>
              </a:tr>
              <a:tr h="30205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Fixed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54827"/>
                  </a:ext>
                </a:extLst>
              </a:tr>
              <a:tr h="329402">
                <a:tc>
                  <a:txBody>
                    <a:bodyPr/>
                    <a:lstStyle/>
                    <a:p>
                      <a:pPr marL="0" indent="0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Net plant and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$2,731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$2,880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dirty="0">
                          <a:solidFill>
                            <a:schemeClr val="tx1"/>
                          </a:solidFill>
                        </a:rPr>
                        <a:t>+$149</a:t>
                      </a:r>
                      <a:endParaRPr lang="en-US" sz="16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09141"/>
                  </a:ext>
                </a:extLst>
              </a:tr>
              <a:tr h="30205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Total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$3,373</a:t>
                      </a:r>
                      <a:endParaRPr lang="en-US" sz="16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$3,636</a:t>
                      </a:r>
                      <a:endParaRPr lang="en-US" sz="16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dbl" baseline="0" dirty="0">
                          <a:solidFill>
                            <a:schemeClr val="tx1"/>
                          </a:solidFill>
                        </a:rPr>
                        <a:t>+$263</a:t>
                      </a:r>
                      <a:endParaRPr lang="en-US" sz="1600" u="dbl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84737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35BCC-EA0A-406A-95DC-34A04FAFE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11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AB6E-1FA6-4AD8-ABE7-32339C85E45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Prufrock corporation: 2023 and 2024 balance sheets </a:t>
            </a:r>
            <a:r>
              <a:rPr lang="en-US" altLang="en-US" sz="1000" dirty="0"/>
              <a:t>2</a:t>
            </a:r>
            <a:endParaRPr lang="en-US" sz="1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36D7-4BC0-4A9A-AB26-3B18E23EC0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50282" y="1277722"/>
            <a:ext cx="4691437" cy="1130199"/>
          </a:xfrm>
        </p:spPr>
        <p:txBody>
          <a:bodyPr/>
          <a:lstStyle/>
          <a:p>
            <a:pPr marL="0" indent="0" algn="ctr">
              <a:lnSpc>
                <a:spcPct val="88000"/>
              </a:lnSpc>
              <a:buNone/>
              <a:defRPr/>
            </a:pPr>
            <a:r>
              <a:rPr lang="en-US" sz="2400" b="1" dirty="0"/>
              <a:t>PRUFROCK CORPORATION 2023 and 2024 Balance Sheets (in $ millions)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B160C9E-CAF9-4990-87A6-898B2C5065CD}"/>
              </a:ext>
            </a:extLst>
          </p:cNvPr>
          <p:cNvGraphicFramePr>
            <a:graphicFrameLocks noGrp="1"/>
          </p:cNvGraphicFramePr>
          <p:nvPr/>
        </p:nvGraphicFramePr>
        <p:xfrm>
          <a:off x="1866900" y="2407921"/>
          <a:ext cx="8526728" cy="3803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6676">
                  <a:extLst>
                    <a:ext uri="{9D8B030D-6E8A-4147-A177-3AD203B41FA5}">
                      <a16:colId xmlns:a16="http://schemas.microsoft.com/office/drawing/2014/main" val="2699091316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362171490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578797928"/>
                    </a:ext>
                  </a:extLst>
                </a:gridCol>
                <a:gridCol w="1019352">
                  <a:extLst>
                    <a:ext uri="{9D8B030D-6E8A-4147-A177-3AD203B41FA5}">
                      <a16:colId xmlns:a16="http://schemas.microsoft.com/office/drawing/2014/main" val="3356720125"/>
                    </a:ext>
                  </a:extLst>
                </a:gridCol>
              </a:tblGrid>
              <a:tr h="265275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2023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839286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Liabilities and Owners’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827709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liabilities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778396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Accounts payable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$  312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$   344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+$  32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9271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Notes payable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 231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 196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dirty="0">
                          <a:solidFill>
                            <a:schemeClr val="tx1"/>
                          </a:solidFill>
                        </a:rPr>
                        <a:t>−    35</a:t>
                      </a:r>
                      <a:endParaRPr lang="en-US" sz="14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50278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pPr marL="0" indent="355600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543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540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dirty="0">
                          <a:solidFill>
                            <a:schemeClr val="tx1"/>
                          </a:solidFill>
                        </a:rPr>
                        <a:t>−$    3</a:t>
                      </a:r>
                      <a:endParaRPr lang="en-US" sz="14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938360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Long-term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531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457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dirty="0">
                          <a:solidFill>
                            <a:schemeClr val="tx1"/>
                          </a:solidFill>
                        </a:rPr>
                        <a:t>−$  74</a:t>
                      </a:r>
                      <a:endParaRPr lang="en-US" sz="14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734222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Owners’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325201"/>
                  </a:ext>
                </a:extLst>
              </a:tr>
              <a:tr h="450967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Common stock and paid-in surplus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$   500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$   550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+ $ 50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454114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   Retained 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1,799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2,089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dirty="0">
                          <a:solidFill>
                            <a:schemeClr val="tx1"/>
                          </a:solidFill>
                        </a:rPr>
                        <a:t>+  290</a:t>
                      </a:r>
                      <a:endParaRPr lang="en-US" sz="14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349464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pPr marL="0" indent="355600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$2,299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$2,639</a:t>
                      </a:r>
                      <a:endParaRPr lang="en-US" sz="14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sng" dirty="0">
                          <a:solidFill>
                            <a:schemeClr val="tx1"/>
                          </a:solidFill>
                        </a:rPr>
                        <a:t>+$340</a:t>
                      </a:r>
                      <a:endParaRPr lang="en-US" sz="14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007290"/>
                  </a:ext>
                </a:extLst>
              </a:tr>
              <a:tr h="26527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 liabilities and owners’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$3,373</a:t>
                      </a:r>
                      <a:endParaRPr lang="en-US" sz="14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$3,636</a:t>
                      </a:r>
                      <a:endParaRPr lang="en-US" sz="14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u="dbl" baseline="0" dirty="0">
                          <a:solidFill>
                            <a:schemeClr val="tx1"/>
                          </a:solidFill>
                        </a:rPr>
                        <a:t>+$263</a:t>
                      </a:r>
                      <a:endParaRPr lang="en-US" sz="1400" u="dbl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44385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1359-7A75-4E93-926A-50C3AFFE0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AB6E-1FA6-4AD8-ABE7-32339C85E45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dirty="0"/>
              <a:t>Prufrock corporation: summary of sources and uses of cash</a:t>
            </a:r>
            <a:endParaRPr lang="en-US" sz="1000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A570EC5-5CC6-44D1-BD2E-321DD99C9091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1534459"/>
          <a:ext cx="6096000" cy="4368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37133688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53809164"/>
                    </a:ext>
                  </a:extLst>
                </a:gridCol>
              </a:tblGrid>
              <a:tr h="32336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Sources of cash: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36539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Increase in accounts payable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$  32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735064"/>
                  </a:ext>
                </a:extLst>
              </a:tr>
              <a:tr h="26748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Increase in common stock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988618"/>
                  </a:ext>
                </a:extLst>
              </a:tr>
              <a:tr h="334088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Increase in retained earnings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dirty="0">
                          <a:solidFill>
                            <a:schemeClr val="tx1"/>
                          </a:solidFill>
                        </a:rPr>
                        <a:t>  290</a:t>
                      </a:r>
                      <a:endParaRPr lang="en-US" sz="16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207700"/>
                  </a:ext>
                </a:extLst>
              </a:tr>
              <a:tr h="257323">
                <a:tc>
                  <a:txBody>
                    <a:bodyPr/>
                    <a:lstStyle/>
                    <a:p>
                      <a:pPr marL="0" indent="450850"/>
                      <a:r>
                        <a:rPr lang="en-US" sz="1600" dirty="0"/>
                        <a:t>Total sources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dbl" baseline="0" dirty="0">
                          <a:solidFill>
                            <a:schemeClr val="tx1"/>
                          </a:solidFill>
                        </a:rPr>
                        <a:t>$372</a:t>
                      </a:r>
                      <a:endParaRPr lang="en-US" sz="1600" u="dbl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049979"/>
                  </a:ext>
                </a:extLst>
              </a:tr>
              <a:tr h="323363">
                <a:tc>
                  <a:txBody>
                    <a:bodyPr/>
                    <a:lstStyle/>
                    <a:p>
                      <a:r>
                        <a:rPr lang="en-US" sz="1600" dirty="0"/>
                        <a:t>Uses of cash: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317874"/>
                  </a:ext>
                </a:extLst>
              </a:tr>
              <a:tr h="342410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Increase in accounts receivable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$  23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975798"/>
                  </a:ext>
                </a:extLst>
              </a:tr>
              <a:tr h="32336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Increase in inventory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38218"/>
                  </a:ext>
                </a:extLst>
              </a:tr>
              <a:tr h="32336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Decrease in notes payable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73147"/>
                  </a:ext>
                </a:extLst>
              </a:tr>
              <a:tr h="32336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Decrease in long-term debt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588380"/>
                  </a:ext>
                </a:extLst>
              </a:tr>
              <a:tr h="32336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/>
                        <a:t>Net fixed asset acquisitions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dirty="0">
                          <a:solidFill>
                            <a:schemeClr val="tx1"/>
                          </a:solidFill>
                        </a:rPr>
                        <a:t>  149</a:t>
                      </a:r>
                      <a:endParaRPr lang="en-US" sz="16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74041"/>
                  </a:ext>
                </a:extLst>
              </a:tr>
              <a:tr h="323363">
                <a:tc>
                  <a:txBody>
                    <a:bodyPr/>
                    <a:lstStyle/>
                    <a:p>
                      <a:pPr marL="0" indent="450850"/>
                      <a:r>
                        <a:rPr lang="en-US" sz="1600" dirty="0"/>
                        <a:t>Total uses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dirty="0">
                          <a:solidFill>
                            <a:schemeClr val="tx1"/>
                          </a:solidFill>
                        </a:rPr>
                        <a:t>$310</a:t>
                      </a:r>
                      <a:endParaRPr lang="en-US" sz="16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422218"/>
                  </a:ext>
                </a:extLst>
              </a:tr>
              <a:tr h="323363">
                <a:tc>
                  <a:txBody>
                    <a:bodyPr/>
                    <a:lstStyle/>
                    <a:p>
                      <a:r>
                        <a:rPr lang="en-US" sz="1600" dirty="0"/>
                        <a:t>Net addition to cash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dbl" baseline="0" dirty="0">
                          <a:solidFill>
                            <a:schemeClr val="tx1"/>
                          </a:solidFill>
                        </a:rPr>
                        <a:t>$  62</a:t>
                      </a:r>
                      <a:endParaRPr lang="en-US" sz="1600" u="dbl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6946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1359-7A75-4E93-926A-50C3AFFE0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5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F492-E4DB-4578-8F6E-60573837682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Prufrock corporation: 2024 </a:t>
            </a:r>
            <a:r>
              <a:rPr lang="en-US" altLang="en-US" noProof="0" dirty="0"/>
              <a:t>income</a:t>
            </a:r>
            <a:r>
              <a:rPr lang="en-US" altLang="en-US" noProof="0" dirty="0">
                <a:solidFill>
                  <a:schemeClr val="tx1"/>
                </a:solidFill>
              </a:rPr>
              <a:t>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77D3E-6B84-459C-BE36-7F08BE662B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56156" y="1265586"/>
            <a:ext cx="4079688" cy="738027"/>
          </a:xfrm>
        </p:spPr>
        <p:txBody>
          <a:bodyPr/>
          <a:lstStyle/>
          <a:p>
            <a:pPr marL="114706" indent="0" algn="ctr">
              <a:spcBef>
                <a:spcPts val="0"/>
              </a:spcBef>
              <a:buNone/>
            </a:pPr>
            <a:r>
              <a:rPr lang="en-US" sz="1800" b="1" dirty="0"/>
              <a:t>PRUFROCK CORPORATION 2024 Income Statement (in $ millions)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E3DE9F2-2C72-4A0E-9683-8E6F460D710F}"/>
              </a:ext>
            </a:extLst>
          </p:cNvPr>
          <p:cNvGraphicFramePr>
            <a:graphicFrameLocks noGrp="1"/>
          </p:cNvGraphicFramePr>
          <p:nvPr/>
        </p:nvGraphicFramePr>
        <p:xfrm>
          <a:off x="2705100" y="2376140"/>
          <a:ext cx="6781800" cy="3391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2">
                  <a:extLst>
                    <a:ext uri="{9D8B030D-6E8A-4147-A177-3AD203B41FA5}">
                      <a16:colId xmlns:a16="http://schemas.microsoft.com/office/drawing/2014/main" val="2538015038"/>
                    </a:ext>
                  </a:extLst>
                </a:gridCol>
                <a:gridCol w="863598">
                  <a:extLst>
                    <a:ext uri="{9D8B030D-6E8A-4147-A177-3AD203B41FA5}">
                      <a16:colId xmlns:a16="http://schemas.microsoft.com/office/drawing/2014/main" val="962454403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729324368"/>
                    </a:ext>
                  </a:extLst>
                </a:gridCol>
              </a:tblGrid>
              <a:tr h="33919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b="0" dirty="0">
                          <a:solidFill>
                            <a:schemeClr val="tx1"/>
                          </a:solidFill>
                        </a:rPr>
                        <a:t>$2,311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631346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Cost of goods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1,344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32053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Depreciation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 276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078468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Earnings before interest and 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691</a:t>
                      </a:r>
                      <a:endParaRPr lang="en-US" sz="1600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27060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Interest 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 141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55993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Taxable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550</a:t>
                      </a:r>
                      <a:endParaRPr lang="en-US" sz="1600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300674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Taxes (21%)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 116</a:t>
                      </a:r>
                      <a:endParaRPr lang="en-US" sz="16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568810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435</a:t>
                      </a:r>
                      <a:endParaRPr lang="en-US" sz="16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48911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Dividends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$145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378605"/>
                  </a:ext>
                </a:extLst>
              </a:tr>
              <a:tr h="339190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Addition to retained 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290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1326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6EA9-A706-478A-9BED-392833738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887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B65B-CE8E-560C-DD99-1C025AD7EF8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The Accounting Statement of Cash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C6EE-32F4-44DD-C67D-0ADB7BFE67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There is an official accounting statement called the statement of cash flows. It </a:t>
            </a:r>
            <a:r>
              <a:rPr lang="en-US" altLang="en-US" noProof="0" dirty="0">
                <a:solidFill>
                  <a:schemeClr val="tx2"/>
                </a:solidFill>
              </a:rPr>
              <a:t>summarizes the </a:t>
            </a:r>
            <a:r>
              <a:rPr lang="en-US" altLang="en-US" noProof="0" dirty="0" err="1">
                <a:solidFill>
                  <a:schemeClr val="tx2"/>
                </a:solidFill>
              </a:rPr>
              <a:t>companie’s</a:t>
            </a:r>
            <a:r>
              <a:rPr lang="en-US" altLang="en-US" noProof="0" dirty="0">
                <a:solidFill>
                  <a:schemeClr val="tx2"/>
                </a:solidFill>
              </a:rPr>
              <a:t> sources and uses of cash over a specified period.</a:t>
            </a:r>
            <a:endParaRPr lang="en-US" dirty="0"/>
          </a:p>
          <a:p>
            <a:r>
              <a:rPr lang="en-US" dirty="0"/>
              <a:t>This helps explain the change in accounting cash.</a:t>
            </a:r>
          </a:p>
          <a:p>
            <a:r>
              <a:rPr lang="en-US" dirty="0"/>
              <a:t>The three components of the statement of cash flows are:</a:t>
            </a:r>
          </a:p>
          <a:p>
            <a:pPr marL="0" lvl="1" indent="0">
              <a:buNone/>
            </a:pPr>
            <a:r>
              <a:rPr lang="en-US" dirty="0"/>
              <a:t>	Cash flow from operating activities.</a:t>
            </a:r>
          </a:p>
          <a:p>
            <a:pPr marL="0" lvl="1" indent="0">
              <a:buNone/>
            </a:pPr>
            <a:r>
              <a:rPr lang="en-US" dirty="0"/>
              <a:t>	Cash flow from investing activities.</a:t>
            </a:r>
          </a:p>
          <a:p>
            <a:pPr marL="0" lvl="1" indent="0">
              <a:buNone/>
            </a:pPr>
            <a:r>
              <a:rPr lang="en-US" dirty="0"/>
              <a:t>	Cash flow from financing activities.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1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570A-45BE-4A65-A610-159EC45F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2"/>
            <a:ext cx="11277600" cy="510894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Prufrock corporation: Statement of </a:t>
            </a:r>
            <a:r>
              <a:rPr lang="en-US" altLang="en-US" dirty="0"/>
              <a:t>Cash Flows</a:t>
            </a:r>
            <a:endParaRPr lang="en-US" sz="1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8B401-5A9F-4E5B-936B-CD7CA09048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429814"/>
            <a:ext cx="3976689" cy="903231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en-US" sz="2000" b="1" dirty="0"/>
              <a:t>PRUFROCK CORPORATION 2024 Statement of Cash Flows (in $ millions)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C21561B-D199-4D48-AA96-686B107C9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650852"/>
              </p:ext>
            </p:extLst>
          </p:nvPr>
        </p:nvGraphicFramePr>
        <p:xfrm>
          <a:off x="6234112" y="984738"/>
          <a:ext cx="5113826" cy="56807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3363">
                  <a:extLst>
                    <a:ext uri="{9D8B030D-6E8A-4147-A177-3AD203B41FA5}">
                      <a16:colId xmlns:a16="http://schemas.microsoft.com/office/drawing/2014/main" val="415519184"/>
                    </a:ext>
                  </a:extLst>
                </a:gridCol>
                <a:gridCol w="1120463">
                  <a:extLst>
                    <a:ext uri="{9D8B030D-6E8A-4147-A177-3AD203B41FA5}">
                      <a16:colId xmlns:a16="http://schemas.microsoft.com/office/drawing/2014/main" val="781770958"/>
                    </a:ext>
                  </a:extLst>
                </a:gridCol>
              </a:tblGrid>
              <a:tr h="270513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Cash, beginning of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b="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$   84</a:t>
                      </a:r>
                      <a:endParaRPr lang="en-US" sz="1000" b="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3888787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Operating 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8775232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dirty="0">
                          <a:solidFill>
                            <a:schemeClr val="tx1"/>
                          </a:solidFill>
                        </a:rPr>
                        <a:t>$ 435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714754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Plus: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547821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Depreciation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dirty="0">
                          <a:solidFill>
                            <a:schemeClr val="tx1"/>
                          </a:solidFill>
                        </a:rPr>
                        <a:t>276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8175847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Increase in accounts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3063894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IN" sz="1000" dirty="0">
                          <a:solidFill>
                            <a:schemeClr val="tx1"/>
                          </a:solidFill>
                        </a:rPr>
                        <a:t>Less: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5325968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Increase in accounts receivable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−     23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3732228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Increase in inventory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sng" dirty="0">
                          <a:solidFill>
                            <a:schemeClr val="tx1"/>
                          </a:solidFill>
                        </a:rPr>
                        <a:t>−     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550748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3556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Net cash from operating 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u="sng" dirty="0">
                          <a:solidFill>
                            <a:schemeClr val="tx1"/>
                          </a:solidFill>
                        </a:rPr>
                        <a:t>  $ 691</a:t>
                      </a:r>
                      <a:endParaRPr lang="en-US" sz="100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0164897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Investment 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12489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Fixed asset acquisitions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sng" dirty="0">
                          <a:solidFill>
                            <a:schemeClr val="tx1"/>
                          </a:solidFill>
                        </a:rPr>
                        <a:t>−$ 425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530788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3556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Net cash from investment 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sng" dirty="0">
                          <a:solidFill>
                            <a:schemeClr val="tx1"/>
                          </a:solidFill>
                        </a:rPr>
                        <a:t>−$ 425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414425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Financing 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5192188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Decrease in notes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−$    35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66320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Decrease in long-term debt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−       74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400040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Dividends paid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−     145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2809872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Increase in common stock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2013850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pPr marL="0" indent="355600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Net cash from financing 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sng" dirty="0">
                          <a:solidFill>
                            <a:schemeClr val="tx1"/>
                          </a:solidFill>
                        </a:rPr>
                        <a:t>−$  240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8032909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Net increase in cash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u="sng" dirty="0">
                          <a:solidFill>
                            <a:schemeClr val="tx1"/>
                          </a:solidFill>
                        </a:rPr>
                        <a:t>$ </a:t>
                      </a:r>
                      <a:r>
                        <a:rPr lang="en-US" sz="1000" u="sng" dirty="0">
                          <a:solidFill>
                            <a:schemeClr val="tx1"/>
                          </a:solidFill>
                        </a:rPr>
                        <a:t>     62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3750602"/>
                  </a:ext>
                </a:extLst>
              </a:tr>
              <a:tr h="27051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Cash, end of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00" u="dbl" baseline="0" dirty="0">
                          <a:solidFill>
                            <a:schemeClr val="tx1"/>
                          </a:solidFill>
                        </a:rPr>
                        <a:t>  $ </a:t>
                      </a:r>
                      <a:r>
                        <a:rPr lang="en-US" sz="1000" u="dbl" baseline="0" dirty="0">
                          <a:solidFill>
                            <a:schemeClr val="tx1"/>
                          </a:solidFill>
                        </a:rPr>
                        <a:t> 146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672585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79546-E6CC-4824-AA16-0651EF1FC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560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2DD8-8FE9-49B2-923E-5574367A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1"/>
            <a:ext cx="11277600" cy="68946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Standardized Financial Statements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ECA96-EC43-4FF7-B245-8167A1CE04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0985" y="1185574"/>
            <a:ext cx="11277600" cy="1353474"/>
          </a:xfrm>
        </p:spPr>
        <p:txBody>
          <a:bodyPr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altLang="en-US" sz="2000" dirty="0"/>
              <a:t>Nearly impossible to directly compare the financial statements for two companies because of differences in size.</a:t>
            </a:r>
          </a:p>
          <a:p>
            <a:pPr marL="291600" lvl="1" indent="-291600">
              <a:spcBef>
                <a:spcPts val="1000"/>
              </a:spcBef>
              <a:defRPr/>
            </a:pPr>
            <a:r>
              <a:rPr lang="en-US" altLang="en-US" sz="1800" dirty="0"/>
              <a:t>Similarly challenging to compare financial statements from different points in time for the same company if the company’s size has changed.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F740E-0618-4AF9-A8BF-411E38B6B9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985" y="2628901"/>
            <a:ext cx="9774115" cy="76289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altLang="en-US" sz="2000" dirty="0"/>
              <a:t>To make comparisons, standardize the financial statements:</a:t>
            </a:r>
          </a:p>
          <a:p>
            <a:pPr marL="287338" lvl="1" indent="-287338"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altLang="en-US" sz="2000" b="1" dirty="0"/>
              <a:t>Common-size statements </a:t>
            </a:r>
            <a:r>
              <a:rPr lang="en-US" altLang="en-US" sz="2000" dirty="0"/>
              <a:t>present all items in percentage terms.</a:t>
            </a:r>
            <a:endParaRPr lang="en-US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DA38E4-810E-49E5-84AF-49F3ADDC205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985" y="3555684"/>
            <a:ext cx="10950898" cy="1743148"/>
          </a:xfrm>
        </p:spPr>
        <p:txBody>
          <a:bodyPr>
            <a:normAutofit/>
          </a:bodyPr>
          <a:lstStyle/>
          <a:p>
            <a:pPr marL="292608" lvl="2">
              <a:spcBef>
                <a:spcPts val="1000"/>
              </a:spcBef>
              <a:defRPr/>
            </a:pPr>
            <a:r>
              <a:rPr lang="en-US" altLang="en-US" sz="1800" dirty="0"/>
              <a:t>Common-size balance sheets typically express each item as a percentage of total assets. </a:t>
            </a:r>
          </a:p>
          <a:p>
            <a:pPr marL="292608" lvl="2">
              <a:spcBef>
                <a:spcPts val="1000"/>
              </a:spcBef>
              <a:defRPr/>
            </a:pPr>
            <a:r>
              <a:rPr lang="en-US" altLang="en-US" sz="1800" dirty="0"/>
              <a:t>Common-size income statements usually show each item as a percentage of total sales.</a:t>
            </a:r>
          </a:p>
          <a:p>
            <a:pPr marL="292608" lvl="2">
              <a:spcBef>
                <a:spcPts val="1000"/>
              </a:spcBef>
              <a:defRPr/>
            </a:pPr>
            <a:r>
              <a:rPr lang="en-US" altLang="en-US" sz="1800" dirty="0"/>
              <a:t>Common-size statement of cash flows can be constructed from a “sources and uses of cash” statement, expressing each item as a percentage of total sources (or total uses).</a:t>
            </a:r>
            <a:endParaRPr lang="en-US" sz="1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5E1ED-DA0D-4CEC-A3AA-BC9E6BFBFDF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50984" y="5273843"/>
            <a:ext cx="11183815" cy="654550"/>
          </a:xfrm>
        </p:spPr>
        <p:txBody>
          <a:bodyPr/>
          <a:lstStyle/>
          <a:p>
            <a:pPr marL="61913" indent="0">
              <a:buNone/>
            </a:pPr>
            <a:r>
              <a:rPr lang="en-US" altLang="en-US" sz="2000" b="1" dirty="0"/>
              <a:t>2. Common-base year statements </a:t>
            </a:r>
            <a:r>
              <a:rPr lang="en-US" altLang="en-US" sz="2000" dirty="0"/>
              <a:t>(that is, trend analysis) present all items relative to a certain base year amount.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A43D6D-610A-4FF1-B7B2-24312AA10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3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675D-DD34-4E3D-B070-B44E771325E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sz="3400" dirty="0"/>
              <a:t>Prufrock corporation: Summary of standardized balance sheets</a:t>
            </a: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C8737-88B9-4E7F-8E78-93EB28551B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83500" y="1250255"/>
            <a:ext cx="4825000" cy="984456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b="1" dirty="0"/>
              <a:t>PRUFROCK CORPORATION Summary of Standardized Balance Sheets (Asset Side Only)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68B3FD6-74A2-4258-AB05-4E8C240A2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743386"/>
              </p:ext>
            </p:extLst>
          </p:nvPr>
        </p:nvGraphicFramePr>
        <p:xfrm>
          <a:off x="1031631" y="2389243"/>
          <a:ext cx="10316306" cy="3765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8187">
                  <a:extLst>
                    <a:ext uri="{9D8B030D-6E8A-4147-A177-3AD203B41FA5}">
                      <a16:colId xmlns:a16="http://schemas.microsoft.com/office/drawing/2014/main" val="1055505342"/>
                    </a:ext>
                  </a:extLst>
                </a:gridCol>
                <a:gridCol w="1344716">
                  <a:extLst>
                    <a:ext uri="{9D8B030D-6E8A-4147-A177-3AD203B41FA5}">
                      <a16:colId xmlns:a16="http://schemas.microsoft.com/office/drawing/2014/main" val="3303843232"/>
                    </a:ext>
                  </a:extLst>
                </a:gridCol>
                <a:gridCol w="1223233">
                  <a:extLst>
                    <a:ext uri="{9D8B030D-6E8A-4147-A177-3AD203B41FA5}">
                      <a16:colId xmlns:a16="http://schemas.microsoft.com/office/drawing/2014/main" val="2916523573"/>
                    </a:ext>
                  </a:extLst>
                </a:gridCol>
                <a:gridCol w="1400700">
                  <a:extLst>
                    <a:ext uri="{9D8B030D-6E8A-4147-A177-3AD203B41FA5}">
                      <a16:colId xmlns:a16="http://schemas.microsoft.com/office/drawing/2014/main" val="3604791198"/>
                    </a:ext>
                  </a:extLst>
                </a:gridCol>
                <a:gridCol w="884653">
                  <a:extLst>
                    <a:ext uri="{9D8B030D-6E8A-4147-A177-3AD203B41FA5}">
                      <a16:colId xmlns:a16="http://schemas.microsoft.com/office/drawing/2014/main" val="4290751580"/>
                    </a:ext>
                  </a:extLst>
                </a:gridCol>
                <a:gridCol w="1560429">
                  <a:extLst>
                    <a:ext uri="{9D8B030D-6E8A-4147-A177-3AD203B41FA5}">
                      <a16:colId xmlns:a16="http://schemas.microsoft.com/office/drawing/2014/main" val="3088460934"/>
                    </a:ext>
                  </a:extLst>
                </a:gridCol>
                <a:gridCol w="1474388">
                  <a:extLst>
                    <a:ext uri="{9D8B030D-6E8A-4147-A177-3AD203B41FA5}">
                      <a16:colId xmlns:a16="http://schemas.microsoft.com/office/drawing/2014/main" val="3498964036"/>
                    </a:ext>
                  </a:extLst>
                </a:gridCol>
              </a:tblGrid>
              <a:tr h="832079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Assets (in $ millions)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Common-Size Assets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Common-Base Year Assets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Combined Common-Size and Base Year Assets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491364"/>
                  </a:ext>
                </a:extLst>
              </a:tr>
              <a:tr h="421456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2023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    2024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2023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  2024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              2024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               2024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53060086"/>
                  </a:ext>
                </a:extLst>
              </a:tr>
              <a:tr h="27736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11891140"/>
                  </a:ext>
                </a:extLst>
              </a:tr>
              <a:tr h="315489">
                <a:tc>
                  <a:txBody>
                    <a:bodyPr/>
                    <a:lstStyle/>
                    <a:p>
                      <a:pPr marL="0" indent="177800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Cash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$  84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$   146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     2.5%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   4.0%                  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1.74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1.61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2796"/>
                  </a:ext>
                </a:extLst>
              </a:tr>
              <a:tr h="315489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Accounts receivable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188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  4.9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61913" algn="ct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5.2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1.14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1.06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95990953"/>
                  </a:ext>
                </a:extLst>
              </a:tr>
              <a:tr h="315489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Inventory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393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   422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11.7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11.6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dirty="0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en-US" sz="12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81295529"/>
                  </a:ext>
                </a:extLst>
              </a:tr>
              <a:tr h="315489">
                <a:tc>
                  <a:txBody>
                    <a:bodyPr/>
                    <a:lstStyle/>
                    <a:p>
                      <a:pPr marL="0" indent="27305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642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   756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19.0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20.8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dirty="0">
                          <a:solidFill>
                            <a:schemeClr val="tx1"/>
                          </a:solidFill>
                        </a:rPr>
                        <a:t>1.18</a:t>
                      </a:r>
                      <a:endParaRPr lang="en-US" sz="12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dirty="0">
                          <a:solidFill>
                            <a:schemeClr val="tx1"/>
                          </a:solidFill>
                        </a:rPr>
                        <a:t>1.09</a:t>
                      </a:r>
                      <a:endParaRPr lang="en-US" sz="120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88086548"/>
                  </a:ext>
                </a:extLst>
              </a:tr>
              <a:tr h="27736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6060469"/>
                  </a:ext>
                </a:extLst>
              </a:tr>
              <a:tr h="379670">
                <a:tc>
                  <a:txBody>
                    <a:bodyPr/>
                    <a:lstStyle/>
                    <a:p>
                      <a:pPr marL="0" indent="177800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Net plant and 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$2,731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$2,880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  81.0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79.2</a:t>
                      </a:r>
                      <a:endParaRPr lang="en-US" sz="1200" u="sng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dirty="0">
                          <a:solidFill>
                            <a:schemeClr val="tx1"/>
                          </a:solidFill>
                        </a:rPr>
                        <a:t>1.05</a:t>
                      </a:r>
                      <a:endParaRPr lang="en-US" sz="120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sng" dirty="0">
                          <a:solidFill>
                            <a:schemeClr val="tx1"/>
                          </a:solidFill>
                        </a:rPr>
                        <a:t> .98</a:t>
                      </a:r>
                      <a:endParaRPr lang="en-US" sz="1200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3659639"/>
                  </a:ext>
                </a:extLst>
              </a:tr>
              <a:tr h="31548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$3,373</a:t>
                      </a:r>
                      <a:endParaRPr lang="en-US" sz="12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$3,636</a:t>
                      </a:r>
                      <a:endParaRPr lang="en-US" sz="12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100.0%</a:t>
                      </a:r>
                      <a:endParaRPr lang="en-US" sz="12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dbl" baseline="0" dirty="0">
                          <a:solidFill>
                            <a:schemeClr val="tx1"/>
                          </a:solidFill>
                          <a:uFill>
                            <a:solidFill>
                              <a:schemeClr val="tx1"/>
                            </a:solidFill>
                          </a:uFill>
                        </a:rPr>
                        <a:t>100.0%</a:t>
                      </a:r>
                      <a:endParaRPr lang="en-US" sz="1200" u="dbl" baseline="0" dirty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dbl" baseline="0" dirty="0">
                          <a:solidFill>
                            <a:schemeClr val="tx1"/>
                          </a:solidFill>
                        </a:rPr>
                        <a:t>1.08</a:t>
                      </a:r>
                      <a:endParaRPr lang="en-US" sz="1200" u="db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200" u="dbl" baseline="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200" u="db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942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D95D8-FD01-456E-B218-985A711BB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6089C-8E19-7A6D-1910-C03C92E6C71E}"/>
              </a:ext>
            </a:extLst>
          </p:cNvPr>
          <p:cNvSpPr txBox="1"/>
          <p:nvPr/>
        </p:nvSpPr>
        <p:spPr>
          <a:xfrm>
            <a:off x="8264769" y="3892062"/>
            <a:ext cx="111369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146/84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07674-E97C-6148-9882-9B3DDB33A992}"/>
              </a:ext>
            </a:extLst>
          </p:cNvPr>
          <p:cNvSpPr txBox="1"/>
          <p:nvPr/>
        </p:nvSpPr>
        <p:spPr>
          <a:xfrm>
            <a:off x="9806353" y="3892062"/>
            <a:ext cx="111369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4%/2.5%=</a:t>
            </a:r>
          </a:p>
        </p:txBody>
      </p:sp>
    </p:spTree>
    <p:extLst>
      <p:ext uri="{BB962C8B-B14F-4D97-AF65-F5344CB8AC3E}">
        <p14:creationId xmlns:p14="http://schemas.microsoft.com/office/powerpoint/2010/main" val="315937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7545-FBF1-45B4-9890-F4E8F96D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8" y="192491"/>
            <a:ext cx="10786775" cy="90323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sz="3600" dirty="0"/>
              <a:t>Ratio analysis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74ACD-D050-46B6-B02C-59896CBA46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" y="1265258"/>
            <a:ext cx="9715500" cy="167964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200" dirty="0"/>
              <a:t>Another way of avoiding the problems involved in comparing companies of different sizes is to calculate and compare financial ratios.</a:t>
            </a:r>
          </a:p>
          <a:p>
            <a:pPr marL="291600" lvl="1" indent="-291600"/>
            <a:r>
              <a:rPr lang="en-US" altLang="en-US" sz="2000" b="1" dirty="0"/>
              <a:t>Financial ratios </a:t>
            </a:r>
            <a:r>
              <a:rPr lang="en-US" altLang="en-US" sz="2000" dirty="0"/>
              <a:t>are relationships determined from a firm’s financial information and used for comparison purposes.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1A4F6-A940-4AA6-A1C3-C1C931C9C2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38249" y="2670662"/>
            <a:ext cx="10097965" cy="24848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Financial ratios are traditionally grouped into the following categories:</a:t>
            </a:r>
          </a:p>
          <a:p>
            <a:pPr marL="291600" lvl="1" indent="-291600"/>
            <a:r>
              <a:rPr lang="en-US" altLang="en-US" sz="2000" dirty="0"/>
              <a:t>Short-term solvency, or </a:t>
            </a:r>
            <a:r>
              <a:rPr lang="en-US" altLang="en-US" sz="2000" b="1" dirty="0"/>
              <a:t>liquidity, ratios</a:t>
            </a:r>
            <a:r>
              <a:rPr lang="en-US" altLang="en-US" sz="2000" dirty="0"/>
              <a:t>.</a:t>
            </a:r>
          </a:p>
          <a:p>
            <a:pPr marL="291600" lvl="1" indent="-291600"/>
            <a:r>
              <a:rPr lang="en-US" altLang="en-US" sz="2000" dirty="0"/>
              <a:t>Long-term solvency, or </a:t>
            </a:r>
            <a:r>
              <a:rPr lang="en-US" altLang="en-US" sz="2000" b="1" dirty="0"/>
              <a:t>financial leverage, ratios</a:t>
            </a:r>
            <a:r>
              <a:rPr lang="en-US" altLang="en-US" sz="2000" dirty="0"/>
              <a:t>.</a:t>
            </a:r>
          </a:p>
          <a:p>
            <a:pPr marL="291600" lvl="1" indent="-291600"/>
            <a:r>
              <a:rPr lang="en-US" altLang="en-US" sz="2000" dirty="0"/>
              <a:t>Asset management, or </a:t>
            </a:r>
            <a:r>
              <a:rPr lang="en-US" altLang="en-US" sz="2000" b="1" dirty="0"/>
              <a:t>turnover, ratios</a:t>
            </a:r>
            <a:r>
              <a:rPr lang="en-US" altLang="en-US" sz="2000" dirty="0"/>
              <a:t>.</a:t>
            </a:r>
          </a:p>
          <a:p>
            <a:pPr marL="291600" lvl="1" indent="-291600"/>
            <a:r>
              <a:rPr lang="en-US" altLang="en-US" sz="2000" b="1" dirty="0"/>
              <a:t>Profitability ratios</a:t>
            </a:r>
            <a:r>
              <a:rPr lang="en-US" altLang="en-US" sz="2000" dirty="0"/>
              <a:t>.</a:t>
            </a:r>
          </a:p>
          <a:p>
            <a:pPr marL="291600" lvl="1" indent="-291600"/>
            <a:r>
              <a:rPr lang="en-US" altLang="en-US" sz="2000" b="1" dirty="0"/>
              <a:t>Market value ratios</a:t>
            </a:r>
            <a:r>
              <a:rPr lang="en-US" altLang="en-US" sz="2000" dirty="0"/>
              <a:t>.</a:t>
            </a:r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0A41AF-92B1-46B7-8C10-137EB2DF5AB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5108" y="5592742"/>
            <a:ext cx="10786774" cy="747985"/>
          </a:xfrm>
        </p:spPr>
        <p:txBody>
          <a:bodyPr/>
          <a:lstStyle/>
          <a:p>
            <a:r>
              <a:rPr lang="en-US" altLang="en-US" sz="2000" dirty="0"/>
              <a:t>Different people and different sources seldom compute ratios in the same way, leading to confusion.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99DD8-1F5C-420C-9384-000DE7645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77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F6C6-DB49-4871-9099-FA8E81C6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203617"/>
            <a:ext cx="9967407" cy="68459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sz="3200" noProof="0" dirty="0">
                <a:solidFill>
                  <a:schemeClr val="tx1"/>
                </a:solidFill>
              </a:rPr>
              <a:t>1.  Short-term </a:t>
            </a:r>
            <a:r>
              <a:rPr lang="en-US" altLang="en-US" sz="3200" noProof="0" dirty="0"/>
              <a:t>solvency</a:t>
            </a:r>
            <a:r>
              <a:rPr lang="en-US" altLang="en-US" sz="3200" noProof="0" dirty="0">
                <a:solidFill>
                  <a:schemeClr val="tx1"/>
                </a:solidFill>
              </a:rPr>
              <a:t>, or liquidity, ratios</a:t>
            </a:r>
            <a:endParaRPr 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431C4E2-F5C3-40B7-B83C-5B7EB1B8D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6951" y="2049883"/>
          <a:ext cx="3175488" cy="603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393480" progId="Equation.DSMT4">
                  <p:embed/>
                </p:oleObj>
              </mc:Choice>
              <mc:Fallback>
                <p:oleObj name="Equation" r:id="rId2" imgW="2070000" imgH="393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431C4E2-F5C3-40B7-B83C-5B7EB1B8D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56951" y="2049883"/>
                        <a:ext cx="3175488" cy="603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BE3BC75-8C11-43EA-9694-FF8D094F1C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6951" y="2884311"/>
          <a:ext cx="3525494" cy="557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040" imgH="393480" progId="Equation.DSMT4">
                  <p:embed/>
                </p:oleObj>
              </mc:Choice>
              <mc:Fallback>
                <p:oleObj name="Equation" r:id="rId4" imgW="2489040" imgH="3934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BBE3BC75-8C11-43EA-9694-FF8D094F1C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56951" y="2884311"/>
                        <a:ext cx="3525494" cy="557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53CC41E-CA03-49B4-A143-2676E031D3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6952" y="3711350"/>
          <a:ext cx="2826925" cy="580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393480" progId="Equation.DSMT4">
                  <p:embed/>
                </p:oleObj>
              </mc:Choice>
              <mc:Fallback>
                <p:oleObj name="Equation" r:id="rId6" imgW="1917360" imgH="393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53CC41E-CA03-49B4-A143-2676E031D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56952" y="3711350"/>
                        <a:ext cx="2826925" cy="580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6AB504A-057D-4AD0-BB4A-8DD49773B2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6952" y="4680210"/>
          <a:ext cx="4916309" cy="552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04960" imgH="393480" progId="Equation.DSMT4">
                  <p:embed/>
                </p:oleObj>
              </mc:Choice>
              <mc:Fallback>
                <p:oleObj name="Equation" r:id="rId8" imgW="3504960" imgH="39348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F6AB504A-057D-4AD0-BB4A-8DD49773B2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56952" y="4680210"/>
                        <a:ext cx="4916309" cy="552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0F588F2-02B2-4D41-AA32-B92F2B0D9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6952" y="5332782"/>
          <a:ext cx="4173359" cy="5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35160" imgH="419040" progId="Equation.DSMT4">
                  <p:embed/>
                </p:oleObj>
              </mc:Choice>
              <mc:Fallback>
                <p:oleObj name="Equation" r:id="rId10" imgW="3035160" imgH="4190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0F588F2-02B2-4D41-AA32-B92F2B0D9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56952" y="5332782"/>
                        <a:ext cx="4173359" cy="57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41DDE-14FB-489C-9C67-8DAF8CF0A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8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2DD8-8FE9-49B2-923E-5574367A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1"/>
            <a:ext cx="11277600" cy="67501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Short-term solvency, or liquidity, measures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ECA96-EC43-4FF7-B245-8167A1CE04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38554" y="1274743"/>
            <a:ext cx="9586546" cy="1911920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Current ratio </a:t>
            </a:r>
            <a:r>
              <a:rPr lang="en-US" sz="2000" dirty="0">
                <a:solidFill>
                  <a:schemeClr val="tx2"/>
                </a:solidFill>
              </a:rPr>
              <a:t>is a measure of short-term liquidity.</a:t>
            </a:r>
          </a:p>
          <a:p>
            <a:pPr marL="291600" lvl="1" indent="-291600">
              <a:spcBef>
                <a:spcPts val="1000"/>
              </a:spcBef>
            </a:pPr>
            <a:r>
              <a:rPr lang="en-US" sz="2000" dirty="0">
                <a:solidFill>
                  <a:schemeClr val="tx2"/>
                </a:solidFill>
              </a:rPr>
              <a:t>To a creditor, the higher this ratio, the better.</a:t>
            </a:r>
          </a:p>
          <a:p>
            <a:pPr marL="291600" lvl="1" indent="-291600">
              <a:spcBef>
                <a:spcPts val="1000"/>
              </a:spcBef>
            </a:pPr>
            <a:r>
              <a:rPr lang="en-US" sz="2000" dirty="0">
                <a:solidFill>
                  <a:schemeClr val="tx2"/>
                </a:solidFill>
              </a:rPr>
              <a:t>To a firm, a high current ratio may indicate an inefficient use of cash and other short-term assets.</a:t>
            </a:r>
          </a:p>
          <a:p>
            <a:pPr marL="291600" lvl="1" indent="-291600">
              <a:spcBef>
                <a:spcPts val="1000"/>
              </a:spcBef>
            </a:pPr>
            <a:r>
              <a:rPr lang="en-US" sz="2000" dirty="0">
                <a:solidFill>
                  <a:schemeClr val="tx2"/>
                </a:solidFill>
              </a:rPr>
              <a:t>Normally expect to see a current ratio of at least 1.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F740E-0618-4AF9-A8BF-411E38B6B9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046" y="3344946"/>
            <a:ext cx="9692054" cy="112631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Quick (or acid-test) ratio </a:t>
            </a:r>
            <a:r>
              <a:rPr lang="en-US" sz="2000" dirty="0">
                <a:solidFill>
                  <a:schemeClr val="tx2"/>
                </a:solidFill>
              </a:rPr>
              <a:t>is computed just like the current ratio, except inventory is omitted since it is often the least liquid current asset.</a:t>
            </a:r>
          </a:p>
          <a:p>
            <a:pPr marL="291600" lvl="1" indent="-291600">
              <a:spcBef>
                <a:spcPts val="1000"/>
              </a:spcBef>
            </a:pPr>
            <a:r>
              <a:rPr lang="en-US" sz="2000" dirty="0">
                <a:solidFill>
                  <a:schemeClr val="tx2"/>
                </a:solidFill>
              </a:rPr>
              <a:t>Relatively large inventories are often a sign of short-term trouble.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DA38E4-810E-49E5-84AF-49F3ADDC205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8554" y="4541311"/>
            <a:ext cx="9767698" cy="127169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Cash ratio </a:t>
            </a:r>
            <a:r>
              <a:rPr lang="en-US" sz="2000" dirty="0">
                <a:solidFill>
                  <a:schemeClr val="tx2"/>
                </a:solidFill>
              </a:rPr>
              <a:t>may be of interest to a very short-term creditor.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Net working capital to total assets.</a:t>
            </a:r>
          </a:p>
          <a:p>
            <a:pPr marL="291600" lvl="1" indent="-291600">
              <a:spcBef>
                <a:spcPts val="1000"/>
              </a:spcBef>
            </a:pPr>
            <a:r>
              <a:rPr lang="en-US" sz="2000" dirty="0">
                <a:solidFill>
                  <a:schemeClr val="tx2"/>
                </a:solidFill>
              </a:rPr>
              <a:t>Low values might indicate relatively low levels of liquidity.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5E1ED-DA0D-4CEC-A3AA-BC9E6BFBFDF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866900" y="5971292"/>
            <a:ext cx="8458200" cy="464734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Interval measure </a:t>
            </a:r>
            <a:r>
              <a:rPr lang="en-US" sz="2000" dirty="0">
                <a:solidFill>
                  <a:schemeClr val="tx2"/>
                </a:solidFill>
              </a:rPr>
              <a:t>indicates how long the business can continue.</a:t>
            </a:r>
            <a:endParaRPr lang="en-US" sz="20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A43D6D-610A-4FF1-B7B2-24312AA10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A7CFAAB-B294-3EC4-99A4-9BE87906BA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109514"/>
              </p:ext>
            </p:extLst>
          </p:nvPr>
        </p:nvGraphicFramePr>
        <p:xfrm>
          <a:off x="7811013" y="1274743"/>
          <a:ext cx="3175488" cy="603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0000" imgH="393480" progId="Equation.DSMT4">
                  <p:embed/>
                </p:oleObj>
              </mc:Choice>
              <mc:Fallback>
                <p:oleObj name="Equation" r:id="rId3" imgW="2070000" imgH="393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431C4E2-F5C3-40B7-B83C-5B7EB1B8D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1013" y="1274743"/>
                        <a:ext cx="3175488" cy="60392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802307B-CAB1-1A76-7048-88A806204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484964"/>
              </p:ext>
            </p:extLst>
          </p:nvPr>
        </p:nvGraphicFramePr>
        <p:xfrm>
          <a:off x="8209306" y="3682077"/>
          <a:ext cx="3525494" cy="557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89040" imgH="393480" progId="Equation.DSMT4">
                  <p:embed/>
                </p:oleObj>
              </mc:Choice>
              <mc:Fallback>
                <p:oleObj name="Equation" r:id="rId5" imgW="2489040" imgH="3934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BBE3BC75-8C11-43EA-9694-FF8D094F1C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09306" y="3682077"/>
                        <a:ext cx="3525494" cy="557272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741BACF-2DAD-49D8-B4D1-B67A3273F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01443"/>
              </p:ext>
            </p:extLst>
          </p:nvPr>
        </p:nvGraphicFramePr>
        <p:xfrm>
          <a:off x="8456369" y="4747517"/>
          <a:ext cx="28257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17360" imgH="393480" progId="Equation.DSMT4">
                  <p:embed/>
                </p:oleObj>
              </mc:Choice>
              <mc:Fallback>
                <p:oleObj name="Equation" r:id="rId7" imgW="1917360" imgH="393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53CC41E-CA03-49B4-A143-2676E031D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56369" y="4747517"/>
                        <a:ext cx="2825750" cy="579438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222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DA8AF-B91F-413D-8A8B-0ABC5AAB975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noProof="0" dirty="0">
                <a:solidFill>
                  <a:schemeClr val="tx1"/>
                </a:solidFill>
              </a:rPr>
              <a:t>2.  Long-term solvency ratios </a:t>
            </a:r>
            <a:r>
              <a:rPr lang="en-US" noProof="0" dirty="0"/>
              <a:t>or financial leverage, ratios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43B39D4-0D25-41CF-9224-D6D64451B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0490" y="1975581"/>
          <a:ext cx="3827090" cy="54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800" imgH="393480" progId="Equation.DSMT4">
                  <p:embed/>
                </p:oleObj>
              </mc:Choice>
              <mc:Fallback>
                <p:oleObj name="Equation" r:id="rId2" imgW="2755800" imgH="393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43B39D4-0D25-41CF-9224-D6D64451B4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90490" y="1975581"/>
                        <a:ext cx="3827090" cy="546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8640CD9-234D-4FA3-8B52-89F7DE30C2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0490" y="2755356"/>
          <a:ext cx="3927428" cy="293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7640" imgH="203040" progId="Equation.DSMT4">
                  <p:embed/>
                </p:oleObj>
              </mc:Choice>
              <mc:Fallback>
                <p:oleObj name="Equation" r:id="rId4" imgW="2717640" imgH="203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8640CD9-234D-4FA3-8B52-89F7DE30C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90490" y="2755356"/>
                        <a:ext cx="3927428" cy="293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F384019-A54F-4120-A40E-A6B7C8C8C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3866" y="3386341"/>
          <a:ext cx="3918796" cy="28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960" imgH="203040" progId="Equation.DSMT4">
                  <p:embed/>
                </p:oleObj>
              </mc:Choice>
              <mc:Fallback>
                <p:oleObj name="Equation" r:id="rId6" imgW="2793960" imgH="203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F384019-A54F-4120-A40E-A6B7C8C8CC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33866" y="3386341"/>
                        <a:ext cx="3918796" cy="285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445A587-BB02-4E58-BAE5-1A5D7E7A0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3290" y="4001338"/>
          <a:ext cx="4467714" cy="564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14520" imgH="419040" progId="Equation.DSMT4">
                  <p:embed/>
                </p:oleObj>
              </mc:Choice>
              <mc:Fallback>
                <p:oleObj name="Equation" r:id="rId8" imgW="3314520" imgH="419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445A587-BB02-4E58-BAE5-1A5D7E7A0A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93290" y="4001338"/>
                        <a:ext cx="4467714" cy="564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5086EF6-6D12-44DC-8A5F-0B2291B318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0490" y="4741419"/>
          <a:ext cx="3487286" cy="594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51488" imgH="571779" progId="Equation.DSMT4">
                  <p:embed/>
                </p:oleObj>
              </mc:Choice>
              <mc:Fallback>
                <p:oleObj name="Equation" r:id="rId10" imgW="3351488" imgH="571779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5086EF6-6D12-44DC-8A5F-0B2291B318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90490" y="4741419"/>
                        <a:ext cx="3487286" cy="594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CB8AF88-B900-4FDD-9DC0-7DC0A13E0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0490" y="5581291"/>
          <a:ext cx="3557440" cy="520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92080" imgH="393480" progId="Equation.DSMT4">
                  <p:embed/>
                </p:oleObj>
              </mc:Choice>
              <mc:Fallback>
                <p:oleObj name="Equation" r:id="rId12" imgW="2692080" imgH="393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CB8AF88-B900-4FDD-9DC0-7DC0A13E0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90490" y="5581291"/>
                        <a:ext cx="3557440" cy="520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77618-7726-4BE8-ACB6-F93159F7D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382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BF26-C986-4F93-B9C3-2FEFB051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1"/>
            <a:ext cx="11277600" cy="74183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sz="3600" dirty="0"/>
              <a:t>Long-term solvency measures </a:t>
            </a:r>
            <a:r>
              <a:rPr lang="en-US" sz="3200" noProof="0" dirty="0"/>
              <a:t>or financial leverage, ratios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3C7C-535F-4AFB-9C2C-1EEF5E6897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4431" y="1095722"/>
            <a:ext cx="9750669" cy="14904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Total debt ratio </a:t>
            </a:r>
            <a:r>
              <a:rPr lang="en-US" sz="2200" dirty="0">
                <a:solidFill>
                  <a:schemeClr val="tx2"/>
                </a:solidFill>
              </a:rPr>
              <a:t>considers all debts of all maturities to all creditors and has two useful variations:</a:t>
            </a:r>
          </a:p>
          <a:p>
            <a:pPr marL="291600" lvl="1" indent="-291600"/>
            <a:r>
              <a:rPr lang="en-US" sz="2200" dirty="0">
                <a:solidFill>
                  <a:schemeClr val="tx2"/>
                </a:solidFill>
              </a:rPr>
              <a:t>Debt-equity ratio.</a:t>
            </a:r>
          </a:p>
          <a:p>
            <a:pPr marL="291600" lvl="1" indent="-291600"/>
            <a:r>
              <a:rPr lang="en-US" sz="2200" dirty="0">
                <a:solidFill>
                  <a:schemeClr val="tx2"/>
                </a:solidFill>
              </a:rPr>
              <a:t>Equity multiplier.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15103-B0FE-4CD9-87B3-3DC886F73B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4431" y="2713920"/>
            <a:ext cx="11160369" cy="3735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Long-term debt ratio </a:t>
            </a:r>
            <a:r>
              <a:rPr lang="en-US" sz="2200" dirty="0">
                <a:solidFill>
                  <a:schemeClr val="tx2"/>
                </a:solidFill>
              </a:rPr>
              <a:t>is calculated as long-term debt divided by the sum of long-term debt and total equity.</a:t>
            </a:r>
          </a:p>
          <a:p>
            <a:pPr marL="0" indent="0">
              <a:buNone/>
            </a:pPr>
            <a:endParaRPr lang="en-US" sz="2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Times interest earned </a:t>
            </a:r>
            <a:r>
              <a:rPr lang="en-US" sz="2200" i="1" dirty="0">
                <a:solidFill>
                  <a:schemeClr val="tx2"/>
                </a:solidFill>
              </a:rPr>
              <a:t>(T</a:t>
            </a:r>
            <a:r>
              <a:rPr lang="en-US" sz="100" i="1" dirty="0">
                <a:solidFill>
                  <a:schemeClr val="tx2"/>
                </a:solidFill>
              </a:rPr>
              <a:t> </a:t>
            </a:r>
            <a:r>
              <a:rPr lang="en-US" sz="2200" i="1" dirty="0">
                <a:solidFill>
                  <a:schemeClr val="tx2"/>
                </a:solidFill>
              </a:rPr>
              <a:t>I</a:t>
            </a:r>
            <a:r>
              <a:rPr lang="en-US" sz="100" i="1" dirty="0">
                <a:solidFill>
                  <a:schemeClr val="tx2"/>
                </a:solidFill>
              </a:rPr>
              <a:t> </a:t>
            </a:r>
            <a:r>
              <a:rPr lang="en-US" sz="2200" i="1" dirty="0">
                <a:solidFill>
                  <a:schemeClr val="tx2"/>
                </a:solidFill>
              </a:rPr>
              <a:t>E) ratio </a:t>
            </a:r>
            <a:r>
              <a:rPr lang="en-US" sz="2200" dirty="0">
                <a:solidFill>
                  <a:schemeClr val="tx2"/>
                </a:solidFill>
              </a:rPr>
              <a:t>measures how well a company has its interest obligations covered and is often called the </a:t>
            </a:r>
            <a:r>
              <a:rPr lang="en-US" sz="2200" i="1" dirty="0">
                <a:solidFill>
                  <a:schemeClr val="tx2"/>
                </a:solidFill>
              </a:rPr>
              <a:t>interest coverage ratio.</a:t>
            </a:r>
          </a:p>
          <a:p>
            <a:pPr marL="0" indent="0">
              <a:buNone/>
            </a:pPr>
            <a:endParaRPr lang="en-US" sz="22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Cash coverage ratio </a:t>
            </a:r>
            <a:r>
              <a:rPr lang="en-US" sz="2200" dirty="0">
                <a:solidFill>
                  <a:schemeClr val="tx2"/>
                </a:solidFill>
              </a:rPr>
              <a:t>is a basic measure of the firm’s ability to generate cash from operations and is frequently used as a measure of cash flow available to meet financial obligations.</a:t>
            </a:r>
          </a:p>
          <a:p>
            <a:pPr marL="0" indent="0">
              <a:buNone/>
            </a:pPr>
            <a:endParaRPr lang="en-US" sz="22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E8E6-B90E-48FF-BB99-34E5069F9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7541811-B477-6CFB-AEED-B2A05288F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100944"/>
              </p:ext>
            </p:extLst>
          </p:nvPr>
        </p:nvGraphicFramePr>
        <p:xfrm>
          <a:off x="3959492" y="1660784"/>
          <a:ext cx="3927428" cy="293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17640" imgH="203040" progId="Equation.DSMT4">
                  <p:embed/>
                </p:oleObj>
              </mc:Choice>
              <mc:Fallback>
                <p:oleObj name="Equation" r:id="rId3" imgW="2717640" imgH="203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8640CD9-234D-4FA3-8B52-89F7DE30C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9492" y="1660784"/>
                        <a:ext cx="3927428" cy="29364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8AD9150-3671-ED92-2D6F-BD987C6A8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268174"/>
              </p:ext>
            </p:extLst>
          </p:nvPr>
        </p:nvGraphicFramePr>
        <p:xfrm>
          <a:off x="3968124" y="2127802"/>
          <a:ext cx="3918796" cy="28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960" imgH="203040" progId="Equation.DSMT4">
                  <p:embed/>
                </p:oleObj>
              </mc:Choice>
              <mc:Fallback>
                <p:oleObj name="Equation" r:id="rId5" imgW="2793960" imgH="203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F384019-A54F-4120-A40E-A6B7C8C8CC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8124" y="2127802"/>
                        <a:ext cx="3918796" cy="28500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821E409-526C-80C6-BAC3-2BFD8AEB61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306922"/>
              </p:ext>
            </p:extLst>
          </p:nvPr>
        </p:nvGraphicFramePr>
        <p:xfrm>
          <a:off x="3959492" y="3181152"/>
          <a:ext cx="3920495" cy="495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14520" imgH="419040" progId="Equation.DSMT4">
                  <p:embed/>
                </p:oleObj>
              </mc:Choice>
              <mc:Fallback>
                <p:oleObj name="Equation" r:id="rId7" imgW="3314520" imgH="419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445A587-BB02-4E58-BAE5-1A5D7E7A0A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9492" y="3181152"/>
                        <a:ext cx="3920495" cy="49569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A74E311-B9ED-54C0-5DAB-34563CD1D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276642"/>
              </p:ext>
            </p:extLst>
          </p:nvPr>
        </p:nvGraphicFramePr>
        <p:xfrm>
          <a:off x="7790499" y="4346683"/>
          <a:ext cx="3348865" cy="571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51488" imgH="571779" progId="Equation.DSMT4">
                  <p:embed/>
                </p:oleObj>
              </mc:Choice>
              <mc:Fallback>
                <p:oleObj name="Equation" r:id="rId9" imgW="3351488" imgH="571779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5086EF6-6D12-44DC-8A5F-0B2291B318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90499" y="4346683"/>
                        <a:ext cx="3348865" cy="571099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12F5070-0C03-6F5B-E1DC-98717D632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352144"/>
              </p:ext>
            </p:extLst>
          </p:nvPr>
        </p:nvGraphicFramePr>
        <p:xfrm>
          <a:off x="5594903" y="5896271"/>
          <a:ext cx="3348865" cy="489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92080" imgH="393480" progId="Equation.DSMT4">
                  <p:embed/>
                </p:oleObj>
              </mc:Choice>
              <mc:Fallback>
                <p:oleObj name="Equation" r:id="rId11" imgW="2692080" imgH="393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CB8AF88-B900-4FDD-9DC0-7DC0A13E0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94903" y="5896271"/>
                        <a:ext cx="3348865" cy="48969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015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BFC1-0BEC-4028-8AD1-3170220A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273762"/>
            <a:ext cx="10750061" cy="710313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3. Asset management, or turnover, ratios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7861F7E-9FD6-426E-B4B0-F843948F6A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3671" y="2188814"/>
          <a:ext cx="3371649" cy="564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640" imgH="419040" progId="Equation.DSMT4">
                  <p:embed/>
                </p:oleObj>
              </mc:Choice>
              <mc:Fallback>
                <p:oleObj name="Equation" r:id="rId3" imgW="250164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7861F7E-9FD6-426E-B4B0-F843948F6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3671" y="2188814"/>
                        <a:ext cx="3371649" cy="564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8B0D32C-8F82-4778-AF1F-0C355145A5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1076" y="2957514"/>
          <a:ext cx="39417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81000" imgH="419040" progId="Equation.DSMT4">
                  <p:embed/>
                </p:oleObj>
              </mc:Choice>
              <mc:Fallback>
                <p:oleObj name="Equation" r:id="rId5" imgW="2781000" imgH="419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C8B0D32C-8F82-4778-AF1F-0C355145A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1076" y="2957514"/>
                        <a:ext cx="3941763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E20BAD8-32BE-457F-AF43-C7B21D01B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3671" y="3958523"/>
          <a:ext cx="4125091" cy="59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43200" imgH="393480" progId="Equation.DSMT4">
                  <p:embed/>
                </p:oleObj>
              </mc:Choice>
              <mc:Fallback>
                <p:oleObj name="Equation" r:id="rId7" imgW="2743200" imgH="393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E20BAD8-32BE-457F-AF43-C7B21D01B9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43671" y="3958523"/>
                        <a:ext cx="4125091" cy="592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F9E0FE2-F75C-4A6B-AA5D-CE672EE132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600" y="4868864"/>
          <a:ext cx="44577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22560" imgH="393480" progId="Equation.DSMT4">
                  <p:embed/>
                </p:oleObj>
              </mc:Choice>
              <mc:Fallback>
                <p:oleObj name="Equation" r:id="rId9" imgW="3022560" imgH="39348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F9E0FE2-F75C-4A6B-AA5D-CE672EE13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0600" y="4868864"/>
                        <a:ext cx="4457700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0DA3719-6B55-4408-A522-44B8ABDEAD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2401" y="2167648"/>
          <a:ext cx="2253523" cy="59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320" imgH="393480" progId="Equation.DSMT4">
                  <p:embed/>
                </p:oleObj>
              </mc:Choice>
              <mc:Fallback>
                <p:oleObj name="Equation" r:id="rId11" imgW="1498320" imgH="39348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30DA3719-6B55-4408-A522-44B8ABDEAD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02401" y="2167648"/>
                        <a:ext cx="2253523" cy="592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6BEF405-DE31-4363-9F7F-EEC1E4A8FE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2401" y="3029650"/>
          <a:ext cx="3402233" cy="552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25680" imgH="393480" progId="Equation.DSMT4">
                  <p:embed/>
                </p:oleObj>
              </mc:Choice>
              <mc:Fallback>
                <p:oleObj name="Equation" r:id="rId13" imgW="2425680" imgH="393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6BEF405-DE31-4363-9F7F-EEC1E4A8F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02401" y="3029650"/>
                        <a:ext cx="3402233" cy="552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C999510-5C39-45EB-9CB4-051CA16B41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2400" y="3948310"/>
          <a:ext cx="2779696" cy="51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45960" imgH="393480" progId="Equation.DSMT4">
                  <p:embed/>
                </p:oleObj>
              </mc:Choice>
              <mc:Fallback>
                <p:oleObj name="Equation" r:id="rId15" imgW="2145960" imgH="39348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C999510-5C39-45EB-9CB4-051CA16B41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02400" y="3948310"/>
                        <a:ext cx="2779696" cy="51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DF74D-B5DF-4B41-984B-AC08C050F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40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6600-9687-431B-9572-4FC188B9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68" y="64323"/>
            <a:ext cx="11277600" cy="55466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sz="3200" noProof="0" dirty="0">
                <a:solidFill>
                  <a:schemeClr val="tx1"/>
                </a:solidFill>
              </a:rPr>
              <a:t>Asset management, or turnover, measures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72FAF-28E3-4D31-A249-04ADC8293C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738551"/>
            <a:ext cx="11160369" cy="100507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Inventory turnover </a:t>
            </a:r>
            <a:r>
              <a:rPr lang="en-US" sz="1600" dirty="0">
                <a:solidFill>
                  <a:schemeClr val="tx2"/>
                </a:solidFill>
              </a:rPr>
              <a:t>tells us how many times the firm sold off or turned over the entire inventory.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lvl="1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Days’ sales in inventory </a:t>
            </a:r>
            <a:r>
              <a:rPr lang="en-US" sz="1600" dirty="0">
                <a:solidFill>
                  <a:schemeClr val="tx2"/>
                </a:solidFill>
              </a:rPr>
              <a:t>tells us how many days inventory sits (on average) before it is sold.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BD892-0CF6-427E-9710-716E88DE6F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925" y="2217738"/>
            <a:ext cx="11160368" cy="136362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Receivables turnover </a:t>
            </a:r>
            <a:r>
              <a:rPr lang="en-US" sz="1600" dirty="0">
                <a:solidFill>
                  <a:schemeClr val="tx2"/>
                </a:solidFill>
              </a:rPr>
              <a:t>shows how many times a firm collects outstanding credit accounts and reloans the money.</a:t>
            </a:r>
          </a:p>
          <a:p>
            <a:pPr marL="0" lvl="1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0" lvl="1" indent="0">
              <a:buNone/>
            </a:pPr>
            <a:endParaRPr lang="en-US" sz="1600" b="1" i="1" dirty="0">
              <a:solidFill>
                <a:schemeClr val="tx2"/>
              </a:solidFill>
            </a:endParaRPr>
          </a:p>
          <a:p>
            <a:pPr marL="0" lvl="1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Days’ sales in receivables </a:t>
            </a:r>
            <a:r>
              <a:rPr lang="en-US" sz="1600" dirty="0">
                <a:solidFill>
                  <a:schemeClr val="tx2"/>
                </a:solidFill>
              </a:rPr>
              <a:t>provides the average number of days it takes for a firm to collect on its credit sales.</a:t>
            </a:r>
          </a:p>
          <a:p>
            <a:pPr marL="0" lvl="1" indent="0">
              <a:buNone/>
            </a:pPr>
            <a:endParaRPr lang="en-US" sz="16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1B01E7-5D4B-4FA2-969B-0752B9B1A10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6925" y="4096230"/>
            <a:ext cx="10150719" cy="237909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N W C turnover </a:t>
            </a:r>
            <a:r>
              <a:rPr lang="en-US" sz="1600" dirty="0">
                <a:solidFill>
                  <a:schemeClr val="tx2"/>
                </a:solidFill>
              </a:rPr>
              <a:t>measures how much “work” we get out of our working capital.</a:t>
            </a:r>
          </a:p>
          <a:p>
            <a:pPr marL="0" lvl="1" indent="0"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lvl="1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Fixed asset turnover </a:t>
            </a:r>
            <a:r>
              <a:rPr lang="en-US" sz="1600" dirty="0">
                <a:solidFill>
                  <a:schemeClr val="tx2"/>
                </a:solidFill>
              </a:rPr>
              <a:t>tells us how much the company generates in sales for every dollar in fixed assets.</a:t>
            </a:r>
          </a:p>
          <a:p>
            <a:pPr marL="0" lvl="1" indent="0"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lvl="1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Total assets turnover </a:t>
            </a:r>
            <a:r>
              <a:rPr lang="en-US" sz="1600" dirty="0">
                <a:solidFill>
                  <a:schemeClr val="tx2"/>
                </a:solidFill>
              </a:rPr>
              <a:t>tells us how much the company generates in sales for every dollar in assets.</a:t>
            </a:r>
          </a:p>
          <a:p>
            <a:pPr marL="0" lvl="1" indent="0"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E535D-58C3-4E40-AF90-0F9D04C9D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692D872-8707-A2AB-335D-41AEE2192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188995"/>
              </p:ext>
            </p:extLst>
          </p:nvPr>
        </p:nvGraphicFramePr>
        <p:xfrm>
          <a:off x="8800574" y="1052546"/>
          <a:ext cx="2422113" cy="421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640" imgH="419040" progId="Equation.DSMT4">
                  <p:embed/>
                </p:oleObj>
              </mc:Choice>
              <mc:Fallback>
                <p:oleObj name="Equation" r:id="rId3" imgW="250164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7861F7E-9FD6-426E-B4B0-F843948F6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00574" y="1052546"/>
                        <a:ext cx="2422113" cy="42187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47D66AF-A51D-96F2-150F-86446F22A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949664"/>
              </p:ext>
            </p:extLst>
          </p:nvPr>
        </p:nvGraphicFramePr>
        <p:xfrm>
          <a:off x="7620367" y="1673608"/>
          <a:ext cx="3235202" cy="48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81000" imgH="419040" progId="Equation.DSMT4">
                  <p:embed/>
                </p:oleObj>
              </mc:Choice>
              <mc:Fallback>
                <p:oleObj name="Equation" r:id="rId5" imgW="2781000" imgH="419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C8B0D32C-8F82-4778-AF1F-0C355145A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367" y="1673608"/>
                        <a:ext cx="3235202" cy="48776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6D78CCF-EEC6-2D15-03FA-5EB93DECD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706507"/>
              </p:ext>
            </p:extLst>
          </p:nvPr>
        </p:nvGraphicFramePr>
        <p:xfrm>
          <a:off x="4889630" y="2618907"/>
          <a:ext cx="3480647" cy="499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43200" imgH="393480" progId="Equation.DSMT4">
                  <p:embed/>
                </p:oleObj>
              </mc:Choice>
              <mc:Fallback>
                <p:oleObj name="Equation" r:id="rId7" imgW="2743200" imgH="393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E20BAD8-32BE-457F-AF43-C7B21D01B9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89630" y="2618907"/>
                        <a:ext cx="3480647" cy="49953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B3F07BD-34E8-CA35-1EE5-707327911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754060"/>
              </p:ext>
            </p:extLst>
          </p:nvPr>
        </p:nvGraphicFramePr>
        <p:xfrm>
          <a:off x="6696975" y="3601503"/>
          <a:ext cx="3910944" cy="50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22560" imgH="393480" progId="Equation.DSMT4">
                  <p:embed/>
                </p:oleObj>
              </mc:Choice>
              <mc:Fallback>
                <p:oleObj name="Equation" r:id="rId9" imgW="3022560" imgH="39348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F9E0FE2-F75C-4A6B-AA5D-CE672EE13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96975" y="3601503"/>
                        <a:ext cx="3910944" cy="50976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E201A0B-1EA9-BA43-6A80-107F270B5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735188"/>
              </p:ext>
            </p:extLst>
          </p:nvPr>
        </p:nvGraphicFramePr>
        <p:xfrm>
          <a:off x="7840248" y="4171375"/>
          <a:ext cx="1971967" cy="518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320" imgH="393480" progId="Equation.DSMT4">
                  <p:embed/>
                </p:oleObj>
              </mc:Choice>
              <mc:Fallback>
                <p:oleObj name="Equation" r:id="rId11" imgW="1498320" imgH="39348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30DA3719-6B55-4408-A522-44B8ABDEAD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40248" y="4171375"/>
                        <a:ext cx="1971967" cy="51805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1C00456-26DE-46E7-08D9-08575D3BA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842095"/>
              </p:ext>
            </p:extLst>
          </p:nvPr>
        </p:nvGraphicFramePr>
        <p:xfrm>
          <a:off x="8034559" y="5027059"/>
          <a:ext cx="2914795" cy="473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25680" imgH="393480" progId="Equation.DSMT4">
                  <p:embed/>
                </p:oleObj>
              </mc:Choice>
              <mc:Fallback>
                <p:oleObj name="Equation" r:id="rId13" imgW="2425680" imgH="393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6BEF405-DE31-4363-9F7F-EEC1E4A8F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34559" y="5027059"/>
                        <a:ext cx="2914795" cy="473078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E155A9D4-73EB-72CF-9586-39F05E2A77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804291"/>
              </p:ext>
            </p:extLst>
          </p:nvPr>
        </p:nvGraphicFramePr>
        <p:xfrm>
          <a:off x="7969200" y="5964878"/>
          <a:ext cx="2779696" cy="51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45960" imgH="393480" progId="Equation.DSMT4">
                  <p:embed/>
                </p:oleObj>
              </mc:Choice>
              <mc:Fallback>
                <p:oleObj name="Equation" r:id="rId15" imgW="2145960" imgH="39348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C999510-5C39-45EB-9CB4-051CA16B41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69200" y="5964878"/>
                        <a:ext cx="2779696" cy="51045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8150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1874-9F7B-4448-88A4-08B5E5A2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909"/>
            <a:ext cx="11277600" cy="63085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noProof="0" dirty="0">
                <a:solidFill>
                  <a:schemeClr val="tx1"/>
                </a:solidFill>
              </a:rPr>
              <a:t>4.  Profitability Ratios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A29309F-DCE4-45D5-ABBD-FC707E9C5F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4004" y="1966759"/>
          <a:ext cx="26606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0967" imgH="597375" progId="Equation.DSMT4">
                  <p:embed/>
                </p:oleObj>
              </mc:Choice>
              <mc:Fallback>
                <p:oleObj name="Equation" r:id="rId3" imgW="2660967" imgH="597375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A29309F-DCE4-45D5-ABBD-FC707E9C5F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4004" y="1966759"/>
                        <a:ext cx="266065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8CC5058-5E98-4705-B267-BBD066913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9725" y="2842838"/>
          <a:ext cx="3706080" cy="58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89040" imgH="393480" progId="Equation.DSMT4">
                  <p:embed/>
                </p:oleObj>
              </mc:Choice>
              <mc:Fallback>
                <p:oleObj name="Equation" r:id="rId5" imgW="2489040" imgH="3934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8CC5058-5E98-4705-B267-BBD0669139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9725" y="2842838"/>
                        <a:ext cx="3706080" cy="586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DB7DD93-354B-4D7A-AE95-8788004AF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9725" y="3790950"/>
          <a:ext cx="33226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14600" imgH="419040" progId="Equation.DSMT4">
                  <p:embed/>
                </p:oleObj>
              </mc:Choice>
              <mc:Fallback>
                <p:oleObj name="Equation" r:id="rId7" imgW="2514600" imgH="419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DB7DD93-354B-4D7A-AE95-8788004AFE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49725" y="3790950"/>
                        <a:ext cx="3322638" cy="554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0A98E52-6766-4A24-B57E-C6D33468A0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4004" y="4706377"/>
          <a:ext cx="3452334" cy="60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87520" imgH="419040" progId="Equation.DSMT4">
                  <p:embed/>
                </p:oleObj>
              </mc:Choice>
              <mc:Fallback>
                <p:oleObj name="Equation" r:id="rId9" imgW="2387520" imgH="419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0A98E52-6766-4A24-B57E-C6D33468A0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74004" y="4706377"/>
                        <a:ext cx="3452334" cy="604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90E38-5D56-4ED1-8164-97CCAF9F0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593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3CAC-08E6-4A01-86F0-83BE1833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1"/>
            <a:ext cx="11277600" cy="65157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sz="3600" dirty="0"/>
              <a:t>Profitability measures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446E1-63D0-46C4-8145-CAABB77A0D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" y="937846"/>
            <a:ext cx="11277599" cy="192258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i="1" noProof="0" dirty="0"/>
              <a:t>Profit margin </a:t>
            </a:r>
            <a:r>
              <a:rPr lang="en-US" sz="1800" noProof="0" dirty="0"/>
              <a:t>measures how well a company makes money (that is, how much money it generates in profit for every dollar in sales).</a:t>
            </a:r>
          </a:p>
          <a:p>
            <a:pPr marL="0" indent="0">
              <a:spcBef>
                <a:spcPts val="600"/>
              </a:spcBef>
              <a:buNone/>
            </a:pPr>
            <a:endParaRPr lang="en-US" noProof="0" dirty="0"/>
          </a:p>
          <a:p>
            <a:pPr marL="291600" lvl="1" indent="-291600"/>
            <a:r>
              <a:rPr lang="en-US" sz="1600" dirty="0"/>
              <a:t>All other things equal, a relatively high profit margin is desirable.</a:t>
            </a:r>
          </a:p>
          <a:p>
            <a:pPr marL="291600" lvl="1" indent="-291600"/>
            <a:r>
              <a:rPr lang="en-US" sz="1600" dirty="0"/>
              <a:t>Significant variation in profit margins across industries.</a:t>
            </a:r>
            <a:endParaRPr lang="en-US" sz="1600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28FC9-D674-4B07-BCFF-B7A706DAFE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81762"/>
            <a:ext cx="11044684" cy="2961042"/>
          </a:xfrm>
        </p:spPr>
        <p:txBody>
          <a:bodyPr>
            <a:normAutofit fontScale="92500" lnSpcReduction="20000"/>
          </a:bodyPr>
          <a:lstStyle/>
          <a:p>
            <a:pPr marL="0" lvl="1" indent="0">
              <a:buNone/>
            </a:pPr>
            <a:r>
              <a:rPr lang="en-US" sz="1800" b="1" i="1" dirty="0"/>
              <a:t>Return on assets (R O A) </a:t>
            </a:r>
            <a:r>
              <a:rPr lang="en-US" sz="1800" dirty="0"/>
              <a:t>is a measure of profit per dollar of assets.</a:t>
            </a:r>
          </a:p>
          <a:p>
            <a:pPr marL="0" lvl="1" indent="0">
              <a:buNone/>
            </a:pPr>
            <a:endParaRPr lang="en-US" sz="1800" dirty="0"/>
          </a:p>
          <a:p>
            <a:pPr marL="0" lvl="1" indent="0">
              <a:buNone/>
            </a:pPr>
            <a:r>
              <a:rPr lang="en-US" sz="1800" b="1" i="1" dirty="0"/>
              <a:t>Return on equity (R O E) </a:t>
            </a:r>
            <a:r>
              <a:rPr lang="en-US" sz="1800" dirty="0"/>
              <a:t>is a measure of how the stockholders fared during the year (that is, how much money the company generated in profit for every dollar in equity).  </a:t>
            </a:r>
          </a:p>
          <a:p>
            <a:pPr marL="291600" lvl="1" indent="-291600"/>
            <a:endParaRPr lang="en-US" sz="1800" noProof="0" dirty="0"/>
          </a:p>
          <a:p>
            <a:pPr marL="0" lvl="1" indent="0">
              <a:buNone/>
            </a:pPr>
            <a:endParaRPr lang="en-US" sz="1800" noProof="0" dirty="0"/>
          </a:p>
          <a:p>
            <a:pPr marL="0" lvl="1" indent="0">
              <a:buNone/>
            </a:pPr>
            <a:endParaRPr lang="en-US" sz="1800" noProof="0" dirty="0"/>
          </a:p>
          <a:p>
            <a:pPr marL="0" lvl="1" indent="0">
              <a:buNone/>
            </a:pPr>
            <a:endParaRPr lang="en-US" sz="1800" noProof="0" dirty="0"/>
          </a:p>
          <a:p>
            <a:pPr marL="0" lvl="1" indent="0">
              <a:buNone/>
            </a:pPr>
            <a:r>
              <a:rPr lang="en-US" sz="1800" noProof="0" dirty="0"/>
              <a:t>Remember that R</a:t>
            </a:r>
            <a:r>
              <a:rPr lang="en-US" sz="1800" dirty="0"/>
              <a:t> </a:t>
            </a:r>
            <a:r>
              <a:rPr lang="en-US" sz="1800" noProof="0" dirty="0"/>
              <a:t>O</a:t>
            </a:r>
            <a:r>
              <a:rPr lang="en-US" sz="1800" dirty="0"/>
              <a:t> </a:t>
            </a:r>
            <a:r>
              <a:rPr lang="en-US" sz="1800" noProof="0" dirty="0"/>
              <a:t>A and R</a:t>
            </a:r>
            <a:r>
              <a:rPr lang="en-US" sz="1800" dirty="0"/>
              <a:t> </a:t>
            </a:r>
            <a:r>
              <a:rPr lang="en-US" sz="1800" noProof="0" dirty="0"/>
              <a:t>O</a:t>
            </a:r>
            <a:r>
              <a:rPr lang="en-US" sz="1800" dirty="0"/>
              <a:t> </a:t>
            </a:r>
            <a:r>
              <a:rPr lang="en-US" sz="1800" noProof="0" dirty="0"/>
              <a:t>E are accounting rates of return; as such, they should properly be called </a:t>
            </a:r>
            <a:r>
              <a:rPr lang="en-US" sz="1800" i="1" noProof="0" dirty="0"/>
              <a:t>return on book assets </a:t>
            </a:r>
            <a:r>
              <a:rPr lang="en-US" sz="1800" noProof="0" dirty="0"/>
              <a:t>and </a:t>
            </a:r>
            <a:r>
              <a:rPr lang="en-US" sz="1800" i="1" noProof="0" dirty="0"/>
              <a:t>return on book equity.</a:t>
            </a:r>
          </a:p>
          <a:p>
            <a:pPr marL="291600" lvl="1" indent="-291600"/>
            <a:endParaRPr lang="en-US" sz="180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8D627-B81E-4785-A911-1FAD10114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E96801F-5CB9-57FF-3B4F-0307A3BF51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863831"/>
              </p:ext>
            </p:extLst>
          </p:nvPr>
        </p:nvGraphicFramePr>
        <p:xfrm>
          <a:off x="7937112" y="1336704"/>
          <a:ext cx="26606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0967" imgH="597375" progId="Equation.DSMT4">
                  <p:embed/>
                </p:oleObj>
              </mc:Choice>
              <mc:Fallback>
                <p:oleObj name="Equation" r:id="rId2" imgW="2660967" imgH="597375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A29309F-DCE4-45D5-ABBD-FC707E9C5F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37112" y="1336704"/>
                        <a:ext cx="2660650" cy="59690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2293888-7C10-5F78-32CB-75216D79E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89588"/>
              </p:ext>
            </p:extLst>
          </p:nvPr>
        </p:nvGraphicFramePr>
        <p:xfrm>
          <a:off x="7518095" y="2954215"/>
          <a:ext cx="3819464" cy="60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040" imgH="393480" progId="Equation.DSMT4">
                  <p:embed/>
                </p:oleObj>
              </mc:Choice>
              <mc:Fallback>
                <p:oleObj name="Equation" r:id="rId4" imgW="2489040" imgH="3934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8CC5058-5E98-4705-B267-BBD0669139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18095" y="2954215"/>
                        <a:ext cx="3819464" cy="60409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E21A74A-482A-5A44-7984-BC60D54FD3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864514"/>
              </p:ext>
            </p:extLst>
          </p:nvPr>
        </p:nvGraphicFramePr>
        <p:xfrm>
          <a:off x="6917204" y="4260223"/>
          <a:ext cx="3452334" cy="60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419040" progId="Equation.DSMT4">
                  <p:embed/>
                </p:oleObj>
              </mc:Choice>
              <mc:Fallback>
                <p:oleObj name="Equation" r:id="rId6" imgW="2387520" imgH="419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0A98E52-6766-4A24-B57E-C6D33468A0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17204" y="4260223"/>
                        <a:ext cx="3452334" cy="60412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C25B7EE-FA50-1644-9C08-56BC10A7D2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873230"/>
              </p:ext>
            </p:extLst>
          </p:nvPr>
        </p:nvGraphicFramePr>
        <p:xfrm>
          <a:off x="2025883" y="4310305"/>
          <a:ext cx="33226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419040" progId="Equation.DSMT4">
                  <p:embed/>
                </p:oleObj>
              </mc:Choice>
              <mc:Fallback>
                <p:oleObj name="Equation" r:id="rId8" imgW="2514600" imgH="419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DB7DD93-354B-4D7A-AE95-8788004AFE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25883" y="4310305"/>
                        <a:ext cx="3322638" cy="554038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1914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5CDE-112B-491A-980D-90091BB8D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9895"/>
            <a:ext cx="11277600" cy="62398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noProof="0" dirty="0">
                <a:solidFill>
                  <a:schemeClr val="tx1"/>
                </a:solidFill>
              </a:rPr>
              <a:t>5.  Market value ratios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B5ABE2C-34AD-4DC6-9B53-1001BC879B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6900" y="2244987"/>
          <a:ext cx="3994490" cy="655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419040" progId="Equation.DSMT4">
                  <p:embed/>
                </p:oleObj>
              </mc:Choice>
              <mc:Fallback>
                <p:oleObj name="Equation" r:id="rId3" imgW="255240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B5ABE2C-34AD-4DC6-9B53-1001BC879B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6900" y="2244987"/>
                        <a:ext cx="3994490" cy="655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0863677-243F-4B17-B9A2-C834FBA4C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6900" y="3134643"/>
          <a:ext cx="3851784" cy="668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720" imgH="419040" progId="Equation.DSMT4">
                  <p:embed/>
                </p:oleObj>
              </mc:Choice>
              <mc:Fallback>
                <p:oleObj name="Equation" r:id="rId5" imgW="2412720" imgH="419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0863677-243F-4B17-B9A2-C834FBA4C2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6900" y="3134643"/>
                        <a:ext cx="3851784" cy="668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779F250-5597-4FB9-B379-B81A4739D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6901" y="4100326"/>
          <a:ext cx="3480791" cy="696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95200" imgH="419040" progId="Equation.DSMT4">
                  <p:embed/>
                </p:oleObj>
              </mc:Choice>
              <mc:Fallback>
                <p:oleObj name="Equation" r:id="rId7" imgW="2095200" imgH="419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779F250-5597-4FB9-B379-B81A4739D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66901" y="4100326"/>
                        <a:ext cx="3480791" cy="696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B076C68-8744-4DEF-9CF6-C7C1FD0DD2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6900" y="5093172"/>
          <a:ext cx="4311152" cy="623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95480" imgH="419040" progId="Equation.DSMT4">
                  <p:embed/>
                </p:oleObj>
              </mc:Choice>
              <mc:Fallback>
                <p:oleObj name="Equation" r:id="rId9" imgW="2895480" imgH="419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B076C68-8744-4DEF-9CF6-C7C1FD0DD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66900" y="5093172"/>
                        <a:ext cx="4311152" cy="623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312B813-1D14-4D8A-80DF-8D8D859FF4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318711"/>
          <a:ext cx="4350568" cy="649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06560" imgH="419040" progId="Equation.DSMT4">
                  <p:embed/>
                </p:oleObj>
              </mc:Choice>
              <mc:Fallback>
                <p:oleObj name="Equation" r:id="rId11" imgW="2806560" imgH="4190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D312B813-1D14-4D8A-80DF-8D8D859FF4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6000" y="2318711"/>
                        <a:ext cx="4350568" cy="6498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D453F64-1A28-4F30-A515-5E716BC99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3265227"/>
          <a:ext cx="4491125" cy="563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36680" imgH="393480" progId="Equation.DSMT4">
                  <p:embed/>
                </p:oleObj>
              </mc:Choice>
              <mc:Fallback>
                <p:oleObj name="Equation" r:id="rId13" imgW="3136680" imgH="393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DD453F64-1A28-4F30-A515-5E716BC99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6001" y="3265227"/>
                        <a:ext cx="4491125" cy="563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32F5-449C-4B2F-858E-434CFC63B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82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8BC01-C44E-4F4A-A31D-C302B56B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375"/>
            <a:ext cx="11277600" cy="404558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Market value ratios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CC2B-A1ED-43C4-B053-595B01896E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714389"/>
            <a:ext cx="11629292" cy="240240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i="1" dirty="0"/>
              <a:t>Price-earnings (P E) </a:t>
            </a:r>
            <a:r>
              <a:rPr lang="en-US" sz="1800" i="1" dirty="0"/>
              <a:t>ratio </a:t>
            </a:r>
            <a:r>
              <a:rPr lang="en-US" sz="1800" dirty="0"/>
              <a:t>measures how much investors are willing to pay per dollar of current earnings.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000" dirty="0"/>
          </a:p>
          <a:p>
            <a:pPr marL="0" lvl="1" indent="0">
              <a:buNone/>
            </a:pPr>
            <a:r>
              <a:rPr lang="en-US" sz="2000" dirty="0"/>
              <a:t>	</a:t>
            </a:r>
          </a:p>
          <a:p>
            <a:pPr marL="0" lvl="1" indent="0">
              <a:buNone/>
            </a:pPr>
            <a:r>
              <a:rPr lang="en-US" sz="1800" dirty="0"/>
              <a:t>Vary significantly across companies, but, in 2022, a typical large company in the U.S. had a PE in the 15 to 20 range.</a:t>
            </a:r>
          </a:p>
          <a:p>
            <a:pPr marL="0" lvl="1" indent="0">
              <a:buNone/>
            </a:pPr>
            <a:r>
              <a:rPr lang="en-US" sz="1800" dirty="0"/>
              <a:t>Higher P Es are often taken to mean the firm has significant prospects for future growth, but it 	could also mean a firm had no (or almost no) earnings.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4F9F0-399E-43FA-8ACC-6EDC711B29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193251"/>
            <a:ext cx="11169162" cy="3301334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100" b="1" i="1" dirty="0"/>
              <a:t>Price-sales ratio </a:t>
            </a:r>
            <a:r>
              <a:rPr lang="en-US" sz="2100" dirty="0"/>
              <a:t>is useful if P E ratio is not meaningful due (for example, firm has negative earnings for extended periods).</a:t>
            </a:r>
          </a:p>
          <a:p>
            <a:pPr marL="0" indent="0">
              <a:spcBef>
                <a:spcPts val="600"/>
              </a:spcBef>
              <a:buNone/>
            </a:pPr>
            <a:endParaRPr lang="en-US" sz="2200" dirty="0"/>
          </a:p>
          <a:p>
            <a:pPr marL="0" indent="0">
              <a:spcBef>
                <a:spcPts val="600"/>
              </a:spcBef>
              <a:buNone/>
            </a:pPr>
            <a:endParaRPr lang="en-US" sz="22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900" b="1" i="1" dirty="0"/>
              <a:t>Market-to-book </a:t>
            </a:r>
            <a:r>
              <a:rPr lang="en-US" sz="1900" i="1" dirty="0"/>
              <a:t>ratio </a:t>
            </a:r>
            <a:r>
              <a:rPr lang="en-US" sz="1900" dirty="0"/>
              <a:t>compares the market value of the firm’s investments to their costs.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900" dirty="0"/>
          </a:p>
          <a:p>
            <a:pPr marL="0" indent="0">
              <a:spcBef>
                <a:spcPts val="600"/>
              </a:spcBef>
              <a:buNone/>
            </a:pPr>
            <a:endParaRPr lang="en-US" sz="2200" dirty="0"/>
          </a:p>
          <a:p>
            <a:pPr marL="0" indent="0">
              <a:spcBef>
                <a:spcPts val="600"/>
              </a:spcBef>
              <a:buNone/>
            </a:pPr>
            <a:endParaRPr lang="en-US" sz="2200" dirty="0"/>
          </a:p>
          <a:p>
            <a:pPr marL="0" lvl="1" indent="0">
              <a:buNone/>
            </a:pPr>
            <a:r>
              <a:rPr lang="en-US" sz="2000" dirty="0"/>
              <a:t>Value less than 1 could mean that the firm has not been successful overall in creating value for its stockholders.</a:t>
            </a:r>
          </a:p>
          <a:p>
            <a:pPr marL="0" lvl="1" indent="0">
              <a:buNone/>
            </a:pPr>
            <a:r>
              <a:rPr lang="en-US" sz="2000" dirty="0"/>
              <a:t>Focuses on historical costs, which are less relevant.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085A7-9812-4DEF-AE8F-B1D2408DF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834753C-87F9-F05E-6659-ACB13BD37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573478"/>
              </p:ext>
            </p:extLst>
          </p:nvPr>
        </p:nvGraphicFramePr>
        <p:xfrm>
          <a:off x="3027484" y="1140605"/>
          <a:ext cx="3947747" cy="64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419040" progId="Equation.DSMT4">
                  <p:embed/>
                </p:oleObj>
              </mc:Choice>
              <mc:Fallback>
                <p:oleObj name="Equation" r:id="rId3" imgW="255240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B5ABE2C-34AD-4DC6-9B53-1001BC879B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7484" y="1140605"/>
                        <a:ext cx="3947747" cy="64813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EEF7EE9-DE5C-F88C-E32B-5A8477127E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053039"/>
              </p:ext>
            </p:extLst>
          </p:nvPr>
        </p:nvGraphicFramePr>
        <p:xfrm>
          <a:off x="4079631" y="3510451"/>
          <a:ext cx="3071446" cy="61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419040" progId="Equation.DSMT4">
                  <p:embed/>
                </p:oleObj>
              </mc:Choice>
              <mc:Fallback>
                <p:oleObj name="Equation" r:id="rId5" imgW="2095200" imgH="419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779F250-5597-4FB9-B379-B81A4739DC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9631" y="3510451"/>
                        <a:ext cx="3071446" cy="614288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209168A-28E2-D59C-73DA-76CC27692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699573"/>
              </p:ext>
            </p:extLst>
          </p:nvPr>
        </p:nvGraphicFramePr>
        <p:xfrm>
          <a:off x="7151077" y="4583172"/>
          <a:ext cx="4311152" cy="623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95480" imgH="419040" progId="Equation.DSMT4">
                  <p:embed/>
                </p:oleObj>
              </mc:Choice>
              <mc:Fallback>
                <p:oleObj name="Equation" r:id="rId7" imgW="2895480" imgH="419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B076C68-8744-4DEF-9CF6-C7C1FD0DD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51077" y="4583172"/>
                        <a:ext cx="4311152" cy="623982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0914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8BC01-C44E-4F4A-A31D-C302B56B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1"/>
            <a:ext cx="11277600" cy="54922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Market value ratios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CC2B-A1ED-43C4-B053-595B01896E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3046" y="949014"/>
            <a:ext cx="11101754" cy="282581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i="1" dirty="0"/>
              <a:t>Tobin’s Q ratio </a:t>
            </a:r>
            <a:r>
              <a:rPr lang="en-US" sz="1800" dirty="0"/>
              <a:t>is superior to the market-to-book ratio because it focuses on what the firm is worth </a:t>
            </a:r>
            <a:r>
              <a:rPr lang="en-US" sz="1800" i="1" dirty="0"/>
              <a:t>today</a:t>
            </a:r>
            <a:r>
              <a:rPr lang="en-US" sz="1800" dirty="0"/>
              <a:t> relative to what it would cost to replace it </a:t>
            </a:r>
            <a:r>
              <a:rPr lang="en-US" sz="1800" i="1" dirty="0"/>
              <a:t>today.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i="1" dirty="0"/>
          </a:p>
          <a:p>
            <a:pPr marL="0" indent="0">
              <a:spcBef>
                <a:spcPts val="600"/>
              </a:spcBef>
              <a:buNone/>
            </a:pPr>
            <a:endParaRPr lang="en-US" sz="1800" i="1" dirty="0"/>
          </a:p>
          <a:p>
            <a:pPr marL="0" lvl="1" indent="0">
              <a:buNone/>
            </a:pPr>
            <a:r>
              <a:rPr lang="en-US" sz="1800" dirty="0"/>
              <a:t>Firms with high Q ratios tend to be those with attractive investment opportunities or significant competitive advantages (or both).</a:t>
            </a:r>
          </a:p>
          <a:p>
            <a:pPr marL="0" lvl="1" indent="0">
              <a:buNone/>
            </a:pPr>
            <a:r>
              <a:rPr lang="en-US" sz="1800" dirty="0"/>
              <a:t>Difficult to calculate with accuracy because estimating the replacement cost of a firm’s assets is not an easy task and market values for a firm’s debt are often unobservable.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4F9F0-399E-43FA-8ACC-6EDC711B29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046" y="3774832"/>
            <a:ext cx="11101754" cy="177209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i="1" dirty="0"/>
              <a:t>Enterprise value-E B I T D </a:t>
            </a:r>
            <a:r>
              <a:rPr lang="en-US" sz="1800" i="1" dirty="0"/>
              <a:t>A multiple </a:t>
            </a:r>
            <a:r>
              <a:rPr lang="en-US" sz="1800" dirty="0"/>
              <a:t>relates the value of all the operating assets (that is, enterprise value) to a measure of the operating cash flow generated by those assets (E B I T D A).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spcBef>
                <a:spcPts val="600"/>
              </a:spcBef>
              <a:buNone/>
            </a:pPr>
            <a:endParaRPr lang="en-US" sz="1800" dirty="0"/>
          </a:p>
          <a:p>
            <a:pPr marL="0" lvl="1" indent="0">
              <a:buNone/>
            </a:pPr>
            <a:r>
              <a:rPr lang="en-US" sz="1800" dirty="0"/>
              <a:t>Enterprise value is an estimate of the market value of the company’s operating assets, which include all assets of the firm except cash.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085A7-9812-4DEF-AE8F-B1D2408DF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56E6934-0340-33F4-B5BE-C2C1909847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562"/>
              </p:ext>
            </p:extLst>
          </p:nvPr>
        </p:nvGraphicFramePr>
        <p:xfrm>
          <a:off x="6307015" y="1392588"/>
          <a:ext cx="4350568" cy="649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419040" progId="Equation.DSMT4">
                  <p:embed/>
                </p:oleObj>
              </mc:Choice>
              <mc:Fallback>
                <p:oleObj name="Equation" r:id="rId3" imgW="2806560" imgH="4190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D312B813-1D14-4D8A-80DF-8D8D859FF4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07015" y="1392588"/>
                        <a:ext cx="4350568" cy="64982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5120EAC-4011-F96C-582B-224C2ECC0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008783"/>
              </p:ext>
            </p:extLst>
          </p:nvPr>
        </p:nvGraphicFramePr>
        <p:xfrm>
          <a:off x="6764216" y="4304999"/>
          <a:ext cx="4491125" cy="563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36680" imgH="393480" progId="Equation.DSMT4">
                  <p:embed/>
                </p:oleObj>
              </mc:Choice>
              <mc:Fallback>
                <p:oleObj name="Equation" r:id="rId5" imgW="3136680" imgH="393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DD453F64-1A28-4F30-A515-5E716BC99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64216" y="4304999"/>
                        <a:ext cx="4491125" cy="563234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6032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9478-A001-46D2-931A-8FC38364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1"/>
            <a:ext cx="11277600" cy="61912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sz="3600" dirty="0"/>
              <a:t>The DuPont identity </a:t>
            </a:r>
            <a:r>
              <a:rPr lang="en-US" altLang="en-US" sz="1000" dirty="0"/>
              <a:t>1</a:t>
            </a:r>
            <a:endParaRPr lang="en-US" sz="100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EEC4FE0-A2BF-4F0B-AA1E-1E28312209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450516"/>
              </p:ext>
            </p:extLst>
          </p:nvPr>
        </p:nvGraphicFramePr>
        <p:xfrm>
          <a:off x="3964835" y="1235958"/>
          <a:ext cx="3303473" cy="69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419040" progId="Equation.DSMT4">
                  <p:embed/>
                </p:oleObj>
              </mc:Choice>
              <mc:Fallback>
                <p:oleObj name="Equation" r:id="rId3" imgW="1993680" imgH="4190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EEC4FE0-A2BF-4F0B-AA1E-1E28312209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4835" y="1235958"/>
                        <a:ext cx="3303473" cy="69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97C1-7B9C-4B78-9F3D-76D3205FB3A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9231" y="2032201"/>
            <a:ext cx="10855569" cy="72421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We could multiply R</a:t>
            </a:r>
            <a:r>
              <a:rPr lang="en-US" altLang="en-US" sz="100" dirty="0"/>
              <a:t> </a:t>
            </a:r>
            <a:r>
              <a:rPr lang="en-US" altLang="en-US" sz="2000" dirty="0"/>
              <a:t>O</a:t>
            </a:r>
            <a:r>
              <a:rPr lang="en-US" altLang="en-US" sz="100" dirty="0"/>
              <a:t> </a:t>
            </a:r>
            <a:r>
              <a:rPr lang="en-US" altLang="en-US" sz="2000" dirty="0"/>
              <a:t>E by Assets/Assets, which then expresses the R</a:t>
            </a:r>
            <a:r>
              <a:rPr lang="en-US" altLang="en-US" sz="100" dirty="0"/>
              <a:t> </a:t>
            </a:r>
            <a:r>
              <a:rPr lang="en-US" altLang="en-US" sz="2000" dirty="0"/>
              <a:t>O</a:t>
            </a:r>
            <a:r>
              <a:rPr lang="en-US" altLang="en-US" sz="100" dirty="0"/>
              <a:t> </a:t>
            </a:r>
            <a:r>
              <a:rPr lang="en-US" altLang="en-US" sz="2000" dirty="0"/>
              <a:t>E as the product of R</a:t>
            </a:r>
            <a:r>
              <a:rPr lang="en-US" altLang="en-US" sz="100" dirty="0"/>
              <a:t> </a:t>
            </a:r>
            <a:r>
              <a:rPr lang="en-US" altLang="en-US" sz="2000" dirty="0"/>
              <a:t>O</a:t>
            </a:r>
            <a:r>
              <a:rPr lang="en-US" altLang="en-US" sz="100" dirty="0"/>
              <a:t> </a:t>
            </a:r>
            <a:r>
              <a:rPr lang="en-US" altLang="en-US" sz="2000" dirty="0"/>
              <a:t>A and the equity multiplier:</a:t>
            </a:r>
            <a:endParaRPr lang="en-US" sz="200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140454C-38AC-419B-8195-C45EDE8DB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304" y="2887709"/>
          <a:ext cx="5604287" cy="68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41600" imgH="419040" progId="Equation.DSMT4">
                  <p:embed/>
                </p:oleObj>
              </mc:Choice>
              <mc:Fallback>
                <p:oleObj name="Equation" r:id="rId5" imgW="3441600" imgH="4190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140454C-38AC-419B-8195-C45EDE8DB6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4304" y="2887709"/>
                        <a:ext cx="5604287" cy="682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5D90BEB-6A4D-4C52-A9C3-0BF987E1F4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7814" y="3629026"/>
          <a:ext cx="3011487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7680" imgH="419040" progId="Equation.DSMT4">
                  <p:embed/>
                </p:oleObj>
              </mc:Choice>
              <mc:Fallback>
                <p:oleObj name="Equation" r:id="rId7" imgW="1777680" imgH="419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D5D90BEB-6A4D-4C52-A9C3-0BF987E1F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87814" y="3629026"/>
                        <a:ext cx="3011487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9B07235-C375-4C29-B946-D934B3123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1717" y="4462372"/>
          <a:ext cx="6050495" cy="30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63680" imgH="203040" progId="Equation.DSMT4">
                  <p:embed/>
                </p:oleObj>
              </mc:Choice>
              <mc:Fallback>
                <p:oleObj name="Equation" r:id="rId9" imgW="4063680" imgH="2030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9B07235-C375-4C29-B946-D934B31230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51717" y="4462372"/>
                        <a:ext cx="6050495" cy="303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7C477-B84D-4DB4-BAEC-F7106CE1F1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0390" y="4889499"/>
            <a:ext cx="10500655" cy="45741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We can further decompose R</a:t>
            </a:r>
            <a:r>
              <a:rPr lang="en-US" altLang="en-US" sz="100" dirty="0"/>
              <a:t> </a:t>
            </a:r>
            <a:r>
              <a:rPr lang="en-US" altLang="en-US" sz="2000" dirty="0"/>
              <a:t>O</a:t>
            </a:r>
            <a:r>
              <a:rPr lang="en-US" altLang="en-US" sz="100" dirty="0"/>
              <a:t> </a:t>
            </a:r>
            <a:r>
              <a:rPr lang="en-US" altLang="en-US" sz="2000" dirty="0"/>
              <a:t>E by multiplying by Sales/Sales:</a:t>
            </a:r>
            <a:endParaRPr lang="en-US" sz="2000" dirty="0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3922CF7-65FB-4F6E-88BF-1237C56FB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589" y="5678489"/>
          <a:ext cx="46815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28720" imgH="419040" progId="Equation.DSMT4">
                  <p:embed/>
                </p:oleObj>
              </mc:Choice>
              <mc:Fallback>
                <p:oleObj name="Equation" r:id="rId11" imgW="2628720" imgH="4190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D3922CF7-65FB-4F6E-88BF-1237C56FB7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30589" y="5678489"/>
                        <a:ext cx="4681537" cy="74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E93FB-E7F0-4773-A4E0-595B84830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66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9478-A001-46D2-931A-8FC38364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2503"/>
            <a:ext cx="11277600" cy="56281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altLang="en-US" sz="3600" dirty="0"/>
              <a:t>The DuPont identity </a:t>
            </a:r>
            <a:endParaRPr lang="en-US" sz="1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97C1-7B9C-4B78-9F3D-76D3205FB3A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4431" y="1422061"/>
            <a:ext cx="11160369" cy="72421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If we rearrange things a bit, we can partition R</a:t>
            </a:r>
            <a:r>
              <a:rPr lang="en-US" altLang="en-US" sz="100" dirty="0"/>
              <a:t> </a:t>
            </a:r>
            <a:r>
              <a:rPr lang="en-US" altLang="en-US" sz="2000" dirty="0"/>
              <a:t>O</a:t>
            </a:r>
            <a:r>
              <a:rPr lang="en-US" altLang="en-US" sz="100" dirty="0"/>
              <a:t> </a:t>
            </a:r>
            <a:r>
              <a:rPr lang="en-US" altLang="en-US" sz="2000" dirty="0"/>
              <a:t>A into its two component parts – profit margin and total asset turnover.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EB3C3D2-ED80-FE31-F0E8-DD120B46A9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6588" y="2352676"/>
          <a:ext cx="451961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41320" imgH="571320" progId="Equation.DSMT4">
                  <p:embed/>
                </p:oleObj>
              </mc:Choice>
              <mc:Fallback>
                <p:oleObj name="Equation" r:id="rId3" imgW="2641320" imgH="5713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EB3C3D2-ED80-FE31-F0E8-DD120B46A9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588" y="2352676"/>
                        <a:ext cx="4519612" cy="1057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31CE8A1-ADB0-43A2-A181-E585E933A6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094" y="3535386"/>
          <a:ext cx="6178923" cy="340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2800" imgH="203040" progId="Equation.DSMT4">
                  <p:embed/>
                </p:oleObj>
              </mc:Choice>
              <mc:Fallback>
                <p:oleObj name="Equation" r:id="rId5" imgW="3682800" imgH="2030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31CE8A1-ADB0-43A2-A181-E585E933A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35094" y="3535386"/>
                        <a:ext cx="6178923" cy="340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7C477-B84D-4DB4-BAEC-F7106CE1F1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5445" y="4114354"/>
            <a:ext cx="10716437" cy="168572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The </a:t>
            </a:r>
            <a:r>
              <a:rPr lang="en-US" altLang="en-US" sz="2000" b="1" dirty="0"/>
              <a:t>DuPont identity </a:t>
            </a:r>
            <a:r>
              <a:rPr lang="en-US" altLang="en-US" sz="2000" dirty="0"/>
              <a:t>breaks R</a:t>
            </a:r>
            <a:r>
              <a:rPr lang="en-US" altLang="en-US" sz="100" dirty="0"/>
              <a:t> </a:t>
            </a:r>
            <a:r>
              <a:rPr lang="en-US" altLang="en-US" sz="2000" dirty="0"/>
              <a:t>O</a:t>
            </a:r>
            <a:r>
              <a:rPr lang="en-US" altLang="en-US" sz="100" dirty="0"/>
              <a:t> </a:t>
            </a:r>
            <a:r>
              <a:rPr lang="en-US" altLang="en-US" sz="2000" dirty="0"/>
              <a:t>E into three parts:</a:t>
            </a:r>
          </a:p>
          <a:p>
            <a:pPr marL="403200" lvl="1" indent="-403200">
              <a:buFont typeface="+mj-lt"/>
              <a:buAutoNum type="arabicPeriod"/>
              <a:defRPr/>
            </a:pPr>
            <a:r>
              <a:rPr lang="en-US" altLang="en-US" sz="2000" dirty="0"/>
              <a:t>Operating efficiency, as measured by profit margin.</a:t>
            </a:r>
          </a:p>
          <a:p>
            <a:pPr marL="403200" lvl="1" indent="-403200">
              <a:buFont typeface="+mj-lt"/>
              <a:buAutoNum type="arabicPeriod"/>
              <a:defRPr/>
            </a:pPr>
            <a:r>
              <a:rPr lang="en-US" altLang="en-US" sz="2000" dirty="0"/>
              <a:t>Asset use efficiency, as measured by total asset turnover.</a:t>
            </a:r>
          </a:p>
          <a:p>
            <a:pPr marL="403200" lvl="1" indent="-403200">
              <a:buFont typeface="+mj-lt"/>
              <a:buAutoNum type="arabicPeriod"/>
              <a:defRPr/>
            </a:pPr>
            <a:r>
              <a:rPr lang="en-US" altLang="en-US" sz="2000" dirty="0"/>
              <a:t>Financial leverage, as measured by the equity multiplier.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E93FB-E7F0-4773-A4E0-595B84830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91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0258-4BDF-4B1D-AC62-BA46AAE2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10988"/>
            <a:ext cx="11277600" cy="58043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Using </a:t>
            </a:r>
            <a:r>
              <a:rPr lang="en-US" altLang="en-US" noProof="0" dirty="0"/>
              <a:t>financial</a:t>
            </a:r>
            <a:r>
              <a:rPr lang="en-US" altLang="en-US" noProof="0" dirty="0">
                <a:solidFill>
                  <a:schemeClr val="tx1"/>
                </a:solidFill>
              </a:rPr>
              <a:t> statement </a:t>
            </a:r>
            <a:r>
              <a:rPr lang="en-US" altLang="en-US" noProof="0" dirty="0"/>
              <a:t>information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FE91-865C-4C38-A68A-0B21AE66A6A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4769" y="1276710"/>
            <a:ext cx="10996246" cy="5070302"/>
          </a:xfrm>
        </p:spPr>
        <p:txBody>
          <a:bodyPr/>
          <a:lstStyle/>
          <a:p>
            <a:pPr marL="0" indent="0">
              <a:lnSpc>
                <a:spcPct val="95000"/>
              </a:lnSpc>
              <a:spcBef>
                <a:spcPts val="600"/>
              </a:spcBef>
              <a:buNone/>
            </a:pPr>
            <a:r>
              <a:rPr lang="en-US" altLang="en-US" b="1" noProof="0" dirty="0"/>
              <a:t>Why evaluate financial statements?</a:t>
            </a:r>
          </a:p>
          <a:p>
            <a:pPr marL="0" lvl="1" indent="0">
              <a:lnSpc>
                <a:spcPct val="95000"/>
              </a:lnSpc>
              <a:buNone/>
            </a:pPr>
            <a:r>
              <a:rPr lang="en-US" altLang="en-US" noProof="0" dirty="0"/>
              <a:t>Internal uses include performance evaluation and planning purposes.</a:t>
            </a:r>
          </a:p>
          <a:p>
            <a:pPr marL="0" lvl="1" indent="0">
              <a:lnSpc>
                <a:spcPct val="95000"/>
              </a:lnSpc>
              <a:buNone/>
            </a:pPr>
            <a:r>
              <a:rPr lang="en-US" altLang="en-US" noProof="0" dirty="0"/>
              <a:t>Financial statements are also useful to parties external to the firm:</a:t>
            </a:r>
          </a:p>
          <a:p>
            <a:pPr marL="292608" lvl="2">
              <a:spcBef>
                <a:spcPts val="1000"/>
              </a:spcBef>
            </a:pPr>
            <a:r>
              <a:rPr lang="en-US" altLang="en-US" sz="2400" dirty="0"/>
              <a:t>Short-term and long-term creditors.</a:t>
            </a:r>
          </a:p>
          <a:p>
            <a:pPr marL="292608" lvl="2">
              <a:spcBef>
                <a:spcPts val="1000"/>
              </a:spcBef>
            </a:pPr>
            <a:r>
              <a:rPr lang="en-US" altLang="en-US" sz="2400" dirty="0"/>
              <a:t>Potential investors.</a:t>
            </a:r>
          </a:p>
          <a:p>
            <a:pPr marL="292608" lvl="2">
              <a:spcBef>
                <a:spcPts val="1000"/>
              </a:spcBef>
            </a:pPr>
            <a:r>
              <a:rPr lang="en-US" altLang="en-US" sz="2400" dirty="0"/>
              <a:t>Suppliers and large customers.</a:t>
            </a:r>
          </a:p>
          <a:p>
            <a:pPr marL="292608" lvl="2">
              <a:spcBef>
                <a:spcPts val="1000"/>
              </a:spcBef>
            </a:pPr>
            <a:r>
              <a:rPr lang="en-US" altLang="en-US" sz="2400" dirty="0"/>
              <a:t>Credit rating agencies.</a:t>
            </a:r>
          </a:p>
          <a:p>
            <a:pPr marL="292608" lvl="2">
              <a:spcBef>
                <a:spcPts val="1000"/>
              </a:spcBef>
            </a:pPr>
            <a:r>
              <a:rPr lang="en-US" altLang="en-US" sz="2400" dirty="0"/>
              <a:t>Competitors.</a:t>
            </a:r>
          </a:p>
          <a:p>
            <a:pPr marL="292608" lvl="2">
              <a:spcBef>
                <a:spcPts val="1000"/>
              </a:spcBef>
            </a:pPr>
            <a:r>
              <a:rPr lang="en-US" altLang="en-US" sz="2400" dirty="0"/>
              <a:t>Potential targets for acquisition.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00630-FF1F-422B-805D-531856E1E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11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6361-B52C-4732-B340-FD39A089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2492"/>
            <a:ext cx="11277600" cy="83914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en-US" noProof="0" dirty="0">
                <a:solidFill>
                  <a:schemeClr val="tx1"/>
                </a:solidFill>
              </a:rPr>
              <a:t>Problems with financial statement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1A79-2054-4EAE-A2C5-868A16A33C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38553" y="1356062"/>
            <a:ext cx="10763329" cy="270285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000" dirty="0"/>
              <a:t>No underlying theory exists to help us identify which quantities to look at and to use in establishing benchmarks.</a:t>
            </a:r>
          </a:p>
          <a:p>
            <a:pPr>
              <a:defRPr/>
            </a:pPr>
            <a:r>
              <a:rPr lang="en-US" altLang="en-US" sz="2000" dirty="0"/>
              <a:t>Many firms are </a:t>
            </a:r>
            <a:r>
              <a:rPr lang="en-US" altLang="en-US" sz="2000" i="1" dirty="0"/>
              <a:t>conglomerates</a:t>
            </a:r>
            <a:r>
              <a:rPr lang="en-US" altLang="en-US" sz="2000" dirty="0"/>
              <a:t>, owning unrelated lines of business, and consolidated financial statements for such firms do not fit any neat industry category.</a:t>
            </a:r>
          </a:p>
          <a:p>
            <a:pPr>
              <a:defRPr/>
            </a:pPr>
            <a:r>
              <a:rPr lang="en-US" altLang="en-US" sz="2000" dirty="0"/>
              <a:t>Major competitors and natural peer group members in an industry may be scattered around the globe.</a:t>
            </a:r>
          </a:p>
          <a:p>
            <a:pPr marL="291600" lvl="1" indent="-291600">
              <a:defRPr/>
            </a:pPr>
            <a:r>
              <a:rPr lang="en-US" altLang="en-US" sz="2000" dirty="0"/>
              <a:t>Financial statements from outside the U.S. do not necessarily conform to all G</a:t>
            </a:r>
            <a:r>
              <a:rPr lang="en-US" altLang="en-US" sz="100" dirty="0"/>
              <a:t> </a:t>
            </a:r>
            <a:r>
              <a:rPr lang="en-US" altLang="en-US" sz="2000" dirty="0"/>
              <a:t>A</a:t>
            </a:r>
            <a:r>
              <a:rPr lang="en-US" altLang="en-US" sz="100" dirty="0"/>
              <a:t> </a:t>
            </a:r>
            <a:r>
              <a:rPr lang="en-US" altLang="en-US" sz="2000" dirty="0" err="1"/>
              <a:t>A</a:t>
            </a:r>
            <a:r>
              <a:rPr lang="en-US" altLang="en-US" sz="100" dirty="0"/>
              <a:t> </a:t>
            </a:r>
            <a:r>
              <a:rPr lang="en-US" altLang="en-US" sz="2000" dirty="0"/>
              <a:t>P principles.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06C9A-8493-4D9C-9617-BF578F17C7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153" y="4524420"/>
            <a:ext cx="10763329" cy="19050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sz="2000" dirty="0"/>
              <a:t>Even companies that are clearly in the same line of business may not be comparable.</a:t>
            </a:r>
          </a:p>
          <a:p>
            <a:pPr marL="0" indent="0">
              <a:buNone/>
              <a:defRPr/>
            </a:pPr>
            <a:r>
              <a:rPr lang="en-US" altLang="en-US" sz="2000" dirty="0"/>
              <a:t>	Different firms use different accounting procedures.</a:t>
            </a:r>
          </a:p>
          <a:p>
            <a:pPr marL="0" indent="0">
              <a:buNone/>
              <a:defRPr/>
            </a:pPr>
            <a:r>
              <a:rPr lang="en-US" altLang="en-US" sz="2000" dirty="0"/>
              <a:t>	Different firms end their fiscal years at different times.</a:t>
            </a:r>
          </a:p>
          <a:p>
            <a:pPr marL="0" indent="0">
              <a:buNone/>
              <a:defRPr/>
            </a:pPr>
            <a:endParaRPr lang="en-US" alt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C7C76-6F7B-4E8F-AB26-CE7694C40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8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2305</Words>
  <Application>Microsoft Office PowerPoint</Application>
  <PresentationFormat>Widescreen</PresentationFormat>
  <Paragraphs>403</Paragraphs>
  <Slides>26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STIX MathJax Main</vt:lpstr>
      <vt:lpstr>Office Theme</vt:lpstr>
      <vt:lpstr>Equation</vt:lpstr>
      <vt:lpstr>Chapter outline</vt:lpstr>
      <vt:lpstr>Cash flow and financial statements: A closer look</vt:lpstr>
      <vt:lpstr>Prufrock corporation: 2020 and 2021 balance sheets 1</vt:lpstr>
      <vt:lpstr>Prufrock corporation: 2023 and 2024 balance sheets 2</vt:lpstr>
      <vt:lpstr>Prufrock corporation: summary of sources and uses of cash</vt:lpstr>
      <vt:lpstr>Prufrock corporation: 2024 income statement</vt:lpstr>
      <vt:lpstr>The Accounting Statement of Cash Flows</vt:lpstr>
      <vt:lpstr>Prufrock corporation: Statement of Cash Flows</vt:lpstr>
      <vt:lpstr>Standardized Financial Statements</vt:lpstr>
      <vt:lpstr>Prufrock corporation: Summary of standardized balance sheets</vt:lpstr>
      <vt:lpstr>Ratio analysis</vt:lpstr>
      <vt:lpstr>1.  Short-term solvency, or liquidity, ratios</vt:lpstr>
      <vt:lpstr>Short-term solvency, or liquidity, measures</vt:lpstr>
      <vt:lpstr>2.  Long-term solvency ratios or financial leverage, ratios</vt:lpstr>
      <vt:lpstr>Long-term solvency measures or financial leverage, ratios</vt:lpstr>
      <vt:lpstr>3. Asset management, or turnover, ratios</vt:lpstr>
      <vt:lpstr>Asset management, or turnover, measures</vt:lpstr>
      <vt:lpstr>4.  Profitability Ratios</vt:lpstr>
      <vt:lpstr>Profitability measures</vt:lpstr>
      <vt:lpstr>5.  Market value ratios</vt:lpstr>
      <vt:lpstr>Market value ratios</vt:lpstr>
      <vt:lpstr>Market value ratios</vt:lpstr>
      <vt:lpstr>The DuPont identity 1</vt:lpstr>
      <vt:lpstr>The DuPont identity </vt:lpstr>
      <vt:lpstr>Using financial statement information</vt:lpstr>
      <vt:lpstr>Problems with financial statement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El-Ashmawi, Amal</dc:creator>
  <cp:lastModifiedBy>El-Ashmawi, Amal</cp:lastModifiedBy>
  <cp:revision>18</cp:revision>
  <dcterms:created xsi:type="dcterms:W3CDTF">2024-08-24T21:39:58Z</dcterms:created>
  <dcterms:modified xsi:type="dcterms:W3CDTF">2024-08-24T23:20:26Z</dcterms:modified>
</cp:coreProperties>
</file>