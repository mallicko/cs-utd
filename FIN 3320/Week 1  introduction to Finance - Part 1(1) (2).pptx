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4" r:id="rId2"/>
    <p:sldId id="265" r:id="rId3"/>
    <p:sldId id="257" r:id="rId4"/>
    <p:sldId id="268" r:id="rId5"/>
    <p:sldId id="269" r:id="rId6"/>
    <p:sldId id="270" r:id="rId7"/>
    <p:sldId id="271" r:id="rId8"/>
    <p:sldId id="333" r:id="rId9"/>
    <p:sldId id="563" r:id="rId10"/>
    <p:sldId id="564" r:id="rId11"/>
    <p:sldId id="565" r:id="rId12"/>
    <p:sldId id="557" r:id="rId13"/>
    <p:sldId id="561" r:id="rId14"/>
    <p:sldId id="287" r:id="rId15"/>
    <p:sldId id="566" r:id="rId16"/>
    <p:sldId id="332" r:id="rId17"/>
    <p:sldId id="562" r:id="rId18"/>
    <p:sldId id="568" r:id="rId19"/>
    <p:sldId id="274" r:id="rId20"/>
    <p:sldId id="300" r:id="rId21"/>
    <p:sldId id="301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0C032-8BD4-4174-8B82-4551D4D8852E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92A6D-AA3D-49A6-90F2-EE4002679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8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DF8DFC5-F08D-4A74-82C3-9BF4E583F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E8FFA5A-AFEA-4EA3-9ADE-32B24F9B290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8BDA78D-D607-4B5E-A92D-7EA3C26FA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047A381-DD93-4D84-BC3D-E86EA2679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F5935C9F-821A-4E6B-A0B0-B46CBC520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DD53996-9E77-4506-B211-0BCC9670998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CA355A9-ACC9-4CB2-83A4-BA05D5C33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D3739AC-8C5A-440B-AF77-FF1B38427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0C8B1A6E-C4CB-40B5-B953-3DF8E53D9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4AFF80D-C346-4F40-AE56-4161074A9B1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FF85C89-5114-491F-B078-AADB86FD83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63BF38B-4658-4717-98E1-9FB8A4E6C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D3B898AC-0326-4A5F-8AF3-8BC99E5A70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6089EF1-4B72-49FC-A403-B99478804EE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20A2B44-378A-41AD-94E9-0E043A775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CE35EEA-6794-4427-AF14-DE26232C6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7177C6D-5241-4828-8897-21BFE2920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0269B25-7509-44AA-A39A-A747097FE01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EDD2E0C-80C4-457A-9C25-0EACF2295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47755F4-DAB6-4BD8-B115-F66146549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11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-65" charset="-128"/>
                <a:cs typeface="ＭＳ Ｐゴシック" pitchFamily="-65" charset="-128"/>
              </a:rPr>
              <a:t>Corporations exist around the world under a variety of names. Table 1.2 lists several well-known companies, along with the type of company in the original language.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56329-1779-487C-B587-BBABA473AA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88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019B34B-0DC6-46CB-9650-1E0DCAA03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DA870CF-BB65-4BEB-84BA-3CFD61F2048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8F1D058-11B9-47AD-94F0-706FC56757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2D95BA4-8A33-4633-9631-487D0FC52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It is important to remind students that net income is NOT cash flow.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56329-1779-487C-B587-BBABA473AA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7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B228280-8217-402D-8B4A-EA35BF558F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E7395AC-4A96-49E6-B0FC-1A1788EC72F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238141C-08D6-4031-BD87-65F88BF4C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A8F64EA-4146-431E-997D-A57C2E8DE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17ECBB8-FB44-4B3E-B2E5-F5715D40D5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FF77F82-8BB1-453D-BC64-0C39EF1D1CA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23089A3-DE26-471A-BA65-DC5422E59E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F3FA6120-78BC-42D5-A999-8D74528DB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84C339E-00B7-47C5-AEBE-DA80E9FEE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9C4BE58-F652-48C9-9984-E43D47DA1E76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D0161AD-1DB5-43D8-A99F-50C6A7168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E6A32D0-5D3F-45E4-A912-F64510352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CF71926-0E8B-4A65-B6AB-FBE1A77A7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7615EA1-6422-4110-8E9C-CC746CECF9A0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4A1A922-7DA7-4F37-B952-7432A26C0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8172D40-5365-4D67-944A-841529F6A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C84A-4182-41C6-B533-765D1A3EE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D58F5-814E-498A-AC51-CF4E1725C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DCD4-E34E-4D2E-AEB8-22D0CAF4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3419-4D5E-4B16-B42C-D2DD2994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88081-B05E-426D-8D62-EB79F9F1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D43A-0775-44F7-8BD5-3F614F59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8088-6FDB-47EE-99B4-97C971A72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BE961-C281-4A8D-A51F-F8CE0735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7BF51-A434-4F4B-892B-8BF2D070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9B74-A1AA-4BC2-9E7E-7DD0A724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6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283E-1D5F-45B7-B30B-16272D66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05717-B591-44BF-A95E-F41203C7D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C986A-E04B-4340-A3BE-037DA654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5640-7B5B-4BF3-878D-C85B4065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CEA7-EBC0-4B51-9D7C-F43A69C5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1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402D-A155-4100-B8E0-218222A6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8805-CEA1-4B1E-9EF8-468101B14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A6108-92C8-40B0-87BE-0D2D5DCE9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7C596-5B39-420F-9F1E-8732488B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6FED5-2141-411A-A130-96012379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EDE0D-B6B5-4491-8E05-3FEAFB42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8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5FC8-6D53-4E7E-B2A6-93FBAFA1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28943-F70D-4D53-857E-97D70B95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9D9AA-C8E9-4B63-9158-EC72D7637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B4776-03D1-4A4D-8969-70291A1BB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00BDC-4390-4670-A5A2-0CE87C3DA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9B523-1EC3-4E56-ABA0-1EB092A9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C83CC-2C2B-43F2-85F9-DAF8CB30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2D4DB-89FC-48D6-BF81-DA418366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4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C0A4-8DF2-4110-AAAE-D99F2D33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8D2E0-2B18-4041-B2DC-A48AA36A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4EAB3-8666-45DE-B563-6049ACF8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589DD-F93C-403C-86C5-5A8427C3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1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82BC6-0398-4839-9D1A-0FF619A8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B81A2-5DF8-4708-A53B-54BBB7831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8EC60-BC76-4075-BCC9-B5207098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0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E851-A21A-444E-B651-CA2EB845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A177-35DC-4531-8AA3-476BF6FC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BB4A8-C9E2-48FC-9F01-83E94761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0444-A3C7-4099-A53A-196DC583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5354E-C7E6-4407-A766-DA5DE42D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49799-4A0F-4ADA-946C-9712F618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4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8F63-65CF-4A77-8865-A93E8661A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A01CC-C0C5-42CE-B9E8-95C833D4E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F7102-B9E7-46DD-9A9D-54DC9B110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B673-33CD-49AD-830C-399F69C9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657F6-7E3C-4A18-B55F-6604454F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BF92-9436-402D-8FF3-BDCADED5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7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B5FE-C8E9-41E4-8765-C9E02F90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D9956-9ECE-434E-ADE6-2516A29FE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09AED-05A8-47C5-AE5E-6737A818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28C8C-E625-4F8F-8F20-14E7061E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E7E0F-961F-4961-AE67-87F20E92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5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CBBE4-9035-4871-A856-D3B7DE704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7168D-0EDC-496C-8549-60DAE5ACD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FA7E4-5FBB-48DC-AC4E-058AA4BB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FCBB-7592-4862-9521-932A200D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59CA-737A-4AEE-9296-8027C40C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82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33547"/>
            <a:ext cx="11277600" cy="82111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Appendix Link">
            <a:extLst>
              <a:ext uri="{FF2B5EF4-FFF2-40B4-BE49-F238E27FC236}">
                <a16:creationId xmlns:a16="http://schemas.microsoft.com/office/drawing/2014/main" id="{03133A46-43F0-4734-A847-009F11688B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060" y="6331528"/>
            <a:ext cx="4383880" cy="260843"/>
          </a:xfrm>
        </p:spPr>
        <p:txBody>
          <a:bodyPr anchor="ctr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0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B005D-A9D6-4E37-8B36-3AEB0421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59DAA-614F-45BD-894F-C834B023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E09AA-3E87-4590-B6A4-4DE09803A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9EAEB-CE20-4310-9233-64DD30515A6F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BEF5-B8AD-4213-9608-927A50CC8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1C94-4750-46D8-BEC1-DA0DB5A96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B7ED7-E26C-47F2-8E4E-18F015FB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6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0048-C49E-4F23-8240-245A80F5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34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Introduction </a:t>
            </a:r>
            <a:br>
              <a:rPr lang="en-US" sz="3200" b="1" dirty="0"/>
            </a:br>
            <a:r>
              <a:rPr lang="en-US" sz="3200" b="1" dirty="0"/>
              <a:t>Chapter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48D8-9B82-461D-95E1-BEA4DC9BC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961"/>
            <a:ext cx="10515600" cy="470500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What is Corporate Finance?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T</a:t>
            </a:r>
            <a:r>
              <a:rPr 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he basic types of financial management decisions and the role of the financial manager.</a:t>
            </a:r>
            <a:endParaRPr lang="en-US" altLang="en-US" sz="24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various forms of business organization and their the financial implications.</a:t>
            </a: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Goal of  the Financial Manager.</a:t>
            </a: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Agency Problem and Control of the Corporation.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conflicts of interest that can arise between owners and managers.</a:t>
            </a:r>
            <a:endParaRPr lang="en-US" altLang="en-US" sz="24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6EECE-9BFB-402B-A330-685FDCA8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20D14D98-F209-4FAD-8C15-E894ED36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33" y="2378075"/>
            <a:ext cx="10368774" cy="3665886"/>
          </a:xfrm>
        </p:spPr>
        <p:txBody>
          <a:bodyPr>
            <a:normAutofit/>
          </a:bodyPr>
          <a:lstStyle/>
          <a:p>
            <a:pPr marL="476250" indent="-476250"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Corporate Finance addresses the following three questions:</a:t>
            </a:r>
          </a:p>
          <a:p>
            <a:pPr marL="933450" lvl="1" indent="-461963">
              <a:buFont typeface="Symbol" panose="05050102010706020507" pitchFamily="18" charset="2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What long-term investments should the firm choose? </a:t>
            </a:r>
          </a:p>
          <a:p>
            <a:pPr marL="471487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The investment decision.</a:t>
            </a:r>
          </a:p>
          <a:p>
            <a:pPr marL="471487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2.	How should the firm raise funds for the selected investments?</a:t>
            </a:r>
          </a:p>
          <a:p>
            <a:pPr marL="471487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The financing decision.</a:t>
            </a:r>
          </a:p>
          <a:p>
            <a:pPr marL="471487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3.	How should short-term assets be managed and financed?</a:t>
            </a:r>
          </a:p>
          <a:p>
            <a:pPr marL="471487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Working capital decision.</a:t>
            </a: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614DE251-4313-4ABB-8B22-0A4DBBAB3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0932" y="681657"/>
            <a:ext cx="10515600" cy="136331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altLang="en-US" sz="3200" dirty="0"/>
            </a:br>
            <a:r>
              <a:rPr lang="en-US" altLang="en-US" sz="3600" b="1" dirty="0"/>
              <a:t>What Is Corporate Finance?</a:t>
            </a:r>
            <a:br>
              <a:rPr lang="en-US" altLang="en-US" sz="3600" b="1" dirty="0"/>
            </a:br>
            <a:r>
              <a:rPr lang="en-US" altLang="en-US" sz="3600" b="1" dirty="0"/>
              <a:t> T</a:t>
            </a:r>
            <a:r>
              <a:rPr lang="en-US" sz="3600" b="1" dirty="0"/>
              <a:t>he basic types of financial management decisions and the role of the financial manager.</a:t>
            </a:r>
            <a:b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</a:br>
            <a:endParaRPr lang="en-US" alt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78A00-82D3-48D1-8DFF-5240168E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0C96-C2F1-4F8C-82B1-EC3F80DB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429"/>
            <a:ext cx="10515600" cy="77628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 dirty="0"/>
              <a:t>Balance Sheet Model</a:t>
            </a:r>
          </a:p>
        </p:txBody>
      </p:sp>
      <p:pic>
        <p:nvPicPr>
          <p:cNvPr id="5" name="Content Placeholder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2787C705-C43C-47C8-AF7C-7A6DDB2B2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161" y="1330192"/>
            <a:ext cx="7301678" cy="520872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B77DA-07FC-40A0-9485-068EB69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3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D69BA79-ED56-48B2-B40D-5B65B84D9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87791" cy="67692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dirty="0"/>
              <a:t>The Capital Budgeting Decision  (Investment Decision)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DB792E70-C1C3-40A1-B04C-E03B4654E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36" y="1455884"/>
            <a:ext cx="1981200" cy="1569660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Current Assets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0E524338-E86C-40A2-922B-57D9F8ED4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3797509"/>
            <a:ext cx="1981200" cy="2123658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Fixed Assets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1 Tangible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  2 Intangible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186A3F7E-2D4A-42BC-8B93-25DEB1E80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051300"/>
            <a:ext cx="1981200" cy="1938992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Shareholders’ Equity</a:t>
            </a:r>
          </a:p>
          <a:p>
            <a:pPr algn="ctr">
              <a:spcBef>
                <a:spcPct val="50000"/>
              </a:spcBef>
            </a:pPr>
            <a:endParaRPr lang="en-US" altLang="en-US" sz="2400">
              <a:solidFill>
                <a:schemeClr val="bg2"/>
              </a:solidFill>
            </a:endParaRP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169AB28C-2269-4C5B-B34C-E1F57FAA9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460501"/>
            <a:ext cx="1981200" cy="830997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Current Liabilities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F9099BB6-57E8-4830-9C18-815C100E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451101"/>
            <a:ext cx="1981200" cy="1384995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Long-Term Debt</a:t>
            </a:r>
          </a:p>
          <a:p>
            <a:pPr algn="ctr">
              <a:spcBef>
                <a:spcPct val="50000"/>
              </a:spcBef>
            </a:pPr>
            <a:endParaRPr lang="en-US" altLang="en-US" sz="2400">
              <a:solidFill>
                <a:schemeClr val="bg2"/>
              </a:solidFill>
            </a:endParaRP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E8BC8C34-8026-4029-9B40-74C81C917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2" y="4197418"/>
            <a:ext cx="2667000" cy="14636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4161750" indent="-24161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  <a:buSzPct val="70000"/>
              <a:buFont typeface="Symbol" panose="05050102010706020507" pitchFamily="18" charset="2"/>
              <a:buNone/>
            </a:pPr>
            <a:r>
              <a:rPr lang="en-US" altLang="en-US" sz="2500" dirty="0"/>
              <a:t>What long-term investments should the firm choose?</a:t>
            </a:r>
          </a:p>
        </p:txBody>
      </p:sp>
      <p:sp>
        <p:nvSpPr>
          <p:cNvPr id="23561" name="AutoShape 9">
            <a:extLst>
              <a:ext uri="{FF2B5EF4-FFF2-40B4-BE49-F238E27FC236}">
                <a16:creationId xmlns:a16="http://schemas.microsoft.com/office/drawing/2014/main" id="{A4CF1AED-7D84-4B24-987D-B30485823D38}"/>
              </a:ext>
            </a:extLst>
          </p:cNvPr>
          <p:cNvSpPr>
            <a:spLocks/>
          </p:cNvSpPr>
          <p:nvPr/>
        </p:nvSpPr>
        <p:spPr bwMode="auto">
          <a:xfrm flipH="1">
            <a:off x="3419475" y="3900556"/>
            <a:ext cx="438150" cy="2057400"/>
          </a:xfrm>
          <a:prstGeom prst="leftBrace">
            <a:avLst>
              <a:gd name="adj1" fmla="val 39130"/>
              <a:gd name="adj2" fmla="val 50000"/>
            </a:avLst>
          </a:prstGeom>
          <a:noFill/>
          <a:ln w="38100">
            <a:solidFill>
              <a:srgbClr val="CC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3DFEE7-11C4-4EAC-93FF-A638CFFB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38B0D4A-2CEC-41F8-90D5-95917B59F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9188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dirty="0"/>
              <a:t>The Capital Structure Decision (Financing Decision)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6BDEADB1-7ECB-4650-A4A1-D16C0985E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566" y="2897819"/>
            <a:ext cx="2438400" cy="16160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500" dirty="0"/>
              <a:t>How should the firm raise funds for the selected investments?</a:t>
            </a:r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3832EA70-2EDF-44CF-824D-75D40D864CF4}"/>
              </a:ext>
            </a:extLst>
          </p:cNvPr>
          <p:cNvSpPr>
            <a:spLocks/>
          </p:cNvSpPr>
          <p:nvPr/>
        </p:nvSpPr>
        <p:spPr bwMode="auto">
          <a:xfrm>
            <a:off x="7006302" y="2574865"/>
            <a:ext cx="754946" cy="3134560"/>
          </a:xfrm>
          <a:prstGeom prst="leftBrace">
            <a:avLst>
              <a:gd name="adj1" fmla="val 48333"/>
              <a:gd name="adj2" fmla="val 50000"/>
            </a:avLst>
          </a:prstGeom>
          <a:noFill/>
          <a:ln w="38100">
            <a:solidFill>
              <a:srgbClr val="CC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477A42AF-F800-4008-BCC9-99841B44A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30468"/>
            <a:ext cx="1981200" cy="1569660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Current Assets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F7A8673B-B903-454E-B7F5-589BC85EC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3723656"/>
            <a:ext cx="1981200" cy="2123658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Fixed Assets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1 Tangible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  2 Intangible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4583" name="Text Box 8">
            <a:extLst>
              <a:ext uri="{FF2B5EF4-FFF2-40B4-BE49-F238E27FC236}">
                <a16:creationId xmlns:a16="http://schemas.microsoft.com/office/drawing/2014/main" id="{9853690B-0AB9-4408-87E4-85A523A7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975100"/>
            <a:ext cx="1981200" cy="1938992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Shareholders’ Equity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4584" name="Text Box 9">
            <a:extLst>
              <a:ext uri="{FF2B5EF4-FFF2-40B4-BE49-F238E27FC236}">
                <a16:creationId xmlns:a16="http://schemas.microsoft.com/office/drawing/2014/main" id="{783205AE-1782-4640-B3A8-9163D3FC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0936" y="1404183"/>
            <a:ext cx="1981200" cy="830997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Current Liabilities</a:t>
            </a:r>
          </a:p>
        </p:txBody>
      </p:sp>
      <p:sp>
        <p:nvSpPr>
          <p:cNvPr id="24585" name="Text Box 10">
            <a:extLst>
              <a:ext uri="{FF2B5EF4-FFF2-40B4-BE49-F238E27FC236}">
                <a16:creationId xmlns:a16="http://schemas.microsoft.com/office/drawing/2014/main" id="{65752752-38C9-40A4-BD4C-35EFC448F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374901"/>
            <a:ext cx="1981200" cy="1384995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Long-Term Debt</a:t>
            </a:r>
          </a:p>
          <a:p>
            <a:pPr algn="ctr">
              <a:spcBef>
                <a:spcPct val="50000"/>
              </a:spcBef>
            </a:pPr>
            <a:endParaRPr lang="en-US" altLang="en-US" sz="240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CFC10-5155-4270-B4D6-4738C92A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F08019-C1F6-4EC3-81A5-264850D9B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8275" y="480437"/>
            <a:ext cx="9469582" cy="68036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dirty="0">
                <a:ea typeface="+mj-ea"/>
                <a:cs typeface="+mj-cs"/>
              </a:rPr>
              <a:t>Short-Term Asset Management (Net Working Capital)</a:t>
            </a:r>
          </a:p>
        </p:txBody>
      </p:sp>
      <p:sp>
        <p:nvSpPr>
          <p:cNvPr id="25603" name="AutoShape 3">
            <a:extLst>
              <a:ext uri="{FF2B5EF4-FFF2-40B4-BE49-F238E27FC236}">
                <a16:creationId xmlns:a16="http://schemas.microsoft.com/office/drawing/2014/main" id="{7E7536E7-A5CD-4962-9630-76BB7A3AB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374900"/>
            <a:ext cx="1752600" cy="11430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0C4816CC-AB32-4189-9FAE-9BD63F215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6550" y="2374900"/>
            <a:ext cx="1847850" cy="0"/>
          </a:xfrm>
          <a:prstGeom prst="line">
            <a:avLst/>
          </a:prstGeom>
          <a:noFill/>
          <a:ln w="38100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Line 5">
            <a:extLst>
              <a:ext uri="{FF2B5EF4-FFF2-40B4-BE49-F238E27FC236}">
                <a16:creationId xmlns:a16="http://schemas.microsoft.com/office/drawing/2014/main" id="{BDFC040E-7B30-44CF-95AC-10DAFFE0CB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517899"/>
            <a:ext cx="1885950" cy="50427"/>
          </a:xfrm>
          <a:prstGeom prst="line">
            <a:avLst/>
          </a:prstGeom>
          <a:noFill/>
          <a:ln w="38100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40054B11-6366-45D6-A8D1-F4586C9DB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822701"/>
            <a:ext cx="2895600" cy="2031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  <a:buSzPct val="70000"/>
              <a:buFont typeface="Symbol" panose="05050102010706020507" pitchFamily="18" charset="2"/>
              <a:buNone/>
            </a:pPr>
            <a:r>
              <a:rPr lang="en-US" altLang="en-US" sz="2500" dirty="0"/>
              <a:t>How should short-term assets be managed and financed?</a:t>
            </a:r>
          </a:p>
          <a:p>
            <a:pPr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8A12B925-5CE7-45F9-B06E-97770A7BC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2435225"/>
            <a:ext cx="12763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solidFill>
                  <a:srgbClr val="CC0000"/>
                </a:solidFill>
              </a:rPr>
              <a:t>Net Working Capital</a:t>
            </a:r>
          </a:p>
        </p:txBody>
      </p:sp>
      <p:sp>
        <p:nvSpPr>
          <p:cNvPr id="26632" name="Text Box 9">
            <a:extLst>
              <a:ext uri="{FF2B5EF4-FFF2-40B4-BE49-F238E27FC236}">
                <a16:creationId xmlns:a16="http://schemas.microsoft.com/office/drawing/2014/main" id="{59786397-706B-4AEF-BE50-2BF18F7D5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033251"/>
            <a:ext cx="1981200" cy="1938992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Shareholders’ Equity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633" name="Text Box 10">
            <a:extLst>
              <a:ext uri="{FF2B5EF4-FFF2-40B4-BE49-F238E27FC236}">
                <a16:creationId xmlns:a16="http://schemas.microsoft.com/office/drawing/2014/main" id="{076D7FBA-B668-4E75-BC14-1BD807AF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292" y="1604228"/>
            <a:ext cx="1981200" cy="830997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Current Liabilities</a:t>
            </a:r>
          </a:p>
        </p:txBody>
      </p:sp>
      <p:sp>
        <p:nvSpPr>
          <p:cNvPr id="26634" name="Text Box 11">
            <a:extLst>
              <a:ext uri="{FF2B5EF4-FFF2-40B4-BE49-F238E27FC236}">
                <a16:creationId xmlns:a16="http://schemas.microsoft.com/office/drawing/2014/main" id="{458C0B5C-F521-41BC-8359-C47614230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554840"/>
            <a:ext cx="1981200" cy="1384995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Long-Term Debt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635" name="Text Box 12">
            <a:extLst>
              <a:ext uri="{FF2B5EF4-FFF2-40B4-BE49-F238E27FC236}">
                <a16:creationId xmlns:a16="http://schemas.microsoft.com/office/drawing/2014/main" id="{2E8659B5-C713-4A71-8938-1C602C6E0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510" y="1677678"/>
            <a:ext cx="1981200" cy="1569660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Current Assets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636" name="Text Box 13">
            <a:extLst>
              <a:ext uri="{FF2B5EF4-FFF2-40B4-BE49-F238E27FC236}">
                <a16:creationId xmlns:a16="http://schemas.microsoft.com/office/drawing/2014/main" id="{EA8F3033-FB15-40FA-85B7-95148A38E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510" y="3730368"/>
            <a:ext cx="1981200" cy="2123658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100000">
                <a:srgbClr val="B1011E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Fixed Assets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1 Tangible</a:t>
            </a:r>
          </a:p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  2 Intangible</a:t>
            </a:r>
          </a:p>
          <a:p>
            <a:pPr algn="ctr">
              <a:spcBef>
                <a:spcPct val="50000"/>
              </a:spcBef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42B8F-0035-435D-A688-3C7987A9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5243A27F-AC0B-4CC6-825B-343769895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Financial Manager’s primary goal is to </a:t>
            </a:r>
            <a:r>
              <a:rPr lang="en-US" altLang="en-US" sz="2400" b="1" u="sng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increase the value </a:t>
            </a: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of the firm by:</a:t>
            </a:r>
          </a:p>
          <a:p>
            <a:pPr marL="0" indent="0">
              <a:buFont typeface="Symbol" panose="05050102010706020507" pitchFamily="18" charset="2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  Selecting value creating projects</a:t>
            </a:r>
          </a:p>
          <a:p>
            <a:pPr marL="0" indent="0">
              <a:buFont typeface="Symbol" panose="05050102010706020507" pitchFamily="18" charset="2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  Making smart financing decisions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AE9E485D-56E7-4FF1-BD3C-04D46DAF9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0866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dirty="0"/>
              <a:t>The Financial Manager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DDE3AF-2091-4426-B39A-02E4C52D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2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53DD-3934-A63D-1AC4-0FB76EB9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208"/>
            <a:ext cx="10515600" cy="128525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br>
              <a:rPr lang="en-US" sz="27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</a:br>
            <a:r>
              <a:rPr lang="en-US" sz="27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various forms of business organization</a:t>
            </a:r>
            <a:br>
              <a:rPr lang="en-US" sz="4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7DDF2-9B47-1DA6-81F6-1C8FB7F2A492}"/>
              </a:ext>
            </a:extLst>
          </p:cNvPr>
          <p:cNvSpPr txBox="1"/>
          <p:nvPr/>
        </p:nvSpPr>
        <p:spPr>
          <a:xfrm>
            <a:off x="838200" y="2308302"/>
            <a:ext cx="10515600" cy="210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Sole Proprietorship.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Partnership.</a:t>
            </a:r>
          </a:p>
          <a:p>
            <a:pPr lvl="1"/>
            <a:r>
              <a:rPr lang="en-US" dirty="0"/>
              <a:t>General Partnership.</a:t>
            </a:r>
          </a:p>
          <a:p>
            <a:pPr lvl="1"/>
            <a:r>
              <a:rPr lang="en-US" dirty="0"/>
              <a:t>Limited Partnership.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3B6B8E5-377E-A23A-68E0-528A677AADF2}"/>
              </a:ext>
            </a:extLst>
          </p:cNvPr>
          <p:cNvSpPr txBox="1">
            <a:spLocks/>
          </p:cNvSpPr>
          <p:nvPr/>
        </p:nvSpPr>
        <p:spPr>
          <a:xfrm>
            <a:off x="838200" y="3835076"/>
            <a:ext cx="7962900" cy="5773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Corporation.</a:t>
            </a:r>
          </a:p>
        </p:txBody>
      </p:sp>
    </p:spTree>
    <p:extLst>
      <p:ext uri="{BB962C8B-B14F-4D97-AF65-F5344CB8AC3E}">
        <p14:creationId xmlns:p14="http://schemas.microsoft.com/office/powerpoint/2010/main" val="151893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45A7-5A18-27E1-066F-1D2B7008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338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dirty="0"/>
              <a:t>Sole Proprietorship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B8389-998E-6735-E4AB-A24034F82121}"/>
              </a:ext>
            </a:extLst>
          </p:cNvPr>
          <p:cNvSpPr txBox="1"/>
          <p:nvPr/>
        </p:nvSpPr>
        <p:spPr>
          <a:xfrm>
            <a:off x="838200" y="2207941"/>
            <a:ext cx="106810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The business is owned by one person.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The least regulated form of organization.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Owner keeps all the profits but assumes unlimited liability for the business’s debts.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Life of the business is limited to the owner’s life span.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Amount of equity raised is limited to owner’s personal wealth.</a:t>
            </a:r>
          </a:p>
        </p:txBody>
      </p:sp>
    </p:spTree>
    <p:extLst>
      <p:ext uri="{BB962C8B-B14F-4D97-AF65-F5344CB8AC3E}">
        <p14:creationId xmlns:p14="http://schemas.microsoft.com/office/powerpoint/2010/main" val="262720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A48D-7829-4CA6-8961-96F8C60A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453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dirty="0"/>
              <a:t>Partnership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C6EAF-89B7-0DC2-A460-02C175C830BC}"/>
              </a:ext>
            </a:extLst>
          </p:cNvPr>
          <p:cNvSpPr txBox="1"/>
          <p:nvPr/>
        </p:nvSpPr>
        <p:spPr>
          <a:xfrm>
            <a:off x="838200" y="2118732"/>
            <a:ext cx="103576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The business is formed by two or more owners.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All partners share in profits and losses of the business and have unlimited liability for debts. (General partnership)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Easy and inexpensive form of organization.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Partnership dissolves if one partner sells out or dies.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Amount of equity raised is limited to the combined personal wealth of the partners.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Income is taxed as personal income to partners.</a:t>
            </a:r>
          </a:p>
        </p:txBody>
      </p:sp>
    </p:spTree>
    <p:extLst>
      <p:ext uri="{BB962C8B-B14F-4D97-AF65-F5344CB8AC3E}">
        <p14:creationId xmlns:p14="http://schemas.microsoft.com/office/powerpoint/2010/main" val="300603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975D-8CC6-6DAE-B168-863B679F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798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Corporation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08140-8B50-7F31-A38A-7DC296EC458C}"/>
              </a:ext>
            </a:extLst>
          </p:cNvPr>
          <p:cNvSpPr txBox="1"/>
          <p:nvPr/>
        </p:nvSpPr>
        <p:spPr>
          <a:xfrm>
            <a:off x="925551" y="2152185"/>
            <a:ext cx="102814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A business created as a distinct legal entity composed of one of more individuals or entities.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Most complex and expensive form of organization.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Shareholders and management are usually separated.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Ownership can be readily transferred.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Both equity and debt finance are easier to raise.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Life of a company is not limited.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Owners (shareholders) have limited liability.</a:t>
            </a:r>
          </a:p>
        </p:txBody>
      </p:sp>
    </p:spTree>
    <p:extLst>
      <p:ext uri="{BB962C8B-B14F-4D97-AF65-F5344CB8AC3E}">
        <p14:creationId xmlns:p14="http://schemas.microsoft.com/office/powerpoint/2010/main" val="212552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DB57-70EF-4634-A656-DC6396472CD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Hypothetical Organization Chart</a:t>
            </a:r>
          </a:p>
        </p:txBody>
      </p:sp>
      <p:pic>
        <p:nvPicPr>
          <p:cNvPr id="7" name="Picture 6" descr="A sample simplified organizational chart.">
            <a:extLst>
              <a:ext uri="{FF2B5EF4-FFF2-40B4-BE49-F238E27FC236}">
                <a16:creationId xmlns:a16="http://schemas.microsoft.com/office/drawing/2014/main" id="{53D523C3-AE95-4CF5-9517-848BD2E6D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53" y="1664569"/>
            <a:ext cx="7559695" cy="40846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FEDC1-2B4D-43BE-AF59-E6249DEBD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200" dirty="0">
                <a:hlinkClick r:id="" action="ppaction://noaction"/>
              </a:rPr>
              <a:t>Access the text alternative for slide images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C2BA-013D-4D18-89CB-7F8D7660C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7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3CA3-2C2E-4D99-A052-3189E5D9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20" y="233547"/>
            <a:ext cx="10069551" cy="82111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A Comparison of Corporations and Partnerships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EA81CC-1E74-4C03-9B4D-A467F5784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23664"/>
              </p:ext>
            </p:extLst>
          </p:nvPr>
        </p:nvGraphicFramePr>
        <p:xfrm>
          <a:off x="1092820" y="1406796"/>
          <a:ext cx="9891131" cy="49495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2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521">
                <a:tc>
                  <a:txBody>
                    <a:bodyPr/>
                    <a:lstStyle/>
                    <a:p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Corporation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Partnership</a:t>
                      </a:r>
                      <a:endParaRPr lang="en-US" alt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66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Shares can be easily exchanged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 to substantial restrictions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586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Voting rights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Usually, each share gets one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partner is in charge; limited partners may have some voting rights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66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Partners pay personal taxes on partnership profits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380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Reinvestment and dividend payout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 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net cash flow is distributed to partners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380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partners may have unlimited liability; limited partners enjoy limited 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521">
                <a:tc>
                  <a:txBody>
                    <a:bodyPr/>
                    <a:lstStyle/>
                    <a:p>
                      <a:r>
                        <a:rPr lang="en-US" alt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Continuity</a:t>
                      </a:r>
                      <a:endParaRPr lang="en-US" altLang="en-US" sz="18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Perpetual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life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BDCBC-BFDF-4C68-8F34-305BA696B9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14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id="{6F1C5CE8-447B-41B9-8DD6-77B759DE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507"/>
            <a:ext cx="10515600" cy="4738456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What is the correct goal?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Survival.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Avoid bankruptcy.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Beat the competition. Bigger market share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Maximize profit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Minimize costs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Maximize sale or market share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Maintain steady earning growth.</a:t>
            </a:r>
          </a:p>
          <a:p>
            <a:pPr lvl="1"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Each of these goals presents problems.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These goals are either associated with increasing profitability or reducing risk.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They are not consistent with the long-term interests of shareholders.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It is necessary to find a goal that can encompass both profitability and risk.</a:t>
            </a:r>
          </a:p>
          <a:p>
            <a:pPr lvl="1"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C7C58E8E-E6BF-44DD-B551-3B43D43BE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3516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altLang="en-US" sz="3200" dirty="0"/>
              <a:t>The Goal of Financial Management (Firm objective)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0F78AA-26AB-44E0-AAED-BC411DD3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D1C9-04E9-6558-19BC-015F4062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Firm’s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8BB9F-3BB7-2886-805A-82C995A5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985"/>
            <a:ext cx="10515600" cy="4348976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80000"/>
              </a:lnSpc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goal of financial management is to maximize shareholders’ wealth.</a:t>
            </a:r>
          </a:p>
          <a:p>
            <a:pPr lvl="1">
              <a:lnSpc>
                <a:spcPct val="80000"/>
              </a:lnSpc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Shareholders’ wealth can be measured as the current value per share of existing shares.</a:t>
            </a:r>
          </a:p>
          <a:p>
            <a:pPr lvl="1">
              <a:lnSpc>
                <a:spcPct val="80000"/>
              </a:lnSpc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This goal overcomes the problems encountered with the goals outlined earlier.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AU" altLang="en-US" sz="2000" dirty="0"/>
              <a:t>What is the appropriate goal for financial management when the firm has no traded shares?</a:t>
            </a:r>
            <a:endParaRPr lang="en-US" altLang="en-US" sz="2000" dirty="0"/>
          </a:p>
          <a:p>
            <a:endParaRPr lang="en-US" altLang="en-US" sz="2000" dirty="0"/>
          </a:p>
          <a:p>
            <a:pPr>
              <a:buFontTx/>
              <a:buNone/>
            </a:pPr>
            <a:r>
              <a:rPr lang="en-AU" altLang="en-US" sz="2000" b="1" dirty="0"/>
              <a:t>	‘Maximise the market value of the owner’s equity’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AU" altLang="en-US" sz="2000" dirty="0"/>
              <a:t>Good financial decisions increase the market value of the owner’s equity, while poor financial decisions decrease it</a:t>
            </a:r>
            <a:r>
              <a:rPr lang="en-US" altLang="en-US" sz="2000" dirty="0"/>
              <a:t>.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74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9F9F-3E0A-4DBA-803B-92853065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05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 dirty="0"/>
              <a:t>The importance of Cash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15AA2-61D9-40A8-804E-71B56514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value, the firm must generate more cash than it uses.</a:t>
            </a:r>
          </a:p>
          <a:p>
            <a:r>
              <a:rPr lang="en-US" dirty="0"/>
              <a:t>The importance of </a:t>
            </a:r>
            <a:r>
              <a:rPr lang="en-US" b="1" u="sng" dirty="0"/>
              <a:t>size</a:t>
            </a:r>
            <a:r>
              <a:rPr lang="en-US" dirty="0"/>
              <a:t>, </a:t>
            </a:r>
            <a:r>
              <a:rPr lang="en-US" b="1" u="sng" dirty="0"/>
              <a:t>timing</a:t>
            </a:r>
            <a:r>
              <a:rPr lang="en-US" dirty="0"/>
              <a:t> and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riskiness</a:t>
            </a:r>
            <a:r>
              <a:rPr lang="en-US" dirty="0"/>
              <a:t> of cash flow.</a:t>
            </a:r>
          </a:p>
          <a:p>
            <a:r>
              <a:rPr lang="en-US" dirty="0"/>
              <a:t>Cash flow is different from net income.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F13EE-B233-46DC-8895-B532F34A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03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flowchart of cash flows between a firm and financial markets.">
            <a:extLst>
              <a:ext uri="{FF2B5EF4-FFF2-40B4-BE49-F238E27FC236}">
                <a16:creationId xmlns:a16="http://schemas.microsoft.com/office/drawing/2014/main" id="{6A621C5C-1C25-44EC-B591-B6ABBE43C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82" y="1014761"/>
            <a:ext cx="8713218" cy="53415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7569-8356-4FF8-B64A-E2342E12F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33A3F-E3A6-56CE-DC6C-0826AB3603E3}"/>
              </a:ext>
            </a:extLst>
          </p:cNvPr>
          <p:cNvSpPr txBox="1"/>
          <p:nvPr/>
        </p:nvSpPr>
        <p:spPr>
          <a:xfrm>
            <a:off x="1092820" y="356839"/>
            <a:ext cx="9757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Cash flow between the Firm and Financial Markets</a:t>
            </a:r>
          </a:p>
        </p:txBody>
      </p:sp>
    </p:spTree>
    <p:extLst>
      <p:ext uri="{BB962C8B-B14F-4D97-AF65-F5344CB8AC3E}">
        <p14:creationId xmlns:p14="http://schemas.microsoft.com/office/powerpoint/2010/main" val="2190969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766F-FA72-9233-4FE8-84674293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71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Do manager act in shareholders interest?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9034-D516-5059-37F6-F3E6B8D0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The answer will depend on:</a:t>
            </a:r>
          </a:p>
          <a:p>
            <a:endParaRPr lang="en-US" altLang="en-US" dirty="0"/>
          </a:p>
          <a:p>
            <a:r>
              <a:rPr lang="en-US" altLang="en-US" dirty="0"/>
              <a:t>How closely management goals are aligned with shareholder goals.</a:t>
            </a:r>
          </a:p>
          <a:p>
            <a:endParaRPr lang="en-US" altLang="en-US" dirty="0"/>
          </a:p>
          <a:p>
            <a:r>
              <a:rPr lang="en-US" altLang="en-US" dirty="0"/>
              <a:t>The ease with which management can be replaced if it does not act in shareholders’ best interests.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90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0DA77C02-6832-4899-A80D-1AEADCE5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Managerial goals may be different from shareholder goals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Expensive perquisites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Survival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Independence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Increased growth and size are not necessarily equivalent to increased shareholder wealth</a:t>
            </a: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0125D20D-182D-4440-A92B-5BC394AA8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3516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dirty="0"/>
              <a:t>Managerial Goals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2A499-C627-4465-AEC5-B94250A0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>
            <a:extLst>
              <a:ext uri="{FF2B5EF4-FFF2-40B4-BE49-F238E27FC236}">
                <a16:creationId xmlns:a16="http://schemas.microsoft.com/office/drawing/2014/main" id="{E5FC8F5B-30B8-4563-9C14-1A3A1EE64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22" tIns="45711" rIns="91422" bIns="45711" rtlCol="0">
            <a:normAutofit/>
          </a:bodyPr>
          <a:lstStyle/>
          <a:p>
            <a:pPr defTabSz="809625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Agency relationship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Principal hires an agent to represent his/her interest.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Stockholders (principals) hire managers (agents) to run the company.</a:t>
            </a:r>
          </a:p>
          <a:p>
            <a:pPr defTabSz="809625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Agency problem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Conflict of interest between principal and agent.</a:t>
            </a:r>
          </a:p>
          <a:p>
            <a:pPr marL="228600" lvl="1" defTabSz="809625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Agency costs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direct and indirect costs arising from this conflict of interest.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9F2779BC-41FA-4AC6-B49F-7CC9041F1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59668"/>
          </a:xfrm>
          <a:ln>
            <a:solidFill>
              <a:schemeClr val="tx1"/>
            </a:solidFill>
          </a:ln>
        </p:spPr>
        <p:txBody>
          <a:bodyPr vert="horz" lIns="91422" tIns="45711" rIns="91422" bIns="45711" rtlCol="0" anchor="ctr">
            <a:normAutofit/>
          </a:bodyPr>
          <a:lstStyle/>
          <a:p>
            <a:pPr defTabSz="809625">
              <a:defRPr/>
            </a:pPr>
            <a:r>
              <a:rPr lang="en-US" altLang="en-US" sz="3200" dirty="0"/>
              <a:t>The Agency Relationship, Problem and costs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02D41-560D-4376-8012-759DA4FF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5" name="Rectangle 3">
            <a:extLst>
              <a:ext uri="{FF2B5EF4-FFF2-40B4-BE49-F238E27FC236}">
                <a16:creationId xmlns:a16="http://schemas.microsoft.com/office/drawing/2014/main" id="{8E480397-5950-4A3D-9ED3-A694C380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22" tIns="45711" rIns="91422" bIns="45711" rtlCol="0">
            <a:normAutofit/>
          </a:bodyPr>
          <a:lstStyle/>
          <a:p>
            <a:pPr marL="303213" indent="-303213" defTabSz="809625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Managerial compensation schemes</a:t>
            </a:r>
          </a:p>
          <a:p>
            <a:pPr marL="760413" lvl="1" indent="-303213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Incentives can be used to align management and stockholder interests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incentives need to be structured carefully to make sure that they achieve their intended goal</a:t>
            </a:r>
          </a:p>
          <a:p>
            <a:pPr marL="303213" indent="-303213" defTabSz="809625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Corporate control</a:t>
            </a:r>
          </a:p>
          <a:p>
            <a:pPr marL="658813" lvl="1" indent="-254000" defTabSz="809625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threat of a takeover may result in better management</a:t>
            </a:r>
          </a:p>
          <a:p>
            <a:pPr marL="303213" indent="-303213" defTabSz="809625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Other stakeholders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546C88B5-D717-4341-A22F-406F89113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18391"/>
          </a:xfrm>
          <a:ln>
            <a:solidFill>
              <a:schemeClr val="tx1"/>
            </a:solidFill>
          </a:ln>
        </p:spPr>
        <p:txBody>
          <a:bodyPr vert="horz" lIns="91422" tIns="45711" rIns="91422" bIns="45711" rtlCol="0" anchor="ctr">
            <a:normAutofit/>
          </a:bodyPr>
          <a:lstStyle/>
          <a:p>
            <a:pPr defTabSz="809625">
              <a:defRPr/>
            </a:pPr>
            <a:r>
              <a:rPr lang="en-US" altLang="en-US" sz="3200" dirty="0"/>
              <a:t>Managing Managers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82AFBC-B8A5-48FA-949F-EA71D91B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>
            <a:extLst>
              <a:ext uri="{FF2B5EF4-FFF2-40B4-BE49-F238E27FC236}">
                <a16:creationId xmlns:a16="http://schemas.microsoft.com/office/drawing/2014/main" id="{5B8EB81C-C87E-4115-B7DB-34C53502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Securities Act of 1933 and the Securities Exchange Act of 1934 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Issuance of Securities (1933)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Creation of SEC and reporting requirements (1934)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Sarbanes-Oxley (“</a:t>
            </a:r>
            <a:r>
              <a:rPr lang="en-US" altLang="en-US" sz="24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Sarbox</a:t>
            </a:r>
            <a:r>
              <a:rPr lang="en-US" alt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”) (2002)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Increased reporting requirements and responsibility of corporate directors</a:t>
            </a: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4C2C33AA-EFF0-49BC-9256-09F958A67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7644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altLang="en-US" sz="3200" dirty="0"/>
              <a:t>Regulation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196F6-5FEE-4878-AACF-672F2E76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1A7F0-F4D4-4411-AAC8-55D9C9EEBE5E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1095</Words>
  <Application>Microsoft Office PowerPoint</Application>
  <PresentationFormat>Widescreen</PresentationFormat>
  <Paragraphs>200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Introduction  Chapter 1</vt:lpstr>
      <vt:lpstr> What Is Corporate Finance?  The basic types of financial management decisions and the role of the financial manager. </vt:lpstr>
      <vt:lpstr>Balance Sheet Model</vt:lpstr>
      <vt:lpstr>The Capital Budgeting Decision  (Investment Decision)</vt:lpstr>
      <vt:lpstr>The Capital Structure Decision (Financing Decision)</vt:lpstr>
      <vt:lpstr>Short-Term Asset Management (Net Working Capital)</vt:lpstr>
      <vt:lpstr>The Financial Manager </vt:lpstr>
      <vt:lpstr> The various forms of business organization </vt:lpstr>
      <vt:lpstr>Sole Proprietorship</vt:lpstr>
      <vt:lpstr>Partnership</vt:lpstr>
      <vt:lpstr>Corporation</vt:lpstr>
      <vt:lpstr>Hypothetical Organization Chart</vt:lpstr>
      <vt:lpstr>A Comparison of Corporations and Partnerships</vt:lpstr>
      <vt:lpstr>The Goal of Financial Management (Firm objective)</vt:lpstr>
      <vt:lpstr>Firm’s Objective</vt:lpstr>
      <vt:lpstr>The importance of Cash Flow</vt:lpstr>
      <vt:lpstr>PowerPoint Presentation</vt:lpstr>
      <vt:lpstr>Do manager act in shareholders interest?</vt:lpstr>
      <vt:lpstr>Managerial Goals</vt:lpstr>
      <vt:lpstr>The Agency Relationship, Problem and costs</vt:lpstr>
      <vt:lpstr>Managing Managers</vt:lpstr>
      <vt:lpstr>Regulation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– Introduction to Corporate Finance Chapter 1 and Review Chapter 2  Outline</dc:title>
  <dc:creator>Amal Ashmawi</dc:creator>
  <cp:lastModifiedBy>El-Ashmawi, Amal</cp:lastModifiedBy>
  <cp:revision>14</cp:revision>
  <dcterms:created xsi:type="dcterms:W3CDTF">2020-05-22T20:22:43Z</dcterms:created>
  <dcterms:modified xsi:type="dcterms:W3CDTF">2024-08-22T13:06:52Z</dcterms:modified>
</cp:coreProperties>
</file>