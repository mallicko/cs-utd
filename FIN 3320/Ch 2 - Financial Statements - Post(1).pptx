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1387" r:id="rId2"/>
    <p:sldId id="1388" r:id="rId3"/>
    <p:sldId id="1412" r:id="rId4"/>
    <p:sldId id="1411" r:id="rId5"/>
    <p:sldId id="1391" r:id="rId6"/>
    <p:sldId id="1392" r:id="rId7"/>
    <p:sldId id="1413" r:id="rId8"/>
    <p:sldId id="1393" r:id="rId9"/>
    <p:sldId id="1414" r:id="rId10"/>
    <p:sldId id="1395" r:id="rId11"/>
    <p:sldId id="1394" r:id="rId12"/>
    <p:sldId id="1397" r:id="rId13"/>
    <p:sldId id="1398" r:id="rId14"/>
    <p:sldId id="1399" r:id="rId15"/>
    <p:sldId id="1415" r:id="rId16"/>
    <p:sldId id="1400" r:id="rId17"/>
    <p:sldId id="1402" r:id="rId18"/>
    <p:sldId id="1403" r:id="rId19"/>
    <p:sldId id="1404" r:id="rId20"/>
    <p:sldId id="1417" r:id="rId21"/>
    <p:sldId id="1419" r:id="rId22"/>
    <p:sldId id="1420" r:id="rId23"/>
    <p:sldId id="1405" r:id="rId24"/>
    <p:sldId id="1418" r:id="rId25"/>
    <p:sldId id="1406" r:id="rId26"/>
    <p:sldId id="1422" r:id="rId27"/>
    <p:sldId id="1407" r:id="rId28"/>
  </p:sldIdLst>
  <p:sldSz cx="12192000" cy="6858000"/>
  <p:notesSz cx="6950075"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4660"/>
  </p:normalViewPr>
  <p:slideViewPr>
    <p:cSldViewPr snapToGrid="0">
      <p:cViewPr varScale="1">
        <p:scale>
          <a:sx n="82" d="100"/>
          <a:sy n="82" d="100"/>
        </p:scale>
        <p:origin x="89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3408"/>
          </a:xfrm>
          <a:prstGeom prst="rect">
            <a:avLst/>
          </a:prstGeom>
        </p:spPr>
        <p:txBody>
          <a:bodyPr vert="horz" lIns="92492" tIns="46246" rIns="92492" bIns="46246" rtlCol="0"/>
          <a:lstStyle>
            <a:lvl1pPr algn="l">
              <a:defRPr sz="1200"/>
            </a:lvl1pPr>
          </a:lstStyle>
          <a:p>
            <a:endParaRPr lang="en-US"/>
          </a:p>
        </p:txBody>
      </p:sp>
      <p:sp>
        <p:nvSpPr>
          <p:cNvPr id="3" name="Date Placeholder 2"/>
          <p:cNvSpPr>
            <a:spLocks noGrp="1"/>
          </p:cNvSpPr>
          <p:nvPr>
            <p:ph type="dt" idx="1"/>
          </p:nvPr>
        </p:nvSpPr>
        <p:spPr>
          <a:xfrm>
            <a:off x="3936768" y="0"/>
            <a:ext cx="3011699" cy="463408"/>
          </a:xfrm>
          <a:prstGeom prst="rect">
            <a:avLst/>
          </a:prstGeom>
        </p:spPr>
        <p:txBody>
          <a:bodyPr vert="horz" lIns="92492" tIns="46246" rIns="92492" bIns="46246" rtlCol="0"/>
          <a:lstStyle>
            <a:lvl1pPr algn="r">
              <a:defRPr sz="1200"/>
            </a:lvl1pPr>
          </a:lstStyle>
          <a:p>
            <a:fld id="{E7E87406-6724-48CD-9605-7B3B328C1EF4}" type="datetimeFigureOut">
              <a:rPr lang="en-US" smtClean="0"/>
              <a:t>8/29/2024</a:t>
            </a:fld>
            <a:endParaRPr lang="en-US"/>
          </a:p>
        </p:txBody>
      </p:sp>
      <p:sp>
        <p:nvSpPr>
          <p:cNvPr id="4" name="Slide Image Placeholder 3"/>
          <p:cNvSpPr>
            <a:spLocks noGrp="1" noRot="1" noChangeAspect="1"/>
          </p:cNvSpPr>
          <p:nvPr>
            <p:ph type="sldImg" idx="2"/>
          </p:nvPr>
        </p:nvSpPr>
        <p:spPr>
          <a:xfrm>
            <a:off x="703263" y="1154113"/>
            <a:ext cx="5543550" cy="3117850"/>
          </a:xfrm>
          <a:prstGeom prst="rect">
            <a:avLst/>
          </a:prstGeom>
          <a:noFill/>
          <a:ln w="12700">
            <a:solidFill>
              <a:prstClr val="black"/>
            </a:solidFill>
          </a:ln>
        </p:spPr>
        <p:txBody>
          <a:bodyPr vert="horz" lIns="92492" tIns="46246" rIns="92492" bIns="46246" rtlCol="0" anchor="ctr"/>
          <a:lstStyle/>
          <a:p>
            <a:endParaRPr lang="en-US"/>
          </a:p>
        </p:txBody>
      </p:sp>
      <p:sp>
        <p:nvSpPr>
          <p:cNvPr id="5" name="Notes Placeholder 4"/>
          <p:cNvSpPr>
            <a:spLocks noGrp="1"/>
          </p:cNvSpPr>
          <p:nvPr>
            <p:ph type="body" sz="quarter" idx="3"/>
          </p:nvPr>
        </p:nvSpPr>
        <p:spPr>
          <a:xfrm>
            <a:off x="695008" y="4444861"/>
            <a:ext cx="5560060" cy="3636705"/>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11699" cy="463407"/>
          </a:xfrm>
          <a:prstGeom prst="rect">
            <a:avLst/>
          </a:prstGeom>
        </p:spPr>
        <p:txBody>
          <a:bodyPr vert="horz" lIns="92492" tIns="46246" rIns="92492" bIns="46246" rtlCol="0" anchor="b"/>
          <a:lstStyle>
            <a:lvl1pPr algn="l">
              <a:defRPr sz="1200"/>
            </a:lvl1pPr>
          </a:lstStyle>
          <a:p>
            <a:endParaRPr lang="en-US"/>
          </a:p>
        </p:txBody>
      </p:sp>
      <p:sp>
        <p:nvSpPr>
          <p:cNvPr id="7" name="Slide Number Placeholder 6"/>
          <p:cNvSpPr>
            <a:spLocks noGrp="1"/>
          </p:cNvSpPr>
          <p:nvPr>
            <p:ph type="sldNum" sz="quarter" idx="5"/>
          </p:nvPr>
        </p:nvSpPr>
        <p:spPr>
          <a:xfrm>
            <a:off x="3936768" y="8772669"/>
            <a:ext cx="3011699" cy="463407"/>
          </a:xfrm>
          <a:prstGeom prst="rect">
            <a:avLst/>
          </a:prstGeom>
        </p:spPr>
        <p:txBody>
          <a:bodyPr vert="horz" lIns="92492" tIns="46246" rIns="92492" bIns="46246" rtlCol="0" anchor="b"/>
          <a:lstStyle>
            <a:lvl1pPr algn="r">
              <a:defRPr sz="1200"/>
            </a:lvl1pPr>
          </a:lstStyle>
          <a:p>
            <a:fld id="{E18CDD64-B774-492C-95EC-C796C3BB5E3C}" type="slidenum">
              <a:rPr lang="en-US" smtClean="0"/>
              <a:t>‹#›</a:t>
            </a:fld>
            <a:endParaRPr lang="en-US"/>
          </a:p>
        </p:txBody>
      </p:sp>
    </p:spTree>
    <p:extLst>
      <p:ext uri="{BB962C8B-B14F-4D97-AF65-F5344CB8AC3E}">
        <p14:creationId xmlns:p14="http://schemas.microsoft.com/office/powerpoint/2010/main" val="2394279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1</a:t>
            </a:fld>
            <a:endParaRPr lang="en-US"/>
          </a:p>
        </p:txBody>
      </p:sp>
    </p:spTree>
    <p:extLst>
      <p:ext uri="{BB962C8B-B14F-4D97-AF65-F5344CB8AC3E}">
        <p14:creationId xmlns:p14="http://schemas.microsoft.com/office/powerpoint/2010/main" val="38492118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alt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2</a:t>
            </a:fld>
            <a:endParaRPr lang="en-US"/>
          </a:p>
        </p:txBody>
      </p:sp>
    </p:spTree>
    <p:extLst>
      <p:ext uri="{BB962C8B-B14F-4D97-AF65-F5344CB8AC3E}">
        <p14:creationId xmlns:p14="http://schemas.microsoft.com/office/powerpoint/2010/main" val="4229852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5</a:t>
            </a:fld>
            <a:endParaRPr lang="en-US"/>
          </a:p>
        </p:txBody>
      </p:sp>
    </p:spTree>
    <p:extLst>
      <p:ext uri="{BB962C8B-B14F-4D97-AF65-F5344CB8AC3E}">
        <p14:creationId xmlns:p14="http://schemas.microsoft.com/office/powerpoint/2010/main" val="427953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8</a:t>
            </a:fld>
            <a:endParaRPr lang="en-US"/>
          </a:p>
        </p:txBody>
      </p:sp>
    </p:spTree>
    <p:extLst>
      <p:ext uri="{BB962C8B-B14F-4D97-AF65-F5344CB8AC3E}">
        <p14:creationId xmlns:p14="http://schemas.microsoft.com/office/powerpoint/2010/main" val="3852851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11</a:t>
            </a:fld>
            <a:endParaRPr lang="en-US"/>
          </a:p>
        </p:txBody>
      </p:sp>
    </p:spTree>
    <p:extLst>
      <p:ext uri="{BB962C8B-B14F-4D97-AF65-F5344CB8AC3E}">
        <p14:creationId xmlns:p14="http://schemas.microsoft.com/office/powerpoint/2010/main" val="46094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12</a:t>
            </a:fld>
            <a:endParaRPr lang="en-US"/>
          </a:p>
        </p:txBody>
      </p:sp>
    </p:spTree>
    <p:extLst>
      <p:ext uri="{BB962C8B-B14F-4D97-AF65-F5344CB8AC3E}">
        <p14:creationId xmlns:p14="http://schemas.microsoft.com/office/powerpoint/2010/main" val="691920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13</a:t>
            </a:fld>
            <a:endParaRPr lang="en-US"/>
          </a:p>
        </p:txBody>
      </p:sp>
    </p:spTree>
    <p:extLst>
      <p:ext uri="{BB962C8B-B14F-4D97-AF65-F5344CB8AC3E}">
        <p14:creationId xmlns:p14="http://schemas.microsoft.com/office/powerpoint/2010/main" val="3534863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fontAlgn="base">
              <a:spcBef>
                <a:spcPct val="30000"/>
              </a:spcBef>
              <a:spcAft>
                <a:spcPct val="0"/>
              </a:spcAft>
              <a:defRPr/>
            </a:pPr>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14</a:t>
            </a:fld>
            <a:endParaRPr lang="en-US"/>
          </a:p>
        </p:txBody>
      </p:sp>
    </p:spTree>
    <p:extLst>
      <p:ext uri="{BB962C8B-B14F-4D97-AF65-F5344CB8AC3E}">
        <p14:creationId xmlns:p14="http://schemas.microsoft.com/office/powerpoint/2010/main" val="918362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endParaRPr lang="en-US" alt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16</a:t>
            </a:fld>
            <a:endParaRPr lang="en-US"/>
          </a:p>
        </p:txBody>
      </p:sp>
    </p:spTree>
    <p:extLst>
      <p:ext uri="{BB962C8B-B14F-4D97-AF65-F5344CB8AC3E}">
        <p14:creationId xmlns:p14="http://schemas.microsoft.com/office/powerpoint/2010/main" val="33453957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4916">
              <a:defRPr/>
            </a:pPr>
            <a:endParaRPr lang="en-US" alt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17</a:t>
            </a:fld>
            <a:endParaRPr lang="en-US"/>
          </a:p>
        </p:txBody>
      </p:sp>
    </p:spTree>
    <p:extLst>
      <p:ext uri="{BB962C8B-B14F-4D97-AF65-F5344CB8AC3E}">
        <p14:creationId xmlns:p14="http://schemas.microsoft.com/office/powerpoint/2010/main" val="1263832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19</a:t>
            </a:fld>
            <a:endParaRPr lang="en-US"/>
          </a:p>
        </p:txBody>
      </p:sp>
    </p:spTree>
    <p:extLst>
      <p:ext uri="{BB962C8B-B14F-4D97-AF65-F5344CB8AC3E}">
        <p14:creationId xmlns:p14="http://schemas.microsoft.com/office/powerpoint/2010/main" val="4613483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21</a:t>
            </a:fld>
            <a:endParaRPr lang="en-US"/>
          </a:p>
        </p:txBody>
      </p:sp>
    </p:spTree>
    <p:extLst>
      <p:ext uri="{BB962C8B-B14F-4D97-AF65-F5344CB8AC3E}">
        <p14:creationId xmlns:p14="http://schemas.microsoft.com/office/powerpoint/2010/main" val="2249263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22</a:t>
            </a:fld>
            <a:endParaRPr lang="en-US"/>
          </a:p>
        </p:txBody>
      </p:sp>
    </p:spTree>
    <p:extLst>
      <p:ext uri="{BB962C8B-B14F-4D97-AF65-F5344CB8AC3E}">
        <p14:creationId xmlns:p14="http://schemas.microsoft.com/office/powerpoint/2010/main" val="3940481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23</a:t>
            </a:fld>
            <a:endParaRPr lang="en-US"/>
          </a:p>
        </p:txBody>
      </p:sp>
    </p:spTree>
    <p:extLst>
      <p:ext uri="{BB962C8B-B14F-4D97-AF65-F5344CB8AC3E}">
        <p14:creationId xmlns:p14="http://schemas.microsoft.com/office/powerpoint/2010/main" val="11741163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25</a:t>
            </a:fld>
            <a:endParaRPr lang="en-US"/>
          </a:p>
        </p:txBody>
      </p:sp>
    </p:spTree>
    <p:extLst>
      <p:ext uri="{BB962C8B-B14F-4D97-AF65-F5344CB8AC3E}">
        <p14:creationId xmlns:p14="http://schemas.microsoft.com/office/powerpoint/2010/main" val="12620603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a:p>
        </p:txBody>
      </p:sp>
      <p:sp>
        <p:nvSpPr>
          <p:cNvPr id="4" name="Slide Number Placeholder 3"/>
          <p:cNvSpPr>
            <a:spLocks noGrp="1"/>
          </p:cNvSpPr>
          <p:nvPr>
            <p:ph type="sldNum" sz="quarter" idx="5"/>
          </p:nvPr>
        </p:nvSpPr>
        <p:spPr/>
        <p:txBody>
          <a:bodyPr/>
          <a:lstStyle/>
          <a:p>
            <a:fld id="{969E8D09-9492-4554-9C8F-456CB81F32A8}" type="slidenum">
              <a:rPr lang="en-US" smtClean="0"/>
              <a:t>27</a:t>
            </a:fld>
            <a:endParaRPr lang="en-US"/>
          </a:p>
        </p:txBody>
      </p:sp>
    </p:spTree>
    <p:extLst>
      <p:ext uri="{BB962C8B-B14F-4D97-AF65-F5344CB8AC3E}">
        <p14:creationId xmlns:p14="http://schemas.microsoft.com/office/powerpoint/2010/main" val="2754879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63610-6A13-7F51-65E3-6ECEFB0A5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E00FCB-8524-8C0A-EE6E-E126802344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922826D-4336-AD12-8867-3C106C6A522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66EC0046-1C3C-1819-3F67-0AAC5BEE68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B5929F-ED27-ECB3-3BD4-B65585CA5DAD}"/>
              </a:ext>
            </a:extLst>
          </p:cNvPr>
          <p:cNvSpPr>
            <a:spLocks noGrp="1"/>
          </p:cNvSpPr>
          <p:nvPr>
            <p:ph type="sldNum" sz="quarter" idx="12"/>
          </p:nvPr>
        </p:nvSpPr>
        <p:spPr/>
        <p:txBody>
          <a:bodyPr/>
          <a:lstStyle/>
          <a:p>
            <a:fld id="{DFF529CC-2DB9-4191-A84E-6CF567C0AABA}" type="slidenum">
              <a:rPr lang="en-US" smtClean="0"/>
              <a:t>‹#›</a:t>
            </a:fld>
            <a:endParaRPr lang="en-US"/>
          </a:p>
        </p:txBody>
      </p:sp>
    </p:spTree>
    <p:extLst>
      <p:ext uri="{BB962C8B-B14F-4D97-AF65-F5344CB8AC3E}">
        <p14:creationId xmlns:p14="http://schemas.microsoft.com/office/powerpoint/2010/main" val="380408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797F0-F4B0-588E-57A8-3FD426381C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AC4500-5B0A-51A6-2F57-0691123634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8CACCC-405F-98A6-C944-F5456618D43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7F4B299-4A43-077C-5DC7-97CD10BBB2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1619B-1694-7869-DC93-BFB199973284}"/>
              </a:ext>
            </a:extLst>
          </p:cNvPr>
          <p:cNvSpPr>
            <a:spLocks noGrp="1"/>
          </p:cNvSpPr>
          <p:nvPr>
            <p:ph type="sldNum" sz="quarter" idx="12"/>
          </p:nvPr>
        </p:nvSpPr>
        <p:spPr/>
        <p:txBody>
          <a:bodyPr/>
          <a:lstStyle/>
          <a:p>
            <a:fld id="{DFF529CC-2DB9-4191-A84E-6CF567C0AABA}" type="slidenum">
              <a:rPr lang="en-US" smtClean="0"/>
              <a:t>‹#›</a:t>
            </a:fld>
            <a:endParaRPr lang="en-US"/>
          </a:p>
        </p:txBody>
      </p:sp>
    </p:spTree>
    <p:extLst>
      <p:ext uri="{BB962C8B-B14F-4D97-AF65-F5344CB8AC3E}">
        <p14:creationId xmlns:p14="http://schemas.microsoft.com/office/powerpoint/2010/main" val="20710855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C599-D323-AED1-7E49-579BA84B46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DF363A-8D0E-34AA-EC77-438608AAC9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3533A0-DBC6-F509-17B3-595A6B3AF49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47286AA-8280-917B-A0DA-2E3FA1F94A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EF7DAD-6C42-DDF2-49D7-6FFC418587AA}"/>
              </a:ext>
            </a:extLst>
          </p:cNvPr>
          <p:cNvSpPr>
            <a:spLocks noGrp="1"/>
          </p:cNvSpPr>
          <p:nvPr>
            <p:ph type="sldNum" sz="quarter" idx="12"/>
          </p:nvPr>
        </p:nvSpPr>
        <p:spPr/>
        <p:txBody>
          <a:bodyPr/>
          <a:lstStyle/>
          <a:p>
            <a:fld id="{DFF529CC-2DB9-4191-A84E-6CF567C0AABA}" type="slidenum">
              <a:rPr lang="en-US" smtClean="0"/>
              <a:t>‹#›</a:t>
            </a:fld>
            <a:endParaRPr lang="en-US"/>
          </a:p>
        </p:txBody>
      </p:sp>
    </p:spTree>
    <p:extLst>
      <p:ext uri="{BB962C8B-B14F-4D97-AF65-F5344CB8AC3E}">
        <p14:creationId xmlns:p14="http://schemas.microsoft.com/office/powerpoint/2010/main" val="2108171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F8227-F60E-8272-FD8A-CACD7D2B64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325150-64D8-D929-9D77-A6A189538C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F06B9A1-F90E-7A33-AD3C-0F601E5E64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D02C7E4-CB44-0F07-19AF-310A3AA9CCA3}"/>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777E4C0-312E-252E-EA98-ADBB49E42E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455D2D-14AD-43FC-75F9-7058A212A3EC}"/>
              </a:ext>
            </a:extLst>
          </p:cNvPr>
          <p:cNvSpPr>
            <a:spLocks noGrp="1"/>
          </p:cNvSpPr>
          <p:nvPr>
            <p:ph type="sldNum" sz="quarter" idx="12"/>
          </p:nvPr>
        </p:nvSpPr>
        <p:spPr/>
        <p:txBody>
          <a:bodyPr/>
          <a:lstStyle/>
          <a:p>
            <a:fld id="{DFF529CC-2DB9-4191-A84E-6CF567C0AABA}" type="slidenum">
              <a:rPr lang="en-US" smtClean="0"/>
              <a:t>‹#›</a:t>
            </a:fld>
            <a:endParaRPr lang="en-US"/>
          </a:p>
        </p:txBody>
      </p:sp>
    </p:spTree>
    <p:extLst>
      <p:ext uri="{BB962C8B-B14F-4D97-AF65-F5344CB8AC3E}">
        <p14:creationId xmlns:p14="http://schemas.microsoft.com/office/powerpoint/2010/main" val="3809045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21471-7F10-B8B5-474E-68B0D9546D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D92C23-2B1F-818F-702D-70A6E2D82D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887FFF-FCC0-0DEA-BDF6-808F35EA89F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A9AB75-89F4-7B4C-84D1-C06439C742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B58848-5D45-C112-9AF3-A3CA5989FF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BA3877-B283-1FA5-CBC6-76541E14D7B9}"/>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F9146828-5A5A-999A-C1AD-9E3AE9573C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1782A46-B6C3-D4B5-FD1C-3F6641A7FCA6}"/>
              </a:ext>
            </a:extLst>
          </p:cNvPr>
          <p:cNvSpPr>
            <a:spLocks noGrp="1"/>
          </p:cNvSpPr>
          <p:nvPr>
            <p:ph type="sldNum" sz="quarter" idx="12"/>
          </p:nvPr>
        </p:nvSpPr>
        <p:spPr/>
        <p:txBody>
          <a:bodyPr/>
          <a:lstStyle/>
          <a:p>
            <a:fld id="{DFF529CC-2DB9-4191-A84E-6CF567C0AABA}" type="slidenum">
              <a:rPr lang="en-US" smtClean="0"/>
              <a:t>‹#›</a:t>
            </a:fld>
            <a:endParaRPr lang="en-US"/>
          </a:p>
        </p:txBody>
      </p:sp>
    </p:spTree>
    <p:extLst>
      <p:ext uri="{BB962C8B-B14F-4D97-AF65-F5344CB8AC3E}">
        <p14:creationId xmlns:p14="http://schemas.microsoft.com/office/powerpoint/2010/main" val="3997149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1B848-3A5E-0AAD-F36E-1F94DAF465F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315333-ECD6-A489-9253-0A0E6AA098BE}"/>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17FC9F9F-5FD6-AE32-F739-1DF10E89DA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16B6B18-6D26-8B54-15F3-5B4D3D2B82F0}"/>
              </a:ext>
            </a:extLst>
          </p:cNvPr>
          <p:cNvSpPr>
            <a:spLocks noGrp="1"/>
          </p:cNvSpPr>
          <p:nvPr>
            <p:ph type="sldNum" sz="quarter" idx="12"/>
          </p:nvPr>
        </p:nvSpPr>
        <p:spPr/>
        <p:txBody>
          <a:bodyPr/>
          <a:lstStyle/>
          <a:p>
            <a:fld id="{DFF529CC-2DB9-4191-A84E-6CF567C0AABA}" type="slidenum">
              <a:rPr lang="en-US" smtClean="0"/>
              <a:t>‹#›</a:t>
            </a:fld>
            <a:endParaRPr lang="en-US"/>
          </a:p>
        </p:txBody>
      </p:sp>
    </p:spTree>
    <p:extLst>
      <p:ext uri="{BB962C8B-B14F-4D97-AF65-F5344CB8AC3E}">
        <p14:creationId xmlns:p14="http://schemas.microsoft.com/office/powerpoint/2010/main" val="445687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384F95-B032-3BD9-77DA-C22ED8208047}"/>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A3239357-E771-9958-3AF1-8DE2CB06E1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26348B-2BA2-B500-7AC5-C840AC48DB14}"/>
              </a:ext>
            </a:extLst>
          </p:cNvPr>
          <p:cNvSpPr>
            <a:spLocks noGrp="1"/>
          </p:cNvSpPr>
          <p:nvPr>
            <p:ph type="sldNum" sz="quarter" idx="12"/>
          </p:nvPr>
        </p:nvSpPr>
        <p:spPr/>
        <p:txBody>
          <a:bodyPr/>
          <a:lstStyle/>
          <a:p>
            <a:fld id="{DFF529CC-2DB9-4191-A84E-6CF567C0AABA}" type="slidenum">
              <a:rPr lang="en-US" smtClean="0"/>
              <a:t>‹#›</a:t>
            </a:fld>
            <a:endParaRPr lang="en-US"/>
          </a:p>
        </p:txBody>
      </p:sp>
    </p:spTree>
    <p:extLst>
      <p:ext uri="{BB962C8B-B14F-4D97-AF65-F5344CB8AC3E}">
        <p14:creationId xmlns:p14="http://schemas.microsoft.com/office/powerpoint/2010/main" val="1238726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F0C67-1566-3380-67F7-D9B050A5E3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FCFAC30-B2B6-7F89-444F-414B11A876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593B8E-D513-BFDE-D0BE-B113B9783E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DDD10A-D446-1371-0EB7-0BD88A815760}"/>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B9F1BDF-8659-0CBE-9D9D-868B09FB86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5CE7A9A-96FD-3CFC-2C25-FFEB18972A89}"/>
              </a:ext>
            </a:extLst>
          </p:cNvPr>
          <p:cNvSpPr>
            <a:spLocks noGrp="1"/>
          </p:cNvSpPr>
          <p:nvPr>
            <p:ph type="sldNum" sz="quarter" idx="12"/>
          </p:nvPr>
        </p:nvSpPr>
        <p:spPr/>
        <p:txBody>
          <a:bodyPr/>
          <a:lstStyle/>
          <a:p>
            <a:fld id="{DFF529CC-2DB9-4191-A84E-6CF567C0AABA}" type="slidenum">
              <a:rPr lang="en-US" smtClean="0"/>
              <a:t>‹#›</a:t>
            </a:fld>
            <a:endParaRPr lang="en-US"/>
          </a:p>
        </p:txBody>
      </p:sp>
    </p:spTree>
    <p:extLst>
      <p:ext uri="{BB962C8B-B14F-4D97-AF65-F5344CB8AC3E}">
        <p14:creationId xmlns:p14="http://schemas.microsoft.com/office/powerpoint/2010/main" val="1521472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AA502-C59E-C2D9-2492-84EBE410FC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27D3175-9318-027E-93F1-A0A46C123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FC079A-AC56-3157-01FC-4DA875BBB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279A7C-1BFE-7613-0DD1-7A8F7078855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2F22348-56A2-4682-0DC6-431DA991A7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F518BB-B931-27ED-CA1C-B9D8819B29E4}"/>
              </a:ext>
            </a:extLst>
          </p:cNvPr>
          <p:cNvSpPr>
            <a:spLocks noGrp="1"/>
          </p:cNvSpPr>
          <p:nvPr>
            <p:ph type="sldNum" sz="quarter" idx="12"/>
          </p:nvPr>
        </p:nvSpPr>
        <p:spPr/>
        <p:txBody>
          <a:bodyPr/>
          <a:lstStyle/>
          <a:p>
            <a:fld id="{DFF529CC-2DB9-4191-A84E-6CF567C0AABA}" type="slidenum">
              <a:rPr lang="en-US" smtClean="0"/>
              <a:t>‹#›</a:t>
            </a:fld>
            <a:endParaRPr lang="en-US"/>
          </a:p>
        </p:txBody>
      </p:sp>
    </p:spTree>
    <p:extLst>
      <p:ext uri="{BB962C8B-B14F-4D97-AF65-F5344CB8AC3E}">
        <p14:creationId xmlns:p14="http://schemas.microsoft.com/office/powerpoint/2010/main" val="3520519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2B6CB-7BDF-6046-D79F-2E8220BF93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818D95-98FD-9697-E50E-0AF41CB0E9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899A74-C62B-1E4C-5B77-ADCFAE0CBFC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10896D7-3265-50C1-F5B5-C2B9C1E0DA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EA4C92-6353-3EFE-5CFA-64603B1F6F67}"/>
              </a:ext>
            </a:extLst>
          </p:cNvPr>
          <p:cNvSpPr>
            <a:spLocks noGrp="1"/>
          </p:cNvSpPr>
          <p:nvPr>
            <p:ph type="sldNum" sz="quarter" idx="12"/>
          </p:nvPr>
        </p:nvSpPr>
        <p:spPr/>
        <p:txBody>
          <a:bodyPr/>
          <a:lstStyle/>
          <a:p>
            <a:fld id="{DFF529CC-2DB9-4191-A84E-6CF567C0AABA}" type="slidenum">
              <a:rPr lang="en-US" smtClean="0"/>
              <a:t>‹#›</a:t>
            </a:fld>
            <a:endParaRPr lang="en-US"/>
          </a:p>
        </p:txBody>
      </p:sp>
    </p:spTree>
    <p:extLst>
      <p:ext uri="{BB962C8B-B14F-4D97-AF65-F5344CB8AC3E}">
        <p14:creationId xmlns:p14="http://schemas.microsoft.com/office/powerpoint/2010/main" val="3218095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12ADFCA-757D-BF12-9CCF-8840A062F5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C0DCFDB-EFC5-3ED7-8D34-2EC6C4813F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9F95E1-F2C4-56B5-B684-47294A7F6F4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B82AEB7-7D86-213A-4D76-F49B517257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F05B8C-F3BE-8573-B795-7DB5C2DA3F2A}"/>
              </a:ext>
            </a:extLst>
          </p:cNvPr>
          <p:cNvSpPr>
            <a:spLocks noGrp="1"/>
          </p:cNvSpPr>
          <p:nvPr>
            <p:ph type="sldNum" sz="quarter" idx="12"/>
          </p:nvPr>
        </p:nvSpPr>
        <p:spPr/>
        <p:txBody>
          <a:bodyPr/>
          <a:lstStyle/>
          <a:p>
            <a:fld id="{DFF529CC-2DB9-4191-A84E-6CF567C0AABA}" type="slidenum">
              <a:rPr lang="en-US" smtClean="0"/>
              <a:t>‹#›</a:t>
            </a:fld>
            <a:endParaRPr lang="en-US"/>
          </a:p>
        </p:txBody>
      </p:sp>
    </p:spTree>
    <p:extLst>
      <p:ext uri="{BB962C8B-B14F-4D97-AF65-F5344CB8AC3E}">
        <p14:creationId xmlns:p14="http://schemas.microsoft.com/office/powerpoint/2010/main" val="8902113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192491"/>
            <a:ext cx="112776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0" y="2916384"/>
            <a:ext cx="112776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4492752" y="6324600"/>
            <a:ext cx="3206496"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2082800" y="6684964"/>
            <a:ext cx="92964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11501883" y="6673531"/>
            <a:ext cx="474453" cy="161396"/>
          </a:xfrm>
          <a:prstGeom prst="rect">
            <a:avLst/>
          </a:prstGeom>
        </p:spPr>
        <p:txBody>
          <a:bodyPr/>
          <a:lstStyle/>
          <a:p>
            <a:fld id="{68151E55-6873-49E2-B8D5-2F265E6F1973}" type="slidenum">
              <a:rPr lang="en-US" smtClean="0"/>
              <a:t>‹#›</a:t>
            </a:fld>
            <a:endParaRPr lang="en-US"/>
          </a:p>
        </p:txBody>
      </p:sp>
      <p:sp>
        <p:nvSpPr>
          <p:cNvPr id="8" name="Content Placeholder 2">
            <a:extLst>
              <a:ext uri="{FF2B5EF4-FFF2-40B4-BE49-F238E27FC236}">
                <a16:creationId xmlns:a16="http://schemas.microsoft.com/office/drawing/2014/main" id="{7C02FDC4-9007-47FA-8867-BFB4513F337E}"/>
              </a:ext>
            </a:extLst>
          </p:cNvPr>
          <p:cNvSpPr>
            <a:spLocks noGrp="1"/>
          </p:cNvSpPr>
          <p:nvPr>
            <p:ph sz="quarter" idx="15" hasCustomPrompt="1"/>
          </p:nvPr>
        </p:nvSpPr>
        <p:spPr>
          <a:xfrm>
            <a:off x="475667" y="4648198"/>
            <a:ext cx="112776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Tree>
    <p:extLst>
      <p:ext uri="{BB962C8B-B14F-4D97-AF65-F5344CB8AC3E}">
        <p14:creationId xmlns:p14="http://schemas.microsoft.com/office/powerpoint/2010/main" val="171093123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192491"/>
            <a:ext cx="112776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0" y="2070496"/>
            <a:ext cx="112776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457200" y="2900944"/>
            <a:ext cx="112776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457200" y="3755354"/>
            <a:ext cx="112776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457200" y="4635164"/>
            <a:ext cx="112776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457200" y="5514976"/>
            <a:ext cx="112776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4492752" y="6324600"/>
            <a:ext cx="3206496"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2082802" y="6684964"/>
            <a:ext cx="92963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11501883" y="6673531"/>
            <a:ext cx="474453"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196724956"/>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192491"/>
            <a:ext cx="56388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id="{B5BB26E5-AE57-4ED5-B8A8-BEE1BD13AD34}"/>
              </a:ext>
            </a:extLst>
          </p:cNvPr>
          <p:cNvSpPr>
            <a:spLocks noGrp="1"/>
          </p:cNvSpPr>
          <p:nvPr>
            <p:ph type="body" sz="quarter" idx="14" hasCustomPrompt="1"/>
          </p:nvPr>
        </p:nvSpPr>
        <p:spPr>
          <a:xfrm>
            <a:off x="6333067" y="192089"/>
            <a:ext cx="5401733"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4492463" y="6324600"/>
            <a:ext cx="3207076"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2082800" y="6684964"/>
            <a:ext cx="92964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11501883" y="6673531"/>
            <a:ext cx="474453"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27629363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192491"/>
            <a:ext cx="112776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363842"/>
            <a:ext cx="112776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4492463" y="6324600"/>
            <a:ext cx="3207076"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2082800" y="6684964"/>
            <a:ext cx="92964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id="{EF8D8291-5BF4-41AC-87CE-ED5DE4CB1B61}"/>
              </a:ext>
            </a:extLst>
          </p:cNvPr>
          <p:cNvSpPr>
            <a:spLocks noGrp="1"/>
          </p:cNvSpPr>
          <p:nvPr>
            <p:ph type="sldNum" sz="quarter" idx="4"/>
          </p:nvPr>
        </p:nvSpPr>
        <p:spPr>
          <a:xfrm>
            <a:off x="11501883" y="6673531"/>
            <a:ext cx="474453" cy="161396"/>
          </a:xfrm>
          <a:prstGeom prst="rect">
            <a:avLst/>
          </a:prstGeom>
        </p:spPr>
        <p:txBody>
          <a:bodyPr/>
          <a:lstStyle>
            <a:lvl1pPr>
              <a:defRPr sz="800"/>
            </a:lvl1pPr>
          </a:lstStyle>
          <a:p>
            <a:fld id="{68151E55-6873-49E2-B8D5-2F265E6F1973}" type="slidenum">
              <a:rPr lang="en-US" smtClean="0"/>
              <a:pPr/>
              <a:t>‹#›</a:t>
            </a:fld>
            <a:endParaRPr lang="en-US" dirty="0"/>
          </a:p>
        </p:txBody>
      </p:sp>
      <p:sp>
        <p:nvSpPr>
          <p:cNvPr id="4" name="Content Placeholder 3">
            <a:extLst>
              <a:ext uri="{FF2B5EF4-FFF2-40B4-BE49-F238E27FC236}">
                <a16:creationId xmlns:a16="http://schemas.microsoft.com/office/drawing/2014/main" id="{2D740191-36CE-44C1-A5A8-83E9C7E9CD5E}"/>
              </a:ext>
            </a:extLst>
          </p:cNvPr>
          <p:cNvSpPr>
            <a:spLocks noGrp="1"/>
          </p:cNvSpPr>
          <p:nvPr>
            <p:ph sz="quarter" idx="14"/>
          </p:nvPr>
        </p:nvSpPr>
        <p:spPr>
          <a:xfrm>
            <a:off x="2891367" y="3849688"/>
            <a:ext cx="33909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018100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457200" y="192491"/>
            <a:ext cx="112776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457200" y="1276710"/>
            <a:ext cx="112776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57200" y="4343400"/>
            <a:ext cx="112776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4492752" y="6324600"/>
            <a:ext cx="3206496"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2082800" y="6684964"/>
            <a:ext cx="92964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11501883" y="6673531"/>
            <a:ext cx="474453"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6585401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D64254-D62B-BB8C-B114-B1150936E2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F6F427-A015-87C5-7940-53BB425D4C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FCC1DD-776C-3724-88A6-2DFBE33756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61938159-2608-491B-E3D3-EBD471C74E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CA59A2F-BFDB-B22A-8A3A-4FDCB0A9AD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F529CC-2DB9-4191-A84E-6CF567C0AABA}" type="slidenum">
              <a:rPr lang="en-US" smtClean="0"/>
              <a:t>‹#›</a:t>
            </a:fld>
            <a:endParaRPr lang="en-US"/>
          </a:p>
        </p:txBody>
      </p:sp>
    </p:spTree>
    <p:extLst>
      <p:ext uri="{BB962C8B-B14F-4D97-AF65-F5344CB8AC3E}">
        <p14:creationId xmlns:p14="http://schemas.microsoft.com/office/powerpoint/2010/main" val="573612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2491"/>
            <a:ext cx="11277600" cy="1413571"/>
          </a:xfrm>
          <a:ln>
            <a:solidFill>
              <a:schemeClr val="tx1"/>
            </a:solidFill>
          </a:ln>
        </p:spPr>
        <p:txBody>
          <a:bodyPr>
            <a:noAutofit/>
          </a:bodyPr>
          <a:lstStyle/>
          <a:p>
            <a:r>
              <a:rPr lang="en-US" altLang="en-US" sz="3600" dirty="0"/>
              <a:t>Financial Statements – Ch 2</a:t>
            </a:r>
            <a:br>
              <a:rPr lang="en-US" altLang="en-US" sz="3600" dirty="0"/>
            </a:br>
            <a:r>
              <a:rPr lang="en-US" altLang="en-US" sz="3600" dirty="0"/>
              <a:t>Outline</a:t>
            </a:r>
            <a:endParaRPr lang="en-US" sz="3600" dirty="0"/>
          </a:p>
        </p:txBody>
      </p:sp>
      <p:sp>
        <p:nvSpPr>
          <p:cNvPr id="3" name="Content Placeholder 2"/>
          <p:cNvSpPr>
            <a:spLocks noGrp="1"/>
          </p:cNvSpPr>
          <p:nvPr>
            <p:ph sz="quarter" idx="11"/>
          </p:nvPr>
        </p:nvSpPr>
        <p:spPr>
          <a:xfrm>
            <a:off x="682870" y="1933201"/>
            <a:ext cx="11051930" cy="4188426"/>
          </a:xfrm>
        </p:spPr>
        <p:txBody>
          <a:bodyPr>
            <a:normAutofit/>
          </a:bodyPr>
          <a:lstStyle/>
          <a:p>
            <a:pPr marL="342900" indent="-342900"/>
            <a:r>
              <a:rPr lang="en-US" altLang="en-US" sz="3200" dirty="0"/>
              <a:t>The Balance Sheet.</a:t>
            </a:r>
          </a:p>
          <a:p>
            <a:pPr marL="342900" indent="-342900"/>
            <a:r>
              <a:rPr lang="en-US" altLang="en-US" sz="3200" dirty="0"/>
              <a:t>The Income Statement.</a:t>
            </a:r>
          </a:p>
          <a:p>
            <a:pPr marL="342900" indent="-342900"/>
            <a:r>
              <a:rPr lang="en-US" altLang="en-US" sz="3200" dirty="0"/>
              <a:t>Taxes.</a:t>
            </a:r>
          </a:p>
          <a:p>
            <a:pPr marL="342900" indent="-342900"/>
            <a:r>
              <a:rPr lang="en-US" altLang="en-US" sz="3200" dirty="0"/>
              <a:t>Cash Flow.</a:t>
            </a:r>
          </a:p>
        </p:txBody>
      </p:sp>
      <p:sp>
        <p:nvSpPr>
          <p:cNvPr id="6" name="Slide Number Placeholder 5"/>
          <p:cNvSpPr>
            <a:spLocks noGrp="1"/>
          </p:cNvSpPr>
          <p:nvPr>
            <p:ph type="sldNum" sz="quarter" idx="10"/>
          </p:nvPr>
        </p:nvSpPr>
        <p:spPr/>
        <p:txBody>
          <a:bodyPr/>
          <a:lstStyle/>
          <a:p>
            <a:fld id="{68151E55-6873-49E2-B8D5-2F265E6F1973}" type="slidenum">
              <a:rPr lang="en-US" smtClean="0"/>
              <a:pPr/>
              <a:t>1</a:t>
            </a:fld>
            <a:endParaRPr lang="en-US" dirty="0"/>
          </a:p>
        </p:txBody>
      </p:sp>
    </p:spTree>
    <p:extLst>
      <p:ext uri="{BB962C8B-B14F-4D97-AF65-F5344CB8AC3E}">
        <p14:creationId xmlns:p14="http://schemas.microsoft.com/office/powerpoint/2010/main" val="40513497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72039-D694-3D8F-B924-51EBEB62A2D2}"/>
              </a:ext>
            </a:extLst>
          </p:cNvPr>
          <p:cNvSpPr>
            <a:spLocks noGrp="1"/>
          </p:cNvSpPr>
          <p:nvPr>
            <p:ph type="title"/>
          </p:nvPr>
        </p:nvSpPr>
        <p:spPr>
          <a:xfrm>
            <a:off x="961292" y="192491"/>
            <a:ext cx="9363808" cy="635112"/>
          </a:xfrm>
          <a:ln>
            <a:solidFill>
              <a:schemeClr val="tx1"/>
            </a:solidFill>
          </a:ln>
        </p:spPr>
        <p:txBody>
          <a:bodyPr>
            <a:normAutofit/>
          </a:bodyPr>
          <a:lstStyle/>
          <a:p>
            <a:r>
              <a:rPr lang="en-US" altLang="en-US" sz="3600" dirty="0"/>
              <a:t>The Balance Sheet </a:t>
            </a:r>
            <a:r>
              <a:rPr lang="en-US" altLang="en-US" sz="1000" dirty="0"/>
              <a:t>1</a:t>
            </a:r>
            <a:endParaRPr lang="en-US" sz="1000" dirty="0"/>
          </a:p>
        </p:txBody>
      </p:sp>
      <p:sp>
        <p:nvSpPr>
          <p:cNvPr id="3" name="Content Placeholder 2">
            <a:extLst>
              <a:ext uri="{FF2B5EF4-FFF2-40B4-BE49-F238E27FC236}">
                <a16:creationId xmlns:a16="http://schemas.microsoft.com/office/drawing/2014/main" id="{7F96BB08-2F25-4594-EF13-7CF9DCAD2E41}"/>
              </a:ext>
            </a:extLst>
          </p:cNvPr>
          <p:cNvSpPr>
            <a:spLocks noGrp="1"/>
          </p:cNvSpPr>
          <p:nvPr>
            <p:ph sz="quarter" idx="11"/>
          </p:nvPr>
        </p:nvSpPr>
        <p:spPr>
          <a:xfrm>
            <a:off x="1090246" y="1470737"/>
            <a:ext cx="9234854" cy="2471965"/>
          </a:xfrm>
        </p:spPr>
        <p:txBody>
          <a:bodyPr>
            <a:noAutofit/>
          </a:bodyPr>
          <a:lstStyle/>
          <a:p>
            <a:pPr marL="0" indent="0">
              <a:buNone/>
              <a:defRPr/>
            </a:pPr>
            <a:r>
              <a:rPr lang="en-US" altLang="en-US" sz="3200" dirty="0">
                <a:solidFill>
                  <a:schemeClr val="tx2"/>
                </a:solidFill>
              </a:rPr>
              <a:t>The </a:t>
            </a:r>
            <a:r>
              <a:rPr lang="en-US" altLang="en-US" sz="3200" b="1" dirty="0">
                <a:solidFill>
                  <a:schemeClr val="tx2"/>
                </a:solidFill>
              </a:rPr>
              <a:t>balance sheet</a:t>
            </a:r>
            <a:r>
              <a:rPr lang="en-US" altLang="en-US" sz="3200" dirty="0">
                <a:solidFill>
                  <a:schemeClr val="tx2"/>
                </a:solidFill>
              </a:rPr>
              <a:t> is a financial statement showing a firm’s accounting value on a particular date. (</a:t>
            </a:r>
            <a:r>
              <a:rPr lang="en-US" sz="3200" dirty="0"/>
              <a:t>a snapshot of a company’s financial performance at a given point in time)</a:t>
            </a:r>
            <a:endParaRPr lang="en-US" altLang="en-US" sz="3200" dirty="0"/>
          </a:p>
          <a:p>
            <a:pPr marL="0" lvl="1" indent="0">
              <a:spcBef>
                <a:spcPts val="1000"/>
              </a:spcBef>
              <a:buNone/>
              <a:defRPr/>
            </a:pPr>
            <a:r>
              <a:rPr lang="en-US" altLang="en-US" sz="3200" dirty="0">
                <a:solidFill>
                  <a:schemeClr val="tx2"/>
                </a:solidFill>
              </a:rPr>
              <a:t>Organizes and summarizes what a firm owns (assets), what a firm owes (liabilities), and the difference between the two (equity).</a:t>
            </a:r>
          </a:p>
        </p:txBody>
      </p:sp>
      <p:sp>
        <p:nvSpPr>
          <p:cNvPr id="11" name="Slide Number Placeholder 10">
            <a:extLst>
              <a:ext uri="{FF2B5EF4-FFF2-40B4-BE49-F238E27FC236}">
                <a16:creationId xmlns:a16="http://schemas.microsoft.com/office/drawing/2014/main" id="{5556D699-AC1E-F7DD-D828-F344FD4BC676}"/>
              </a:ext>
            </a:extLst>
          </p:cNvPr>
          <p:cNvSpPr>
            <a:spLocks noGrp="1"/>
          </p:cNvSpPr>
          <p:nvPr>
            <p:ph type="sldNum" sz="quarter" idx="10"/>
          </p:nvPr>
        </p:nvSpPr>
        <p:spPr/>
        <p:txBody>
          <a:bodyPr/>
          <a:lstStyle/>
          <a:p>
            <a:fld id="{68151E55-6873-49E2-B8D5-2F265E6F1973}" type="slidenum">
              <a:rPr lang="en-US" smtClean="0"/>
              <a:t>2</a:t>
            </a:fld>
            <a:endParaRPr lang="en-US" dirty="0"/>
          </a:p>
        </p:txBody>
      </p:sp>
    </p:spTree>
    <p:extLst>
      <p:ext uri="{BB962C8B-B14F-4D97-AF65-F5344CB8AC3E}">
        <p14:creationId xmlns:p14="http://schemas.microsoft.com/office/powerpoint/2010/main" val="531327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47BB0A-BAC5-4F1F-72A5-131170BBE3B0}"/>
              </a:ext>
            </a:extLst>
          </p:cNvPr>
          <p:cNvSpPr>
            <a:spLocks noGrp="1"/>
          </p:cNvSpPr>
          <p:nvPr>
            <p:ph sz="quarter" idx="11"/>
          </p:nvPr>
        </p:nvSpPr>
        <p:spPr>
          <a:xfrm>
            <a:off x="1031631" y="1276710"/>
            <a:ext cx="9293469" cy="4431759"/>
          </a:xfrm>
        </p:spPr>
        <p:txBody>
          <a:bodyPr/>
          <a:lstStyle/>
          <a:p>
            <a:pPr marL="0" indent="0">
              <a:buNone/>
              <a:defRPr/>
            </a:pPr>
            <a:r>
              <a:rPr lang="en-US" altLang="en-US" sz="2000" b="1" u="sng" dirty="0">
                <a:solidFill>
                  <a:schemeClr val="tx2"/>
                </a:solidFill>
              </a:rPr>
              <a:t>Assets</a:t>
            </a:r>
            <a:r>
              <a:rPr lang="en-US" altLang="en-US" sz="2000" dirty="0">
                <a:solidFill>
                  <a:schemeClr val="tx2"/>
                </a:solidFill>
              </a:rPr>
              <a:t> are classified as either current or fixed:</a:t>
            </a:r>
          </a:p>
          <a:p>
            <a:pPr lvl="1">
              <a:lnSpc>
                <a:spcPct val="90000"/>
              </a:lnSpc>
              <a:defRPr/>
            </a:pPr>
            <a:r>
              <a:rPr lang="en-US" altLang="en-US" sz="2000" dirty="0">
                <a:solidFill>
                  <a:schemeClr val="tx2"/>
                </a:solidFill>
              </a:rPr>
              <a:t>A </a:t>
            </a:r>
            <a:r>
              <a:rPr lang="en-US" altLang="en-US" sz="2000" b="1" i="1" dirty="0">
                <a:solidFill>
                  <a:schemeClr val="tx2"/>
                </a:solidFill>
              </a:rPr>
              <a:t>fixed asset </a:t>
            </a:r>
            <a:r>
              <a:rPr lang="en-US" altLang="en-US" sz="2000" dirty="0">
                <a:solidFill>
                  <a:schemeClr val="tx2"/>
                </a:solidFill>
              </a:rPr>
              <a:t>is one that has a relatively long life.</a:t>
            </a:r>
          </a:p>
          <a:p>
            <a:pPr marL="0" lvl="1" indent="0">
              <a:spcBef>
                <a:spcPts val="1000"/>
              </a:spcBef>
              <a:buNone/>
              <a:defRPr/>
            </a:pPr>
            <a:r>
              <a:rPr lang="en-US" altLang="en-US" sz="2000" dirty="0">
                <a:solidFill>
                  <a:schemeClr val="tx2"/>
                </a:solidFill>
              </a:rPr>
              <a:t>	May be tangible (for example, truck or computer) or intangible (for example, 	trademark).</a:t>
            </a:r>
          </a:p>
          <a:p>
            <a:pPr lvl="1">
              <a:lnSpc>
                <a:spcPct val="90000"/>
              </a:lnSpc>
              <a:defRPr/>
            </a:pPr>
            <a:r>
              <a:rPr lang="en-US" altLang="en-US" sz="2000" dirty="0">
                <a:solidFill>
                  <a:schemeClr val="tx2"/>
                </a:solidFill>
              </a:rPr>
              <a:t>A </a:t>
            </a:r>
            <a:r>
              <a:rPr lang="en-US" altLang="en-US" sz="2000" b="1" i="1" dirty="0">
                <a:solidFill>
                  <a:schemeClr val="tx2"/>
                </a:solidFill>
              </a:rPr>
              <a:t>current asset </a:t>
            </a:r>
            <a:r>
              <a:rPr lang="en-US" altLang="en-US" sz="2000" dirty="0">
                <a:solidFill>
                  <a:schemeClr val="tx2"/>
                </a:solidFill>
              </a:rPr>
              <a:t>has a life of less than one year (for example, inventory, cash, accounts receivable).</a:t>
            </a:r>
          </a:p>
          <a:p>
            <a:pPr marL="457200" lvl="1" indent="0">
              <a:lnSpc>
                <a:spcPct val="90000"/>
              </a:lnSpc>
              <a:buNone/>
              <a:defRPr/>
            </a:pPr>
            <a:endParaRPr lang="en-US" sz="2000" dirty="0"/>
          </a:p>
          <a:p>
            <a:endParaRPr lang="en-US" dirty="0"/>
          </a:p>
        </p:txBody>
      </p:sp>
      <p:sp>
        <p:nvSpPr>
          <p:cNvPr id="11" name="Slide Number Placeholder 10">
            <a:extLst>
              <a:ext uri="{FF2B5EF4-FFF2-40B4-BE49-F238E27FC236}">
                <a16:creationId xmlns:a16="http://schemas.microsoft.com/office/drawing/2014/main" id="{3DCDE202-9CAA-C054-FFBB-9AC4AB6E5A86}"/>
              </a:ext>
            </a:extLst>
          </p:cNvPr>
          <p:cNvSpPr>
            <a:spLocks noGrp="1"/>
          </p:cNvSpPr>
          <p:nvPr>
            <p:ph type="sldNum" sz="quarter" idx="10"/>
          </p:nvPr>
        </p:nvSpPr>
        <p:spPr/>
        <p:txBody>
          <a:bodyPr/>
          <a:lstStyle/>
          <a:p>
            <a:fld id="{68151E55-6873-49E2-B8D5-2F265E6F1973}" type="slidenum">
              <a:rPr lang="en-US" smtClean="0"/>
              <a:t>3</a:t>
            </a:fld>
            <a:endParaRPr lang="en-US" dirty="0"/>
          </a:p>
        </p:txBody>
      </p:sp>
      <p:sp>
        <p:nvSpPr>
          <p:cNvPr id="12" name="Content Placeholder 5">
            <a:extLst>
              <a:ext uri="{FF2B5EF4-FFF2-40B4-BE49-F238E27FC236}">
                <a16:creationId xmlns:a16="http://schemas.microsoft.com/office/drawing/2014/main" id="{CC283DC3-A151-B9AC-DEEF-BB787BA00D85}"/>
              </a:ext>
            </a:extLst>
          </p:cNvPr>
          <p:cNvSpPr txBox="1">
            <a:spLocks/>
          </p:cNvSpPr>
          <p:nvPr/>
        </p:nvSpPr>
        <p:spPr>
          <a:xfrm>
            <a:off x="937846" y="3492589"/>
            <a:ext cx="9387254" cy="1444563"/>
          </a:xfrm>
          <a:prstGeom prst="rect">
            <a:avLst/>
          </a:prstGeom>
        </p:spPr>
        <p:txBody>
          <a:bodyPr vert="horz" lIns="91440" tIns="45720" rIns="91440" bIns="45720" rtlCol="0">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90000"/>
              </a:lnSpc>
              <a:defRPr/>
            </a:pPr>
            <a:r>
              <a:rPr lang="en-US" altLang="en-US" sz="2000" b="1" u="sng" dirty="0"/>
              <a:t>Liabilities</a:t>
            </a:r>
            <a:r>
              <a:rPr lang="en-US" altLang="en-US" sz="2000" dirty="0"/>
              <a:t> are the first part on the right side of the balance sheet and are classified are either current or long-term.</a:t>
            </a:r>
          </a:p>
          <a:p>
            <a:pPr marL="621792" lvl="2" indent="-291600">
              <a:lnSpc>
                <a:spcPct val="90000"/>
              </a:lnSpc>
              <a:defRPr/>
            </a:pPr>
            <a:r>
              <a:rPr lang="en-US" altLang="en-US" b="1" i="1" dirty="0"/>
              <a:t>Current liabilities </a:t>
            </a:r>
            <a:r>
              <a:rPr lang="en-US" altLang="en-US" dirty="0"/>
              <a:t>have a life of less than one year (due in less than one year) for example Accounts payables.</a:t>
            </a:r>
          </a:p>
          <a:p>
            <a:pPr marL="621792" lvl="2" indent="-291600">
              <a:lnSpc>
                <a:spcPct val="90000"/>
              </a:lnSpc>
              <a:defRPr/>
            </a:pPr>
            <a:r>
              <a:rPr lang="en-US" altLang="en-US" b="1" i="1" dirty="0"/>
              <a:t>Long-term liabilities </a:t>
            </a:r>
            <a:r>
              <a:rPr lang="en-US" altLang="en-US" dirty="0"/>
              <a:t>are debts not due in the coming year.</a:t>
            </a:r>
          </a:p>
        </p:txBody>
      </p:sp>
      <p:sp>
        <p:nvSpPr>
          <p:cNvPr id="13" name="Title 1">
            <a:extLst>
              <a:ext uri="{FF2B5EF4-FFF2-40B4-BE49-F238E27FC236}">
                <a16:creationId xmlns:a16="http://schemas.microsoft.com/office/drawing/2014/main" id="{54028DD1-AD5E-0A5C-9012-2276852D1BFF}"/>
              </a:ext>
            </a:extLst>
          </p:cNvPr>
          <p:cNvSpPr>
            <a:spLocks noGrp="1"/>
          </p:cNvSpPr>
          <p:nvPr>
            <p:ph type="title"/>
          </p:nvPr>
        </p:nvSpPr>
        <p:spPr>
          <a:xfrm>
            <a:off x="1031631" y="192491"/>
            <a:ext cx="9293469" cy="635112"/>
          </a:xfrm>
          <a:ln>
            <a:solidFill>
              <a:schemeClr val="tx1"/>
            </a:solidFill>
          </a:ln>
        </p:spPr>
        <p:txBody>
          <a:bodyPr>
            <a:normAutofit/>
          </a:bodyPr>
          <a:lstStyle/>
          <a:p>
            <a:r>
              <a:rPr lang="en-US" altLang="en-US" sz="3600" dirty="0"/>
              <a:t>The Balance Sheet </a:t>
            </a:r>
            <a:r>
              <a:rPr lang="en-US" altLang="en-US" sz="1000" dirty="0"/>
              <a:t>1</a:t>
            </a:r>
            <a:endParaRPr lang="en-US" sz="1000" dirty="0"/>
          </a:p>
        </p:txBody>
      </p:sp>
    </p:spTree>
    <p:extLst>
      <p:ext uri="{BB962C8B-B14F-4D97-AF65-F5344CB8AC3E}">
        <p14:creationId xmlns:p14="http://schemas.microsoft.com/office/powerpoint/2010/main" val="2654851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3A18F59-643D-72DF-B8C7-79336DACF889}"/>
              </a:ext>
            </a:extLst>
          </p:cNvPr>
          <p:cNvSpPr>
            <a:spLocks noGrp="1"/>
          </p:cNvSpPr>
          <p:nvPr>
            <p:ph sz="quarter" idx="11"/>
          </p:nvPr>
        </p:nvSpPr>
        <p:spPr/>
        <p:txBody>
          <a:bodyPr/>
          <a:lstStyle/>
          <a:p>
            <a:r>
              <a:rPr lang="en-US" sz="2000" b="1" u="sng" dirty="0"/>
              <a:t>Equity</a:t>
            </a:r>
            <a:r>
              <a:rPr lang="en-US" sz="2000" dirty="0"/>
              <a:t>: </a:t>
            </a:r>
            <a:r>
              <a:rPr lang="en-US" altLang="en-US" sz="2000" dirty="0"/>
              <a:t>Shareholders equity (that is, common equity or owners’ equity)</a:t>
            </a:r>
            <a:r>
              <a:rPr lang="en-US" sz="2000" dirty="0"/>
              <a:t> is below liabilities on the balance sheet</a:t>
            </a:r>
          </a:p>
          <a:p>
            <a:r>
              <a:rPr lang="en-US" sz="2000" dirty="0"/>
              <a:t>It is the amount owed to the owners of the company. </a:t>
            </a:r>
          </a:p>
          <a:p>
            <a:r>
              <a:rPr lang="en-US" altLang="en-US" sz="2000" dirty="0"/>
              <a:t>Balance sheet “balances” because the value of the left side always equals the value of the right side.</a:t>
            </a:r>
          </a:p>
          <a:p>
            <a:endParaRPr lang="en-US" dirty="0"/>
          </a:p>
          <a:p>
            <a:r>
              <a:rPr lang="en-US" altLang="en-US" i="1" noProof="0" dirty="0">
                <a:solidFill>
                  <a:srgbClr val="000000"/>
                </a:solidFill>
              </a:rPr>
              <a:t>Balance sheet identity or </a:t>
            </a:r>
            <a:r>
              <a:rPr lang="en-US" dirty="0"/>
              <a:t>Balance Sheet Equation:</a:t>
            </a:r>
          </a:p>
          <a:p>
            <a:r>
              <a:rPr lang="en-US" altLang="en-US" sz="2400" dirty="0">
                <a:solidFill>
                  <a:schemeClr val="tx2"/>
                </a:solidFill>
              </a:rPr>
              <a:t>Assets = Liabilities + </a:t>
            </a:r>
            <a:r>
              <a:rPr lang="en-US" altLang="en-US" sz="2400" b="1" dirty="0">
                <a:solidFill>
                  <a:schemeClr val="tx2"/>
                </a:solidFill>
              </a:rPr>
              <a:t>Stockholders’ Equity</a:t>
            </a:r>
            <a:r>
              <a:rPr lang="en-US" altLang="en-US" sz="2400" dirty="0">
                <a:solidFill>
                  <a:schemeClr val="tx2"/>
                </a:solidFill>
              </a:rPr>
              <a:t>.</a:t>
            </a:r>
            <a:endParaRPr lang="en-US" sz="2400" dirty="0"/>
          </a:p>
          <a:p>
            <a:endParaRPr lang="en-US" dirty="0"/>
          </a:p>
        </p:txBody>
      </p:sp>
      <p:sp>
        <p:nvSpPr>
          <p:cNvPr id="7" name="Slide Number Placeholder 6">
            <a:extLst>
              <a:ext uri="{FF2B5EF4-FFF2-40B4-BE49-F238E27FC236}">
                <a16:creationId xmlns:a16="http://schemas.microsoft.com/office/drawing/2014/main" id="{D4C58B79-4E34-A96B-3C73-2CDB213FCB25}"/>
              </a:ext>
            </a:extLst>
          </p:cNvPr>
          <p:cNvSpPr>
            <a:spLocks noGrp="1"/>
          </p:cNvSpPr>
          <p:nvPr>
            <p:ph type="sldNum" sz="quarter" idx="10"/>
          </p:nvPr>
        </p:nvSpPr>
        <p:spPr/>
        <p:txBody>
          <a:bodyPr/>
          <a:lstStyle/>
          <a:p>
            <a:fld id="{68151E55-6873-49E2-B8D5-2F265E6F1973}" type="slidenum">
              <a:rPr lang="en-US" smtClean="0"/>
              <a:t>4</a:t>
            </a:fld>
            <a:endParaRPr lang="en-US"/>
          </a:p>
        </p:txBody>
      </p:sp>
      <p:sp>
        <p:nvSpPr>
          <p:cNvPr id="8" name="Title 1">
            <a:extLst>
              <a:ext uri="{FF2B5EF4-FFF2-40B4-BE49-F238E27FC236}">
                <a16:creationId xmlns:a16="http://schemas.microsoft.com/office/drawing/2014/main" id="{3FA8F008-6C23-F523-9CFC-AF8CC83EF79D}"/>
              </a:ext>
            </a:extLst>
          </p:cNvPr>
          <p:cNvSpPr>
            <a:spLocks noGrp="1"/>
          </p:cNvSpPr>
          <p:nvPr>
            <p:ph type="title"/>
          </p:nvPr>
        </p:nvSpPr>
        <p:spPr>
          <a:xfrm>
            <a:off x="750277" y="292043"/>
            <a:ext cx="9539654" cy="635112"/>
          </a:xfrm>
          <a:ln>
            <a:solidFill>
              <a:schemeClr val="tx1"/>
            </a:solidFill>
          </a:ln>
        </p:spPr>
        <p:txBody>
          <a:bodyPr>
            <a:normAutofit/>
          </a:bodyPr>
          <a:lstStyle/>
          <a:p>
            <a:r>
              <a:rPr lang="en-US" altLang="en-US" sz="3600" dirty="0"/>
              <a:t>The Balance Sheet </a:t>
            </a:r>
            <a:r>
              <a:rPr lang="en-US" altLang="en-US" sz="1000" dirty="0"/>
              <a:t>1</a:t>
            </a:r>
            <a:endParaRPr lang="en-US" sz="1000" dirty="0"/>
          </a:p>
        </p:txBody>
      </p:sp>
    </p:spTree>
    <p:extLst>
      <p:ext uri="{BB962C8B-B14F-4D97-AF65-F5344CB8AC3E}">
        <p14:creationId xmlns:p14="http://schemas.microsoft.com/office/powerpoint/2010/main" val="13855541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DD314-7E39-0BEB-0159-82B71FBCBDB3}"/>
              </a:ext>
            </a:extLst>
          </p:cNvPr>
          <p:cNvSpPr>
            <a:spLocks noGrp="1"/>
          </p:cNvSpPr>
          <p:nvPr>
            <p:ph type="title"/>
          </p:nvPr>
        </p:nvSpPr>
        <p:spPr>
          <a:ln>
            <a:solidFill>
              <a:schemeClr val="tx1"/>
            </a:solidFill>
          </a:ln>
        </p:spPr>
        <p:txBody>
          <a:bodyPr/>
          <a:lstStyle/>
          <a:p>
            <a:r>
              <a:rPr lang="en-US" altLang="en-US" dirty="0"/>
              <a:t>Construction of </a:t>
            </a:r>
            <a:r>
              <a:rPr lang="en-US" altLang="en-US" dirty="0">
                <a:solidFill>
                  <a:schemeClr val="tx1"/>
                </a:solidFill>
              </a:rPr>
              <a:t>t</a:t>
            </a:r>
            <a:r>
              <a:rPr lang="en-US" altLang="en-US" dirty="0"/>
              <a:t>he Balance Sheet</a:t>
            </a:r>
            <a:endParaRPr lang="en-US" dirty="0">
              <a:solidFill>
                <a:schemeClr val="tx1"/>
              </a:solidFill>
            </a:endParaRPr>
          </a:p>
        </p:txBody>
      </p:sp>
      <p:pic>
        <p:nvPicPr>
          <p:cNvPr id="7" name="Picture 6" descr="Flowchart of balance sheet structure">
            <a:extLst>
              <a:ext uri="{FF2B5EF4-FFF2-40B4-BE49-F238E27FC236}">
                <a16:creationId xmlns:a16="http://schemas.microsoft.com/office/drawing/2014/main" id="{77367C06-4673-5F69-39C3-4898BB0C014C}"/>
              </a:ext>
            </a:extLst>
          </p:cNvPr>
          <p:cNvPicPr>
            <a:picLocks noChangeAspect="1"/>
          </p:cNvPicPr>
          <p:nvPr/>
        </p:nvPicPr>
        <p:blipFill>
          <a:blip r:embed="rId3"/>
          <a:stretch>
            <a:fillRect/>
          </a:stretch>
        </p:blipFill>
        <p:spPr>
          <a:xfrm>
            <a:off x="2639268" y="1430912"/>
            <a:ext cx="6913463" cy="4505334"/>
          </a:xfrm>
          <a:prstGeom prst="rect">
            <a:avLst/>
          </a:prstGeom>
        </p:spPr>
      </p:pic>
      <p:sp>
        <p:nvSpPr>
          <p:cNvPr id="6" name="Slide Number Placeholder 5">
            <a:extLst>
              <a:ext uri="{FF2B5EF4-FFF2-40B4-BE49-F238E27FC236}">
                <a16:creationId xmlns:a16="http://schemas.microsoft.com/office/drawing/2014/main" id="{4DAE0A2F-1658-022A-5FF3-98C67393F5E0}"/>
              </a:ext>
            </a:extLst>
          </p:cNvPr>
          <p:cNvSpPr>
            <a:spLocks noGrp="1"/>
          </p:cNvSpPr>
          <p:nvPr>
            <p:ph type="sldNum" sz="quarter" idx="4"/>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1603091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0900-231A-750E-17FD-CB7149E676E0}"/>
              </a:ext>
            </a:extLst>
          </p:cNvPr>
          <p:cNvSpPr>
            <a:spLocks noGrp="1"/>
          </p:cNvSpPr>
          <p:nvPr>
            <p:ph type="title"/>
          </p:nvPr>
        </p:nvSpPr>
        <p:spPr>
          <a:ln>
            <a:solidFill>
              <a:schemeClr val="tx1"/>
            </a:solidFill>
          </a:ln>
        </p:spPr>
        <p:txBody>
          <a:bodyPr>
            <a:normAutofit/>
          </a:bodyPr>
          <a:lstStyle/>
          <a:p>
            <a:r>
              <a:rPr lang="en-US" altLang="en-US" sz="3600" dirty="0"/>
              <a:t>Net Working Capital</a:t>
            </a:r>
            <a:endParaRPr lang="en-US" sz="3600" dirty="0"/>
          </a:p>
        </p:txBody>
      </p:sp>
      <p:sp>
        <p:nvSpPr>
          <p:cNvPr id="3" name="Content Placeholder 2">
            <a:extLst>
              <a:ext uri="{FF2B5EF4-FFF2-40B4-BE49-F238E27FC236}">
                <a16:creationId xmlns:a16="http://schemas.microsoft.com/office/drawing/2014/main" id="{3D2AA701-1029-9D73-5B2A-3342486B23AE}"/>
              </a:ext>
            </a:extLst>
          </p:cNvPr>
          <p:cNvSpPr>
            <a:spLocks noGrp="1"/>
          </p:cNvSpPr>
          <p:nvPr>
            <p:ph sz="quarter" idx="11"/>
          </p:nvPr>
        </p:nvSpPr>
        <p:spPr>
          <a:xfrm>
            <a:off x="562707" y="1847366"/>
            <a:ext cx="10939175" cy="3612908"/>
          </a:xfrm>
        </p:spPr>
        <p:txBody>
          <a:bodyPr/>
          <a:lstStyle/>
          <a:p>
            <a:pPr marL="0" indent="0">
              <a:buNone/>
              <a:defRPr/>
            </a:pPr>
            <a:r>
              <a:rPr lang="en-US" altLang="en-US" b="1" u="sng" noProof="0" dirty="0">
                <a:solidFill>
                  <a:schemeClr val="tx2"/>
                </a:solidFill>
              </a:rPr>
              <a:t>Net working capital </a:t>
            </a:r>
            <a:r>
              <a:rPr lang="en-US" altLang="en-US" noProof="0" dirty="0">
                <a:solidFill>
                  <a:schemeClr val="tx2"/>
                </a:solidFill>
              </a:rPr>
              <a:t>is the difference between a firm’s current assets and its current liabilities:</a:t>
            </a:r>
          </a:p>
          <a:p>
            <a:pPr marL="291600" lvl="1" indent="-291600">
              <a:defRPr/>
            </a:pPr>
            <a:r>
              <a:rPr lang="en-US" altLang="en-US" noProof="0" dirty="0">
                <a:solidFill>
                  <a:schemeClr val="tx2"/>
                </a:solidFill>
              </a:rPr>
              <a:t>Positive when cash that will become available over the next 12 months (that is, current assets) exceeds cash that must be paid over the same period (that is, current liabilities).</a:t>
            </a:r>
          </a:p>
          <a:p>
            <a:pPr marL="291600" lvl="1" indent="-291600">
              <a:defRPr/>
            </a:pPr>
            <a:r>
              <a:rPr lang="en-US" altLang="en-US" noProof="0" dirty="0">
                <a:solidFill>
                  <a:schemeClr val="tx2"/>
                </a:solidFill>
              </a:rPr>
              <a:t>Usually positive in a healthy firm.</a:t>
            </a:r>
          </a:p>
        </p:txBody>
      </p:sp>
      <p:sp>
        <p:nvSpPr>
          <p:cNvPr id="7" name="Slide Number Placeholder 6">
            <a:extLst>
              <a:ext uri="{FF2B5EF4-FFF2-40B4-BE49-F238E27FC236}">
                <a16:creationId xmlns:a16="http://schemas.microsoft.com/office/drawing/2014/main" id="{05FBC17C-7BC0-1C7C-7F03-FED4F2A70EB1}"/>
              </a:ext>
            </a:extLst>
          </p:cNvPr>
          <p:cNvSpPr>
            <a:spLocks noGrp="1"/>
          </p:cNvSpPr>
          <p:nvPr>
            <p:ph type="sldNum" sz="quarter" idx="10"/>
          </p:nvPr>
        </p:nvSpPr>
        <p:spPr/>
        <p:txBody>
          <a:bodyPr/>
          <a:lstStyle/>
          <a:p>
            <a:fld id="{68151E55-6873-49E2-B8D5-2F265E6F1973}" type="slidenum">
              <a:rPr lang="en-US" smtClean="0"/>
              <a:t>6</a:t>
            </a:fld>
            <a:endParaRPr lang="en-US"/>
          </a:p>
        </p:txBody>
      </p:sp>
    </p:spTree>
    <p:extLst>
      <p:ext uri="{BB962C8B-B14F-4D97-AF65-F5344CB8AC3E}">
        <p14:creationId xmlns:p14="http://schemas.microsoft.com/office/powerpoint/2010/main" val="3691942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CA8BEB61-DAA7-3470-3943-50C743C31D68}"/>
              </a:ext>
            </a:extLst>
          </p:cNvPr>
          <p:cNvSpPr>
            <a:spLocks noGrp="1"/>
          </p:cNvSpPr>
          <p:nvPr>
            <p:ph type="sldNum" sz="quarter" idx="10"/>
          </p:nvPr>
        </p:nvSpPr>
        <p:spPr/>
        <p:txBody>
          <a:bodyPr/>
          <a:lstStyle/>
          <a:p>
            <a:fld id="{68151E55-6873-49E2-B8D5-2F265E6F1973}" type="slidenum">
              <a:rPr lang="en-US" smtClean="0"/>
              <a:t>7</a:t>
            </a:fld>
            <a:endParaRPr lang="en-US"/>
          </a:p>
        </p:txBody>
      </p:sp>
      <p:sp>
        <p:nvSpPr>
          <p:cNvPr id="8" name="Content Placeholder 3">
            <a:extLst>
              <a:ext uri="{FF2B5EF4-FFF2-40B4-BE49-F238E27FC236}">
                <a16:creationId xmlns:a16="http://schemas.microsoft.com/office/drawing/2014/main" id="{86C7F159-F470-718B-6CE3-B5E93A63ADD7}"/>
              </a:ext>
            </a:extLst>
          </p:cNvPr>
          <p:cNvSpPr>
            <a:spLocks noGrp="1"/>
          </p:cNvSpPr>
          <p:nvPr>
            <p:ph sz="quarter" idx="11"/>
          </p:nvPr>
        </p:nvSpPr>
        <p:spPr>
          <a:xfrm>
            <a:off x="1184031" y="1276350"/>
            <a:ext cx="9141069" cy="2838450"/>
          </a:xfrm>
        </p:spPr>
        <p:txBody>
          <a:bodyPr/>
          <a:lstStyle/>
          <a:p>
            <a:pPr marL="0" indent="0">
              <a:buNone/>
              <a:defRPr/>
            </a:pPr>
            <a:r>
              <a:rPr lang="en-US" altLang="en-US" noProof="0" dirty="0">
                <a:solidFill>
                  <a:schemeClr val="tx2"/>
                </a:solidFill>
              </a:rPr>
              <a:t>Three particularly important things to keep in mind when examining a balance sheet:</a:t>
            </a:r>
          </a:p>
          <a:p>
            <a:pPr marL="403200" lvl="1" indent="-403200">
              <a:buFont typeface="+mj-lt"/>
              <a:buAutoNum type="arabicPeriod"/>
              <a:defRPr/>
            </a:pPr>
            <a:r>
              <a:rPr lang="en-US" altLang="en-US" noProof="0" dirty="0">
                <a:solidFill>
                  <a:schemeClr val="tx2"/>
                </a:solidFill>
              </a:rPr>
              <a:t>Liquidity.</a:t>
            </a:r>
          </a:p>
          <a:p>
            <a:pPr marL="403200" lvl="1" indent="-403200">
              <a:buFont typeface="+mj-lt"/>
              <a:buAutoNum type="arabicPeriod"/>
              <a:defRPr/>
            </a:pPr>
            <a:r>
              <a:rPr lang="en-US" altLang="en-US" noProof="0" dirty="0">
                <a:solidFill>
                  <a:schemeClr val="tx2"/>
                </a:solidFill>
              </a:rPr>
              <a:t>Debt versus equity.</a:t>
            </a:r>
          </a:p>
          <a:p>
            <a:pPr marL="403200" lvl="1" indent="-403200">
              <a:buFont typeface="+mj-lt"/>
              <a:buAutoNum type="arabicPeriod"/>
              <a:defRPr/>
            </a:pPr>
            <a:r>
              <a:rPr lang="en-US" altLang="en-US" noProof="0" dirty="0">
                <a:solidFill>
                  <a:schemeClr val="tx2"/>
                </a:solidFill>
              </a:rPr>
              <a:t>Market value versus book value.</a:t>
            </a:r>
            <a:endParaRPr lang="en-US" noProof="0" dirty="0"/>
          </a:p>
        </p:txBody>
      </p:sp>
    </p:spTree>
    <p:extLst>
      <p:ext uri="{BB962C8B-B14F-4D97-AF65-F5344CB8AC3E}">
        <p14:creationId xmlns:p14="http://schemas.microsoft.com/office/powerpoint/2010/main" val="360861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4A04E-CE77-49C8-BE06-8B6B167B7FB6}"/>
              </a:ext>
            </a:extLst>
          </p:cNvPr>
          <p:cNvSpPr>
            <a:spLocks noGrp="1"/>
          </p:cNvSpPr>
          <p:nvPr>
            <p:ph type="title"/>
          </p:nvPr>
        </p:nvSpPr>
        <p:spPr>
          <a:ln>
            <a:solidFill>
              <a:schemeClr val="tx1"/>
            </a:solidFill>
          </a:ln>
        </p:spPr>
        <p:txBody>
          <a:bodyPr>
            <a:normAutofit/>
          </a:bodyPr>
          <a:lstStyle/>
          <a:p>
            <a:r>
              <a:rPr lang="en-US" altLang="en-US" sz="3600" dirty="0"/>
              <a:t>Liquidity</a:t>
            </a:r>
            <a:endParaRPr lang="en-US" sz="3600" dirty="0"/>
          </a:p>
        </p:txBody>
      </p:sp>
      <p:sp>
        <p:nvSpPr>
          <p:cNvPr id="3" name="Content Placeholder 2">
            <a:extLst>
              <a:ext uri="{FF2B5EF4-FFF2-40B4-BE49-F238E27FC236}">
                <a16:creationId xmlns:a16="http://schemas.microsoft.com/office/drawing/2014/main" id="{5E11D49E-0FCD-4DD9-A73E-F7A6057F2E0D}"/>
              </a:ext>
            </a:extLst>
          </p:cNvPr>
          <p:cNvSpPr>
            <a:spLocks noGrp="1"/>
          </p:cNvSpPr>
          <p:nvPr>
            <p:ph sz="quarter" idx="11"/>
          </p:nvPr>
        </p:nvSpPr>
        <p:spPr>
          <a:xfrm>
            <a:off x="586154" y="1309712"/>
            <a:ext cx="9738946" cy="609214"/>
          </a:xfrm>
        </p:spPr>
        <p:txBody>
          <a:bodyPr>
            <a:normAutofit lnSpcReduction="10000"/>
          </a:bodyPr>
          <a:lstStyle/>
          <a:p>
            <a:r>
              <a:rPr lang="en-US" altLang="en-US" sz="2000" b="1" i="1" u="sng" dirty="0">
                <a:solidFill>
                  <a:schemeClr val="tx2"/>
                </a:solidFill>
              </a:rPr>
              <a:t>Liquidity</a:t>
            </a:r>
            <a:r>
              <a:rPr lang="en-US" altLang="en-US" sz="2000" dirty="0">
                <a:solidFill>
                  <a:schemeClr val="tx2"/>
                </a:solidFill>
              </a:rPr>
              <a:t> refers to the speed and ease with which an asset can be converted to cash, without significant loss in value.</a:t>
            </a:r>
          </a:p>
        </p:txBody>
      </p:sp>
      <p:sp>
        <p:nvSpPr>
          <p:cNvPr id="4" name="Content Placeholder 3">
            <a:extLst>
              <a:ext uri="{FF2B5EF4-FFF2-40B4-BE49-F238E27FC236}">
                <a16:creationId xmlns:a16="http://schemas.microsoft.com/office/drawing/2014/main" id="{D4F24990-19EA-45D5-AE14-69F5F73DEDBA}"/>
              </a:ext>
            </a:extLst>
          </p:cNvPr>
          <p:cNvSpPr>
            <a:spLocks noGrp="1"/>
          </p:cNvSpPr>
          <p:nvPr>
            <p:ph sz="quarter" idx="14"/>
          </p:nvPr>
        </p:nvSpPr>
        <p:spPr>
          <a:xfrm>
            <a:off x="1019908" y="2048809"/>
            <a:ext cx="9305192" cy="1315251"/>
          </a:xfrm>
        </p:spPr>
        <p:txBody>
          <a:bodyPr>
            <a:normAutofit lnSpcReduction="10000"/>
          </a:bodyPr>
          <a:lstStyle/>
          <a:p>
            <a:pPr marL="0" lvl="1" indent="0">
              <a:spcBef>
                <a:spcPts val="1000"/>
              </a:spcBef>
              <a:buNone/>
              <a:defRPr/>
            </a:pPr>
            <a:r>
              <a:rPr lang="en-US" altLang="en-US" sz="2000" dirty="0">
                <a:solidFill>
                  <a:schemeClr val="tx2"/>
                </a:solidFill>
              </a:rPr>
              <a:t>Two dimensions are </a:t>
            </a:r>
            <a:r>
              <a:rPr lang="en-US" altLang="en-US" sz="2000" i="1" dirty="0">
                <a:solidFill>
                  <a:schemeClr val="tx2"/>
                </a:solidFill>
              </a:rPr>
              <a:t>ease of conversion </a:t>
            </a:r>
            <a:r>
              <a:rPr lang="en-US" altLang="en-US" sz="2000" dirty="0">
                <a:solidFill>
                  <a:schemeClr val="tx2"/>
                </a:solidFill>
              </a:rPr>
              <a:t>versus </a:t>
            </a:r>
            <a:r>
              <a:rPr lang="en-US" altLang="en-US" sz="2000" i="1" dirty="0">
                <a:solidFill>
                  <a:schemeClr val="tx2"/>
                </a:solidFill>
              </a:rPr>
              <a:t>loss of value</a:t>
            </a:r>
            <a:r>
              <a:rPr lang="en-US" altLang="en-US" sz="2000" dirty="0">
                <a:solidFill>
                  <a:schemeClr val="tx2"/>
                </a:solidFill>
              </a:rPr>
              <a:t>.</a:t>
            </a:r>
          </a:p>
          <a:p>
            <a:pPr marL="291600" lvl="1" indent="-291600">
              <a:spcBef>
                <a:spcPts val="1000"/>
              </a:spcBef>
              <a:defRPr/>
            </a:pPr>
            <a:r>
              <a:rPr lang="en-US" altLang="en-US" sz="2000" dirty="0">
                <a:solidFill>
                  <a:schemeClr val="tx2"/>
                </a:solidFill>
              </a:rPr>
              <a:t>Highly liquid asset is one that can be quickly sold without significant loss of value, while an illiquid asset is one that cannot be quickly converted to cash without a substantial price reduction.</a:t>
            </a:r>
          </a:p>
        </p:txBody>
      </p:sp>
      <p:sp>
        <p:nvSpPr>
          <p:cNvPr id="5" name="Content Placeholder 4">
            <a:extLst>
              <a:ext uri="{FF2B5EF4-FFF2-40B4-BE49-F238E27FC236}">
                <a16:creationId xmlns:a16="http://schemas.microsoft.com/office/drawing/2014/main" id="{B86DFDAB-7DAD-4372-9719-553665B67580}"/>
              </a:ext>
            </a:extLst>
          </p:cNvPr>
          <p:cNvSpPr>
            <a:spLocks noGrp="1"/>
          </p:cNvSpPr>
          <p:nvPr>
            <p:ph sz="quarter" idx="15"/>
          </p:nvPr>
        </p:nvSpPr>
        <p:spPr>
          <a:xfrm>
            <a:off x="773723" y="3887487"/>
            <a:ext cx="9551377" cy="1654271"/>
          </a:xfrm>
        </p:spPr>
        <p:txBody>
          <a:bodyPr>
            <a:normAutofit/>
          </a:bodyPr>
          <a:lstStyle/>
          <a:p>
            <a:pPr marL="0" lvl="1" indent="0">
              <a:spcBef>
                <a:spcPts val="1000"/>
              </a:spcBef>
              <a:buNone/>
              <a:defRPr/>
            </a:pPr>
            <a:r>
              <a:rPr lang="en-US" altLang="en-US" sz="2000" dirty="0">
                <a:solidFill>
                  <a:schemeClr val="tx2"/>
                </a:solidFill>
              </a:rPr>
              <a:t>Assets are normally listed on the balance sheet in order of decreasing liquidity, with current assets being relatively liquid and fixed assets being relatively illiquid.</a:t>
            </a:r>
          </a:p>
          <a:p>
            <a:pPr marL="291600" lvl="1" indent="-291600">
              <a:spcBef>
                <a:spcPts val="1000"/>
              </a:spcBef>
              <a:defRPr/>
            </a:pPr>
            <a:r>
              <a:rPr lang="en-US" altLang="en-US" sz="2000" dirty="0">
                <a:solidFill>
                  <a:schemeClr val="tx2"/>
                </a:solidFill>
              </a:rPr>
              <a:t>The more liquid a business, the less likely it is to experience financial distress.</a:t>
            </a:r>
          </a:p>
          <a:p>
            <a:pPr marL="291600" lvl="1" indent="-291600">
              <a:spcBef>
                <a:spcPts val="1000"/>
              </a:spcBef>
              <a:defRPr/>
            </a:pPr>
            <a:r>
              <a:rPr lang="en-US" sz="2000" dirty="0"/>
              <a:t>Liquid assets usually do not earn returns.</a:t>
            </a:r>
          </a:p>
          <a:p>
            <a:pPr marL="291600" lvl="1" indent="-291600">
              <a:spcBef>
                <a:spcPts val="1000"/>
              </a:spcBef>
              <a:defRPr/>
            </a:pPr>
            <a:endParaRPr lang="en-US" sz="2000" dirty="0"/>
          </a:p>
        </p:txBody>
      </p:sp>
      <p:sp>
        <p:nvSpPr>
          <p:cNvPr id="11" name="Slide Number Placeholder 10">
            <a:extLst>
              <a:ext uri="{FF2B5EF4-FFF2-40B4-BE49-F238E27FC236}">
                <a16:creationId xmlns:a16="http://schemas.microsoft.com/office/drawing/2014/main" id="{6360E267-8463-4DAB-AB57-3D1741817905}"/>
              </a:ext>
            </a:extLst>
          </p:cNvPr>
          <p:cNvSpPr>
            <a:spLocks noGrp="1"/>
          </p:cNvSpPr>
          <p:nvPr>
            <p:ph type="sldNum" sz="quarter" idx="10"/>
          </p:nvPr>
        </p:nvSpPr>
        <p:spPr/>
        <p:txBody>
          <a:bodyPr/>
          <a:lstStyle/>
          <a:p>
            <a:fld id="{68151E55-6873-49E2-B8D5-2F265E6F1973}" type="slidenum">
              <a:rPr lang="en-US" smtClean="0"/>
              <a:t>8</a:t>
            </a:fld>
            <a:endParaRPr lang="en-US" dirty="0"/>
          </a:p>
        </p:txBody>
      </p:sp>
    </p:spTree>
    <p:extLst>
      <p:ext uri="{BB962C8B-B14F-4D97-AF65-F5344CB8AC3E}">
        <p14:creationId xmlns:p14="http://schemas.microsoft.com/office/powerpoint/2010/main" val="2512753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FA41F-12AC-EE73-6214-E7EDEDC4B0BE}"/>
              </a:ext>
            </a:extLst>
          </p:cNvPr>
          <p:cNvSpPr>
            <a:spLocks noGrp="1"/>
          </p:cNvSpPr>
          <p:nvPr>
            <p:ph type="title"/>
          </p:nvPr>
        </p:nvSpPr>
        <p:spPr>
          <a:ln>
            <a:solidFill>
              <a:schemeClr val="tx1"/>
            </a:solidFill>
          </a:ln>
        </p:spPr>
        <p:txBody>
          <a:bodyPr>
            <a:normAutofit/>
          </a:bodyPr>
          <a:lstStyle/>
          <a:p>
            <a:r>
              <a:rPr lang="en-US" altLang="en-US" noProof="0" dirty="0">
                <a:solidFill>
                  <a:schemeClr val="tx2"/>
                </a:solidFill>
              </a:rPr>
              <a:t>Debt versus equity</a:t>
            </a:r>
            <a:endParaRPr lang="en-US" dirty="0"/>
          </a:p>
        </p:txBody>
      </p:sp>
      <p:sp>
        <p:nvSpPr>
          <p:cNvPr id="8" name="Content Placeholder 7">
            <a:extLst>
              <a:ext uri="{FF2B5EF4-FFF2-40B4-BE49-F238E27FC236}">
                <a16:creationId xmlns:a16="http://schemas.microsoft.com/office/drawing/2014/main" id="{7A95C180-912E-1430-D736-42BB08A48F43}"/>
              </a:ext>
            </a:extLst>
          </p:cNvPr>
          <p:cNvSpPr>
            <a:spLocks noGrp="1"/>
          </p:cNvSpPr>
          <p:nvPr>
            <p:ph sz="quarter" idx="18"/>
          </p:nvPr>
        </p:nvSpPr>
        <p:spPr>
          <a:xfrm>
            <a:off x="539262" y="1345475"/>
            <a:ext cx="9785838" cy="4633294"/>
          </a:xfrm>
        </p:spPr>
        <p:txBody>
          <a:bodyPr>
            <a:normAutofit fontScale="25000" lnSpcReduction="20000"/>
          </a:bodyPr>
          <a:lstStyle/>
          <a:p>
            <a:r>
              <a:rPr lang="en-US" sz="9600" b="0" i="0" dirty="0">
                <a:solidFill>
                  <a:srgbClr val="111111"/>
                </a:solidFill>
                <a:effectLst/>
                <a:highlight>
                  <a:srgbClr val="FFFFFF"/>
                </a:highlight>
                <a:latin typeface="SourceSansPro"/>
              </a:rPr>
              <a:t> companies primarily have two types of financing as an option, equity financing and debt financing.</a:t>
            </a:r>
          </a:p>
          <a:p>
            <a:r>
              <a:rPr lang="en-US" sz="9600" b="0" i="0" dirty="0">
                <a:solidFill>
                  <a:srgbClr val="111111"/>
                </a:solidFill>
                <a:effectLst/>
                <a:highlight>
                  <a:srgbClr val="FFFFFF"/>
                </a:highlight>
                <a:latin typeface="SourceSansPro"/>
              </a:rPr>
              <a:t>Most companies use a combination of debt </a:t>
            </a:r>
            <a:r>
              <a:rPr lang="en-US" sz="9600" dirty="0">
                <a:solidFill>
                  <a:srgbClr val="111111"/>
                </a:solidFill>
                <a:highlight>
                  <a:srgbClr val="FFFFFF"/>
                </a:highlight>
                <a:latin typeface="SourceSansPro"/>
              </a:rPr>
              <a:t>and equity financing.</a:t>
            </a:r>
          </a:p>
          <a:p>
            <a:pPr algn="l"/>
            <a:r>
              <a:rPr lang="en-US" sz="9600" b="0" i="0" dirty="0">
                <a:solidFill>
                  <a:srgbClr val="111111"/>
                </a:solidFill>
                <a:effectLst/>
                <a:highlight>
                  <a:srgbClr val="FFFFFF"/>
                </a:highlight>
                <a:latin typeface="SourceSansPro"/>
              </a:rPr>
              <a:t>Debt financing involves borrowing of money and add fixed financial obligations on the company (interest), whereas equity financing involves selling equity in the company.</a:t>
            </a:r>
          </a:p>
          <a:p>
            <a:pPr algn="l"/>
            <a:r>
              <a:rPr lang="en-US" sz="9600" b="0" i="0" dirty="0">
                <a:solidFill>
                  <a:srgbClr val="111111"/>
                </a:solidFill>
                <a:effectLst/>
                <a:highlight>
                  <a:srgbClr val="FFFFFF"/>
                </a:highlight>
                <a:latin typeface="SourceSansPro"/>
              </a:rPr>
              <a:t>With equity financing there is no obligation to repay the money raided through it.</a:t>
            </a:r>
          </a:p>
          <a:p>
            <a:pPr algn="l"/>
            <a:r>
              <a:rPr lang="en-US" sz="9600" b="0" i="0" dirty="0">
                <a:solidFill>
                  <a:srgbClr val="111111"/>
                </a:solidFill>
                <a:effectLst/>
                <a:highlight>
                  <a:srgbClr val="FFFFFF"/>
                </a:highlight>
                <a:latin typeface="SourceSansPro"/>
              </a:rPr>
              <a:t>Equity financing places no additional financial burden on the company since there is no obligation to repay such funds.</a:t>
            </a:r>
          </a:p>
          <a:p>
            <a:pPr algn="l"/>
            <a:r>
              <a:rPr lang="en-US" sz="9600" b="0" i="0" dirty="0">
                <a:solidFill>
                  <a:srgbClr val="111111"/>
                </a:solidFill>
                <a:effectLst/>
                <a:highlight>
                  <a:srgbClr val="FFFFFF"/>
                </a:highlight>
                <a:latin typeface="SourceSansPro"/>
              </a:rPr>
              <a:t>With debt financing a business owner does not give up any control of the business, as they do with equity financing.</a:t>
            </a:r>
          </a:p>
          <a:p>
            <a:endParaRPr lang="en-US" dirty="0"/>
          </a:p>
        </p:txBody>
      </p:sp>
      <p:sp>
        <p:nvSpPr>
          <p:cNvPr id="11" name="Slide Number Placeholder 10">
            <a:extLst>
              <a:ext uri="{FF2B5EF4-FFF2-40B4-BE49-F238E27FC236}">
                <a16:creationId xmlns:a16="http://schemas.microsoft.com/office/drawing/2014/main" id="{89A11090-1116-5AEB-D8FA-8066DFC8FAD4}"/>
              </a:ext>
            </a:extLst>
          </p:cNvPr>
          <p:cNvSpPr>
            <a:spLocks noGrp="1"/>
          </p:cNvSpPr>
          <p:nvPr>
            <p:ph type="sldNum" sz="quarter" idx="10"/>
          </p:nvPr>
        </p:nvSpPr>
        <p:spPr/>
        <p:txBody>
          <a:bodyPr/>
          <a:lstStyle/>
          <a:p>
            <a:fld id="{68151E55-6873-49E2-B8D5-2F265E6F1973}" type="slidenum">
              <a:rPr lang="en-US" smtClean="0"/>
              <a:t>9</a:t>
            </a:fld>
            <a:endParaRPr lang="en-US" dirty="0"/>
          </a:p>
        </p:txBody>
      </p:sp>
    </p:spTree>
    <p:extLst>
      <p:ext uri="{BB962C8B-B14F-4D97-AF65-F5344CB8AC3E}">
        <p14:creationId xmlns:p14="http://schemas.microsoft.com/office/powerpoint/2010/main" val="14553269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0900-231A-750E-17FD-CB7149E676E0}"/>
              </a:ext>
            </a:extLst>
          </p:cNvPr>
          <p:cNvSpPr>
            <a:spLocks noGrp="1"/>
          </p:cNvSpPr>
          <p:nvPr>
            <p:ph type="title"/>
          </p:nvPr>
        </p:nvSpPr>
        <p:spPr>
          <a:ln>
            <a:solidFill>
              <a:schemeClr val="tx1"/>
            </a:solidFill>
          </a:ln>
        </p:spPr>
        <p:txBody>
          <a:bodyPr>
            <a:normAutofit/>
          </a:bodyPr>
          <a:lstStyle/>
          <a:p>
            <a:r>
              <a:rPr lang="en-US" altLang="en-US" sz="3600" dirty="0"/>
              <a:t>Market Value Versus Book Value</a:t>
            </a:r>
            <a:endParaRPr lang="en-US" sz="3600" dirty="0"/>
          </a:p>
        </p:txBody>
      </p:sp>
      <p:sp>
        <p:nvSpPr>
          <p:cNvPr id="3" name="Content Placeholder 2">
            <a:extLst>
              <a:ext uri="{FF2B5EF4-FFF2-40B4-BE49-F238E27FC236}">
                <a16:creationId xmlns:a16="http://schemas.microsoft.com/office/drawing/2014/main" id="{3D2AA701-1029-9D73-5B2A-3342486B23AE}"/>
              </a:ext>
            </a:extLst>
          </p:cNvPr>
          <p:cNvSpPr>
            <a:spLocks noGrp="1"/>
          </p:cNvSpPr>
          <p:nvPr>
            <p:ph sz="quarter" idx="11"/>
          </p:nvPr>
        </p:nvSpPr>
        <p:spPr>
          <a:xfrm>
            <a:off x="562708" y="1184550"/>
            <a:ext cx="9762392" cy="3397841"/>
          </a:xfrm>
        </p:spPr>
        <p:txBody>
          <a:bodyPr>
            <a:normAutofit/>
          </a:bodyPr>
          <a:lstStyle/>
          <a:p>
            <a:pPr marL="0" indent="0">
              <a:buNone/>
              <a:defRPr/>
            </a:pPr>
            <a:r>
              <a:rPr lang="en-US" altLang="en-US" noProof="0" dirty="0">
                <a:solidFill>
                  <a:schemeClr val="tx2"/>
                </a:solidFill>
              </a:rPr>
              <a:t>Values on balance sheet for the firm’s assets and equity are </a:t>
            </a:r>
            <a:r>
              <a:rPr lang="en-US" altLang="en-US" i="1" noProof="0" dirty="0">
                <a:solidFill>
                  <a:schemeClr val="tx2"/>
                </a:solidFill>
              </a:rPr>
              <a:t>book values </a:t>
            </a:r>
            <a:r>
              <a:rPr lang="en-US" altLang="en-US" noProof="0" dirty="0">
                <a:solidFill>
                  <a:schemeClr val="tx2"/>
                </a:solidFill>
              </a:rPr>
              <a:t>and generally are not what the assets are actually worth.</a:t>
            </a:r>
          </a:p>
          <a:p>
            <a:pPr marL="291600" lvl="1" indent="-291600">
              <a:defRPr/>
            </a:pPr>
            <a:r>
              <a:rPr lang="en-US" altLang="en-US" sz="2200" dirty="0">
                <a:solidFill>
                  <a:schemeClr val="tx2"/>
                </a:solidFill>
              </a:rPr>
              <a:t>Under </a:t>
            </a:r>
            <a:r>
              <a:rPr lang="en-US" altLang="en-US" sz="2200" b="1" dirty="0">
                <a:solidFill>
                  <a:schemeClr val="tx2"/>
                </a:solidFill>
              </a:rPr>
              <a:t>generally accepted accounting principles (G</a:t>
            </a:r>
            <a:r>
              <a:rPr lang="en-US" altLang="en-US" sz="100" b="1" dirty="0">
                <a:solidFill>
                  <a:schemeClr val="tx2"/>
                </a:solidFill>
              </a:rPr>
              <a:t> </a:t>
            </a:r>
            <a:r>
              <a:rPr lang="en-US" altLang="en-US" sz="2200" b="1" dirty="0">
                <a:solidFill>
                  <a:schemeClr val="tx2"/>
                </a:solidFill>
              </a:rPr>
              <a:t>A</a:t>
            </a:r>
            <a:r>
              <a:rPr lang="en-US" altLang="en-US" sz="100" b="1" dirty="0">
                <a:solidFill>
                  <a:schemeClr val="tx2"/>
                </a:solidFill>
              </a:rPr>
              <a:t> </a:t>
            </a:r>
            <a:r>
              <a:rPr lang="en-US" altLang="en-US" sz="2200" b="1" dirty="0" err="1">
                <a:solidFill>
                  <a:schemeClr val="tx2"/>
                </a:solidFill>
              </a:rPr>
              <a:t>A</a:t>
            </a:r>
            <a:r>
              <a:rPr lang="en-US" altLang="en-US" sz="100" b="1" dirty="0">
                <a:solidFill>
                  <a:schemeClr val="tx2"/>
                </a:solidFill>
              </a:rPr>
              <a:t> </a:t>
            </a:r>
            <a:r>
              <a:rPr lang="en-US" altLang="en-US" sz="2200" b="1" dirty="0">
                <a:solidFill>
                  <a:schemeClr val="tx2"/>
                </a:solidFill>
              </a:rPr>
              <a:t>P)</a:t>
            </a:r>
            <a:r>
              <a:rPr lang="en-US" altLang="en-US" sz="2200" dirty="0">
                <a:solidFill>
                  <a:schemeClr val="tx2"/>
                </a:solidFill>
              </a:rPr>
              <a:t>, audited financial statements in the U.S. mostly show assets at </a:t>
            </a:r>
            <a:r>
              <a:rPr lang="en-US" altLang="en-US" sz="2200" i="1" dirty="0">
                <a:solidFill>
                  <a:schemeClr val="tx2"/>
                </a:solidFill>
              </a:rPr>
              <a:t>historical cost </a:t>
            </a:r>
            <a:r>
              <a:rPr lang="en-US" altLang="en-US" sz="2200" dirty="0">
                <a:solidFill>
                  <a:schemeClr val="tx2"/>
                </a:solidFill>
              </a:rPr>
              <a:t>(that is, assets are “carried on the book” at what the firm paid for them, no matter how long ago they were purchased or how much they are worth today).</a:t>
            </a:r>
          </a:p>
          <a:p>
            <a:pPr marL="291600" lvl="1" indent="-291600">
              <a:defRPr/>
            </a:pPr>
            <a:r>
              <a:rPr lang="en-US" altLang="en-US" sz="2200" dirty="0">
                <a:solidFill>
                  <a:schemeClr val="tx2"/>
                </a:solidFill>
              </a:rPr>
              <a:t>No necessary connection between total assets shown on the balance sheet and the value of the firm.</a:t>
            </a:r>
            <a:endParaRPr lang="en-US" noProof="0" dirty="0"/>
          </a:p>
        </p:txBody>
      </p:sp>
      <p:sp>
        <p:nvSpPr>
          <p:cNvPr id="6" name="Content Placeholder 5">
            <a:extLst>
              <a:ext uri="{FF2B5EF4-FFF2-40B4-BE49-F238E27FC236}">
                <a16:creationId xmlns:a16="http://schemas.microsoft.com/office/drawing/2014/main" id="{DA68370D-56FF-403B-BD52-ED17F968D1D3}"/>
              </a:ext>
            </a:extLst>
          </p:cNvPr>
          <p:cNvSpPr>
            <a:spLocks noGrp="1"/>
          </p:cNvSpPr>
          <p:nvPr>
            <p:ph sz="quarter" idx="14"/>
          </p:nvPr>
        </p:nvSpPr>
        <p:spPr>
          <a:xfrm>
            <a:off x="738554" y="4671218"/>
            <a:ext cx="9586546" cy="1905000"/>
          </a:xfrm>
        </p:spPr>
        <p:txBody>
          <a:bodyPr/>
          <a:lstStyle/>
          <a:p>
            <a:pPr marL="114706" indent="0">
              <a:buNone/>
              <a:defRPr/>
            </a:pPr>
            <a:r>
              <a:rPr lang="en-US" altLang="en-US" noProof="0" dirty="0">
                <a:solidFill>
                  <a:schemeClr val="tx2"/>
                </a:solidFill>
              </a:rPr>
              <a:t>For financial managers, accounting value of stock is not especially important; it is the </a:t>
            </a:r>
            <a:r>
              <a:rPr lang="en-US" altLang="en-US" i="1" noProof="0" dirty="0">
                <a:solidFill>
                  <a:schemeClr val="tx2"/>
                </a:solidFill>
              </a:rPr>
              <a:t>market value </a:t>
            </a:r>
            <a:r>
              <a:rPr lang="en-US" altLang="en-US" noProof="0" dirty="0">
                <a:solidFill>
                  <a:schemeClr val="tx2"/>
                </a:solidFill>
              </a:rPr>
              <a:t>that matters.</a:t>
            </a:r>
          </a:p>
          <a:p>
            <a:pPr marL="291600" lvl="1" indent="-291600">
              <a:defRPr/>
            </a:pPr>
            <a:r>
              <a:rPr lang="en-US" altLang="en-US" sz="2200" dirty="0">
                <a:solidFill>
                  <a:schemeClr val="tx2"/>
                </a:solidFill>
              </a:rPr>
              <a:t>Market value of an asset depends on things like its riskiness and cash flows, neither of which have anything to do with accounting.</a:t>
            </a:r>
            <a:endParaRPr lang="en-US" noProof="0" dirty="0"/>
          </a:p>
        </p:txBody>
      </p:sp>
      <p:sp>
        <p:nvSpPr>
          <p:cNvPr id="7" name="Slide Number Placeholder 6">
            <a:extLst>
              <a:ext uri="{FF2B5EF4-FFF2-40B4-BE49-F238E27FC236}">
                <a16:creationId xmlns:a16="http://schemas.microsoft.com/office/drawing/2014/main" id="{05FBC17C-7BC0-1C7C-7F03-FED4F2A70EB1}"/>
              </a:ext>
            </a:extLst>
          </p:cNvPr>
          <p:cNvSpPr>
            <a:spLocks noGrp="1"/>
          </p:cNvSpPr>
          <p:nvPr>
            <p:ph type="sldNum" sz="quarter" idx="10"/>
          </p:nvPr>
        </p:nvSpPr>
        <p:spPr/>
        <p:txBody>
          <a:bodyPr/>
          <a:lstStyle/>
          <a:p>
            <a:fld id="{68151E55-6873-49E2-B8D5-2F265E6F1973}" type="slidenum">
              <a:rPr lang="en-US" smtClean="0"/>
              <a:t>10</a:t>
            </a:fld>
            <a:endParaRPr lang="en-US"/>
          </a:p>
        </p:txBody>
      </p:sp>
    </p:spTree>
    <p:extLst>
      <p:ext uri="{BB962C8B-B14F-4D97-AF65-F5344CB8AC3E}">
        <p14:creationId xmlns:p14="http://schemas.microsoft.com/office/powerpoint/2010/main" val="3249757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08F86-A1ED-4197-969A-FFAF71566CDA}"/>
              </a:ext>
            </a:extLst>
          </p:cNvPr>
          <p:cNvSpPr>
            <a:spLocks noGrp="1"/>
          </p:cNvSpPr>
          <p:nvPr>
            <p:ph type="title"/>
          </p:nvPr>
        </p:nvSpPr>
        <p:spPr>
          <a:xfrm>
            <a:off x="1866900" y="192490"/>
            <a:ext cx="8458200" cy="914356"/>
          </a:xfrm>
          <a:ln>
            <a:solidFill>
              <a:schemeClr val="tx1"/>
            </a:solidFill>
          </a:ln>
        </p:spPr>
        <p:txBody>
          <a:bodyPr>
            <a:noAutofit/>
          </a:bodyPr>
          <a:lstStyle/>
          <a:p>
            <a:r>
              <a:rPr lang="en-US" altLang="en-US" sz="2800" dirty="0"/>
              <a:t>U.S. Corporation 2023 and 2024 Balance Sheets</a:t>
            </a:r>
            <a:endParaRPr lang="en-US" sz="2800" dirty="0"/>
          </a:p>
        </p:txBody>
      </p:sp>
      <p:sp>
        <p:nvSpPr>
          <p:cNvPr id="3" name="Content Placeholder 2">
            <a:extLst>
              <a:ext uri="{FF2B5EF4-FFF2-40B4-BE49-F238E27FC236}">
                <a16:creationId xmlns:a16="http://schemas.microsoft.com/office/drawing/2014/main" id="{AD862A18-A50B-4384-945C-CCBC2B3A6F9F}"/>
              </a:ext>
            </a:extLst>
          </p:cNvPr>
          <p:cNvSpPr>
            <a:spLocks noGrp="1"/>
          </p:cNvSpPr>
          <p:nvPr>
            <p:ph sz="quarter" idx="11"/>
          </p:nvPr>
        </p:nvSpPr>
        <p:spPr>
          <a:xfrm>
            <a:off x="1866900" y="1276710"/>
            <a:ext cx="8458200" cy="822254"/>
          </a:xfrm>
        </p:spPr>
        <p:txBody>
          <a:bodyPr/>
          <a:lstStyle/>
          <a:p>
            <a:pPr marL="0" indent="0" algn="ctr">
              <a:buNone/>
            </a:pPr>
            <a:r>
              <a:rPr lang="en-US" sz="2400" b="1" dirty="0"/>
              <a:t>U.S. CORPORATION</a:t>
            </a:r>
            <a:br>
              <a:rPr lang="en-US" sz="2400" b="1" dirty="0"/>
            </a:br>
            <a:r>
              <a:rPr lang="en-US" sz="2400" b="1" dirty="0"/>
              <a:t>2023 and 2024 Balance Sheets (in $ millions)</a:t>
            </a:r>
          </a:p>
        </p:txBody>
      </p:sp>
      <p:graphicFrame>
        <p:nvGraphicFramePr>
          <p:cNvPr id="8" name="Table 8">
            <a:extLst>
              <a:ext uri="{FF2B5EF4-FFF2-40B4-BE49-F238E27FC236}">
                <a16:creationId xmlns:a16="http://schemas.microsoft.com/office/drawing/2014/main" id="{E234D386-C616-40FC-9495-EC93C1E6513D}"/>
              </a:ext>
            </a:extLst>
          </p:cNvPr>
          <p:cNvGraphicFramePr>
            <a:graphicFrameLocks noGrp="1"/>
          </p:cNvGraphicFramePr>
          <p:nvPr/>
        </p:nvGraphicFramePr>
        <p:xfrm>
          <a:off x="1866902" y="2220482"/>
          <a:ext cx="8283510" cy="4206240"/>
        </p:xfrm>
        <a:graphic>
          <a:graphicData uri="http://schemas.openxmlformats.org/drawingml/2006/table">
            <a:tbl>
              <a:tblPr firstRow="1" bandRow="1">
                <a:tableStyleId>{2D5ABB26-0587-4C30-8999-92F81FD0307C}</a:tableStyleId>
              </a:tblPr>
              <a:tblGrid>
                <a:gridCol w="1932707">
                  <a:extLst>
                    <a:ext uri="{9D8B030D-6E8A-4147-A177-3AD203B41FA5}">
                      <a16:colId xmlns:a16="http://schemas.microsoft.com/office/drawing/2014/main" val="802552312"/>
                    </a:ext>
                  </a:extLst>
                </a:gridCol>
                <a:gridCol w="1288473">
                  <a:extLst>
                    <a:ext uri="{9D8B030D-6E8A-4147-A177-3AD203B41FA5}">
                      <a16:colId xmlns:a16="http://schemas.microsoft.com/office/drawing/2014/main" val="2778655903"/>
                    </a:ext>
                  </a:extLst>
                </a:gridCol>
                <a:gridCol w="920575">
                  <a:extLst>
                    <a:ext uri="{9D8B030D-6E8A-4147-A177-3AD203B41FA5}">
                      <a16:colId xmlns:a16="http://schemas.microsoft.com/office/drawing/2014/main" val="2519003888"/>
                    </a:ext>
                  </a:extLst>
                </a:gridCol>
                <a:gridCol w="2435690">
                  <a:extLst>
                    <a:ext uri="{9D8B030D-6E8A-4147-A177-3AD203B41FA5}">
                      <a16:colId xmlns:a16="http://schemas.microsoft.com/office/drawing/2014/main" val="3105041329"/>
                    </a:ext>
                  </a:extLst>
                </a:gridCol>
                <a:gridCol w="841664">
                  <a:extLst>
                    <a:ext uri="{9D8B030D-6E8A-4147-A177-3AD203B41FA5}">
                      <a16:colId xmlns:a16="http://schemas.microsoft.com/office/drawing/2014/main" val="2601496514"/>
                    </a:ext>
                  </a:extLst>
                </a:gridCol>
                <a:gridCol w="864401">
                  <a:extLst>
                    <a:ext uri="{9D8B030D-6E8A-4147-A177-3AD203B41FA5}">
                      <a16:colId xmlns:a16="http://schemas.microsoft.com/office/drawing/2014/main" val="3612326608"/>
                    </a:ext>
                  </a:extLst>
                </a:gridCol>
              </a:tblGrid>
              <a:tr h="160674">
                <a:tc>
                  <a:txBody>
                    <a:bodyPr/>
                    <a:lstStyle/>
                    <a:p>
                      <a:endParaRPr lang="en-US" sz="1200" b="0" dirty="0">
                        <a:solidFill>
                          <a:schemeClr val="tx1"/>
                        </a:solidFill>
                      </a:endParaRPr>
                    </a:p>
                  </a:txBody>
                  <a:tcPr/>
                </a:tc>
                <a:tc>
                  <a:txBody>
                    <a:bodyPr/>
                    <a:lstStyle/>
                    <a:p>
                      <a:pPr algn="l"/>
                      <a:r>
                        <a:rPr lang="en-US" sz="1200" b="1" dirty="0">
                          <a:solidFill>
                            <a:schemeClr val="tx1"/>
                          </a:solidFill>
                        </a:rPr>
                        <a:t>Assets</a:t>
                      </a:r>
                    </a:p>
                  </a:txBody>
                  <a:tcPr/>
                </a:tc>
                <a:tc>
                  <a:txBody>
                    <a:bodyPr/>
                    <a:lstStyle/>
                    <a:p>
                      <a:endParaRPr lang="en-US" sz="1200" b="1" dirty="0">
                        <a:solidFill>
                          <a:schemeClr val="tx1"/>
                        </a:solidFill>
                      </a:endParaRPr>
                    </a:p>
                  </a:txBody>
                  <a:tcPr/>
                </a:tc>
                <a:tc>
                  <a:txBody>
                    <a:bodyPr/>
                    <a:lstStyle/>
                    <a:p>
                      <a:pPr algn="r"/>
                      <a:r>
                        <a:rPr lang="en-US" sz="1200" b="1" dirty="0">
                          <a:solidFill>
                            <a:schemeClr val="tx1"/>
                          </a:solidFill>
                        </a:rPr>
                        <a:t>Liabilities and </a:t>
                      </a:r>
                      <a:r>
                        <a:rPr lang="en-US" sz="1200" dirty="0">
                          <a:solidFill>
                            <a:schemeClr val="tx1"/>
                          </a:solidFill>
                        </a:rPr>
                        <a:t>owners’</a:t>
                      </a:r>
                      <a:r>
                        <a:rPr lang="en-US" sz="1200" b="1" dirty="0">
                          <a:solidFill>
                            <a:schemeClr val="tx1"/>
                          </a:solidFill>
                        </a:rPr>
                        <a:t> Equity</a:t>
                      </a:r>
                    </a:p>
                  </a:txBody>
                  <a:tcPr/>
                </a:tc>
                <a:tc>
                  <a:txBody>
                    <a:bodyPr/>
                    <a:lstStyle/>
                    <a:p>
                      <a:endParaRPr lang="en-US" sz="1200" b="0" dirty="0">
                        <a:solidFill>
                          <a:schemeClr val="tx1"/>
                        </a:solidFill>
                      </a:endParaRPr>
                    </a:p>
                  </a:txBody>
                  <a:tcPr/>
                </a:tc>
                <a:tc>
                  <a:txBody>
                    <a:bodyPr/>
                    <a:lstStyle/>
                    <a:p>
                      <a:endParaRPr lang="en-US" sz="1200" b="0" dirty="0">
                        <a:solidFill>
                          <a:schemeClr val="tx1"/>
                        </a:solidFill>
                      </a:endParaRPr>
                    </a:p>
                  </a:txBody>
                  <a:tcPr/>
                </a:tc>
                <a:extLst>
                  <a:ext uri="{0D108BD9-81ED-4DB2-BD59-A6C34878D82A}">
                    <a16:rowId xmlns:a16="http://schemas.microsoft.com/office/drawing/2014/main" val="3784183384"/>
                  </a:ext>
                </a:extLst>
              </a:tr>
              <a:tr h="0">
                <a:tc>
                  <a:txBody>
                    <a:bodyPr/>
                    <a:lstStyle/>
                    <a:p>
                      <a:endParaRPr lang="en-US" sz="1200" dirty="0"/>
                    </a:p>
                  </a:txBody>
                  <a:tcPr/>
                </a:tc>
                <a:tc>
                  <a:txBody>
                    <a:bodyPr/>
                    <a:lstStyle/>
                    <a:p>
                      <a:pPr algn="r"/>
                      <a:r>
                        <a:rPr lang="en-IN" sz="1200" b="1" u="none" baseline="0" dirty="0"/>
                        <a:t>2023</a:t>
                      </a:r>
                      <a:endParaRPr lang="en-US" sz="1200" b="1" u="none" baseline="0" dirty="0"/>
                    </a:p>
                  </a:txBody>
                  <a:tcPr/>
                </a:tc>
                <a:tc>
                  <a:txBody>
                    <a:bodyPr/>
                    <a:lstStyle/>
                    <a:p>
                      <a:pPr algn="r"/>
                      <a:r>
                        <a:rPr lang="en-IN" sz="1200" b="1" u="none" baseline="0" dirty="0"/>
                        <a:t>2024</a:t>
                      </a:r>
                      <a:endParaRPr lang="en-US" sz="1200" b="1" u="none" baseline="0" dirty="0"/>
                    </a:p>
                  </a:txBody>
                  <a:tcPr/>
                </a:tc>
                <a:tc>
                  <a:txBody>
                    <a:bodyPr/>
                    <a:lstStyle/>
                    <a:p>
                      <a:pPr algn="ctr"/>
                      <a:endParaRPr lang="en-US" sz="1200" b="1" dirty="0"/>
                    </a:p>
                  </a:txBody>
                  <a:tcPr/>
                </a:tc>
                <a:tc>
                  <a:txBody>
                    <a:bodyPr/>
                    <a:lstStyle/>
                    <a:p>
                      <a:pPr algn="r"/>
                      <a:r>
                        <a:rPr lang="en-IN" sz="1200" b="1" u="none" baseline="0" dirty="0"/>
                        <a:t>2023</a:t>
                      </a:r>
                      <a:endParaRPr lang="en-US" sz="1200" b="1" u="none" baseline="0" dirty="0"/>
                    </a:p>
                  </a:txBody>
                  <a:tcPr/>
                </a:tc>
                <a:tc>
                  <a:txBody>
                    <a:bodyPr/>
                    <a:lstStyle/>
                    <a:p>
                      <a:pPr algn="r"/>
                      <a:r>
                        <a:rPr lang="en-IN" sz="1200" b="1" u="none" baseline="0" dirty="0"/>
                        <a:t>2024</a:t>
                      </a:r>
                      <a:endParaRPr lang="en-US" sz="1200" b="1" u="none" baseline="0" dirty="0"/>
                    </a:p>
                  </a:txBody>
                  <a:tcPr/>
                </a:tc>
                <a:extLst>
                  <a:ext uri="{0D108BD9-81ED-4DB2-BD59-A6C34878D82A}">
                    <a16:rowId xmlns:a16="http://schemas.microsoft.com/office/drawing/2014/main" val="3486704405"/>
                  </a:ext>
                </a:extLst>
              </a:tr>
              <a:tr h="0">
                <a:tc>
                  <a:txBody>
                    <a:bodyPr/>
                    <a:lstStyle/>
                    <a:p>
                      <a:r>
                        <a:rPr lang="en-US" sz="1200" dirty="0"/>
                        <a:t>Current assets</a:t>
                      </a:r>
                    </a:p>
                  </a:txBody>
                  <a:tcPr/>
                </a:tc>
                <a:tc>
                  <a:txBody>
                    <a:bodyPr/>
                    <a:lstStyle/>
                    <a:p>
                      <a:pPr algn="r"/>
                      <a:endParaRPr lang="en-US" sz="1200" u="none" baseline="0" dirty="0"/>
                    </a:p>
                  </a:txBody>
                  <a:tcPr/>
                </a:tc>
                <a:tc>
                  <a:txBody>
                    <a:bodyPr/>
                    <a:lstStyle/>
                    <a:p>
                      <a:pPr algn="r"/>
                      <a:endParaRPr lang="en-US" sz="1200" u="none" baseline="0" dirty="0"/>
                    </a:p>
                  </a:txBody>
                  <a:tcPr/>
                </a:tc>
                <a:tc>
                  <a:txBody>
                    <a:bodyPr/>
                    <a:lstStyle/>
                    <a:p>
                      <a:r>
                        <a:rPr lang="en-US" sz="1200" dirty="0"/>
                        <a:t>Current liabilities</a:t>
                      </a:r>
                    </a:p>
                  </a:txBody>
                  <a:tcPr/>
                </a:tc>
                <a:tc>
                  <a:txBody>
                    <a:bodyPr/>
                    <a:lstStyle/>
                    <a:p>
                      <a:pPr algn="r"/>
                      <a:endParaRPr lang="en-US" sz="1200" u="none" baseline="0" dirty="0"/>
                    </a:p>
                  </a:txBody>
                  <a:tcPr/>
                </a:tc>
                <a:tc>
                  <a:txBody>
                    <a:bodyPr/>
                    <a:lstStyle/>
                    <a:p>
                      <a:pPr algn="r"/>
                      <a:endParaRPr lang="en-US" sz="1200" u="none" baseline="0" dirty="0"/>
                    </a:p>
                  </a:txBody>
                  <a:tcPr/>
                </a:tc>
                <a:extLst>
                  <a:ext uri="{0D108BD9-81ED-4DB2-BD59-A6C34878D82A}">
                    <a16:rowId xmlns:a16="http://schemas.microsoft.com/office/drawing/2014/main" val="3437108726"/>
                  </a:ext>
                </a:extLst>
              </a:tr>
              <a:tr h="160674">
                <a:tc>
                  <a:txBody>
                    <a:bodyPr/>
                    <a:lstStyle/>
                    <a:p>
                      <a:pPr marL="0" indent="90488"/>
                      <a:r>
                        <a:rPr lang="en-US" sz="1200" dirty="0"/>
                        <a:t>Cash</a:t>
                      </a:r>
                    </a:p>
                  </a:txBody>
                  <a:tcPr/>
                </a:tc>
                <a:tc>
                  <a:txBody>
                    <a:bodyPr/>
                    <a:lstStyle/>
                    <a:p>
                      <a:pPr algn="r"/>
                      <a:r>
                        <a:rPr lang="en-IN" sz="1200" u="none" baseline="0" dirty="0"/>
                        <a:t>$  104</a:t>
                      </a:r>
                      <a:endParaRPr lang="en-US" sz="1200" u="none" baseline="0" dirty="0"/>
                    </a:p>
                  </a:txBody>
                  <a:tcPr/>
                </a:tc>
                <a:tc>
                  <a:txBody>
                    <a:bodyPr/>
                    <a:lstStyle/>
                    <a:p>
                      <a:pPr algn="r"/>
                      <a:r>
                        <a:rPr lang="en-IN" sz="1200" u="none" baseline="0" dirty="0"/>
                        <a:t>$  221</a:t>
                      </a:r>
                      <a:endParaRPr lang="en-US" sz="1200" u="none" baseline="0" dirty="0"/>
                    </a:p>
                  </a:txBody>
                  <a:tcPr/>
                </a:tc>
                <a:tc>
                  <a:txBody>
                    <a:bodyPr/>
                    <a:lstStyle/>
                    <a:p>
                      <a:pPr marL="0" indent="180975"/>
                      <a:r>
                        <a:rPr lang="en-US" sz="1200" dirty="0"/>
                        <a:t>Accounts payable</a:t>
                      </a:r>
                    </a:p>
                  </a:txBody>
                  <a:tcPr/>
                </a:tc>
                <a:tc>
                  <a:txBody>
                    <a:bodyPr/>
                    <a:lstStyle/>
                    <a:p>
                      <a:pPr algn="r"/>
                      <a:r>
                        <a:rPr lang="en-IN" sz="1200" u="none" baseline="0" dirty="0"/>
                        <a:t>$  232</a:t>
                      </a:r>
                      <a:endParaRPr lang="en-US" sz="1200" u="none" baseline="0" dirty="0"/>
                    </a:p>
                  </a:txBody>
                  <a:tcPr/>
                </a:tc>
                <a:tc>
                  <a:txBody>
                    <a:bodyPr/>
                    <a:lstStyle/>
                    <a:p>
                      <a:pPr algn="r"/>
                      <a:r>
                        <a:rPr lang="en-IN" sz="1200" u="none" baseline="0" dirty="0"/>
                        <a:t>$  266</a:t>
                      </a:r>
                      <a:endParaRPr lang="en-US" sz="1200" u="none" baseline="0" dirty="0"/>
                    </a:p>
                  </a:txBody>
                  <a:tcPr/>
                </a:tc>
                <a:extLst>
                  <a:ext uri="{0D108BD9-81ED-4DB2-BD59-A6C34878D82A}">
                    <a16:rowId xmlns:a16="http://schemas.microsoft.com/office/drawing/2014/main" val="25180284"/>
                  </a:ext>
                </a:extLst>
              </a:tr>
              <a:tr h="160674">
                <a:tc>
                  <a:txBody>
                    <a:bodyPr/>
                    <a:lstStyle/>
                    <a:p>
                      <a:pPr marL="0" indent="90488"/>
                      <a:r>
                        <a:rPr lang="en-US" sz="1200" dirty="0"/>
                        <a:t>Accounts receivable</a:t>
                      </a:r>
                    </a:p>
                  </a:txBody>
                  <a:tcPr/>
                </a:tc>
                <a:tc>
                  <a:txBody>
                    <a:bodyPr/>
                    <a:lstStyle/>
                    <a:p>
                      <a:pPr algn="r"/>
                      <a:r>
                        <a:rPr lang="en-IN" sz="1200" u="none" baseline="0" dirty="0"/>
                        <a:t>455</a:t>
                      </a:r>
                      <a:endParaRPr lang="en-US" sz="1200" u="none" baseline="0" dirty="0"/>
                    </a:p>
                  </a:txBody>
                  <a:tcPr/>
                </a:tc>
                <a:tc>
                  <a:txBody>
                    <a:bodyPr/>
                    <a:lstStyle/>
                    <a:p>
                      <a:pPr algn="r"/>
                      <a:r>
                        <a:rPr lang="en-IN" sz="1200" u="none" baseline="0" dirty="0">
                          <a:uFill>
                            <a:solidFill>
                              <a:srgbClr val="000000"/>
                            </a:solidFill>
                          </a:uFill>
                        </a:rPr>
                        <a:t>688</a:t>
                      </a:r>
                      <a:endParaRPr lang="en-US" sz="1200" u="none" baseline="0" dirty="0">
                        <a:uFill>
                          <a:solidFill>
                            <a:srgbClr val="000000"/>
                          </a:solidFill>
                        </a:uFill>
                      </a:endParaRPr>
                    </a:p>
                  </a:txBody>
                  <a:tcPr/>
                </a:tc>
                <a:tc>
                  <a:txBody>
                    <a:bodyPr/>
                    <a:lstStyle/>
                    <a:p>
                      <a:pPr marL="0" indent="180975"/>
                      <a:r>
                        <a:rPr lang="en-US" sz="1200" dirty="0"/>
                        <a:t>Notes payable</a:t>
                      </a:r>
                      <a:endParaRPr lang="en-US" sz="1200" u="dbl" baseline="0" dirty="0">
                        <a:uFill>
                          <a:solidFill>
                            <a:srgbClr val="000000"/>
                          </a:solidFill>
                        </a:uFill>
                      </a:endParaRPr>
                    </a:p>
                  </a:txBody>
                  <a:tcPr/>
                </a:tc>
                <a:tc>
                  <a:txBody>
                    <a:bodyPr/>
                    <a:lstStyle/>
                    <a:p>
                      <a:pPr algn="r"/>
                      <a:r>
                        <a:rPr lang="en-IN" sz="1200" u="sng" baseline="0" dirty="0">
                          <a:uFill>
                            <a:solidFill>
                              <a:srgbClr val="000000"/>
                            </a:solidFill>
                          </a:uFill>
                        </a:rPr>
                        <a:t>    196</a:t>
                      </a:r>
                      <a:endParaRPr lang="en-US" sz="1200" u="sng" baseline="0" dirty="0">
                        <a:uFill>
                          <a:solidFill>
                            <a:srgbClr val="000000"/>
                          </a:solidFill>
                        </a:uFill>
                      </a:endParaRPr>
                    </a:p>
                  </a:txBody>
                  <a:tcPr/>
                </a:tc>
                <a:tc>
                  <a:txBody>
                    <a:bodyPr/>
                    <a:lstStyle/>
                    <a:p>
                      <a:pPr algn="r"/>
                      <a:r>
                        <a:rPr lang="en-IN" sz="1200" u="sng" baseline="0" dirty="0">
                          <a:uFill>
                            <a:solidFill>
                              <a:srgbClr val="000000"/>
                            </a:solidFill>
                          </a:uFill>
                        </a:rPr>
                        <a:t>    123</a:t>
                      </a:r>
                      <a:endParaRPr lang="en-US" sz="1200" u="sng" baseline="0" dirty="0">
                        <a:uFill>
                          <a:solidFill>
                            <a:srgbClr val="000000"/>
                          </a:solidFill>
                        </a:uFill>
                      </a:endParaRPr>
                    </a:p>
                  </a:txBody>
                  <a:tcPr/>
                </a:tc>
                <a:extLst>
                  <a:ext uri="{0D108BD9-81ED-4DB2-BD59-A6C34878D82A}">
                    <a16:rowId xmlns:a16="http://schemas.microsoft.com/office/drawing/2014/main" val="4286433086"/>
                  </a:ext>
                </a:extLst>
              </a:tr>
              <a:tr h="0">
                <a:tc>
                  <a:txBody>
                    <a:bodyPr/>
                    <a:lstStyle/>
                    <a:p>
                      <a:pPr marL="0" indent="90488"/>
                      <a:r>
                        <a:rPr lang="en-US" sz="1200" dirty="0"/>
                        <a:t>Inventory</a:t>
                      </a:r>
                    </a:p>
                  </a:txBody>
                  <a:tcPr/>
                </a:tc>
                <a:tc>
                  <a:txBody>
                    <a:bodyPr/>
                    <a:lstStyle/>
                    <a:p>
                      <a:pPr algn="r"/>
                      <a:r>
                        <a:rPr lang="en-IN" sz="1200" u="sng" baseline="0" dirty="0">
                          <a:uFill>
                            <a:solidFill>
                              <a:srgbClr val="000000"/>
                            </a:solidFill>
                          </a:uFill>
                        </a:rPr>
                        <a:t>     553</a:t>
                      </a:r>
                      <a:endParaRPr lang="en-US" sz="1200" u="sng" baseline="0" dirty="0">
                        <a:uFill>
                          <a:solidFill>
                            <a:srgbClr val="000000"/>
                          </a:solidFill>
                        </a:uFill>
                      </a:endParaRPr>
                    </a:p>
                  </a:txBody>
                  <a:tcPr/>
                </a:tc>
                <a:tc>
                  <a:txBody>
                    <a:bodyPr/>
                    <a:lstStyle/>
                    <a:p>
                      <a:pPr algn="r"/>
                      <a:r>
                        <a:rPr lang="en-IN" sz="1200" u="sng" baseline="0" dirty="0">
                          <a:uFill>
                            <a:solidFill>
                              <a:srgbClr val="000000"/>
                            </a:solidFill>
                          </a:uFill>
                        </a:rPr>
                        <a:t>     555</a:t>
                      </a:r>
                      <a:endParaRPr lang="en-US" sz="1200" u="sng" baseline="0" dirty="0">
                        <a:uFill>
                          <a:solidFill>
                            <a:srgbClr val="000000"/>
                          </a:solidFill>
                        </a:uFill>
                      </a:endParaRPr>
                    </a:p>
                  </a:txBody>
                  <a:tcPr/>
                </a:tc>
                <a:tc>
                  <a:txBody>
                    <a:bodyPr/>
                    <a:lstStyle/>
                    <a:p>
                      <a:pPr marL="0" indent="180975"/>
                      <a:r>
                        <a:rPr lang="en-IN" sz="1200" u="none" baseline="0" dirty="0">
                          <a:uFill>
                            <a:solidFill>
                              <a:srgbClr val="000000"/>
                            </a:solidFill>
                          </a:uFill>
                        </a:rPr>
                        <a:t>Total</a:t>
                      </a:r>
                      <a:endParaRPr lang="en-US" sz="1200" u="none" baseline="0" dirty="0">
                        <a:uFill>
                          <a:solidFill>
                            <a:srgbClr val="000000"/>
                          </a:solidFill>
                        </a:uFill>
                      </a:endParaRPr>
                    </a:p>
                  </a:txBody>
                  <a:tcPr/>
                </a:tc>
                <a:tc>
                  <a:txBody>
                    <a:bodyPr/>
                    <a:lstStyle/>
                    <a:p>
                      <a:pPr algn="r"/>
                      <a:r>
                        <a:rPr lang="en-IN" sz="1200" u="sng" baseline="0" dirty="0">
                          <a:uFill>
                            <a:solidFill>
                              <a:srgbClr val="000000"/>
                            </a:solidFill>
                          </a:uFill>
                        </a:rPr>
                        <a:t>$  428</a:t>
                      </a:r>
                      <a:endParaRPr lang="en-US" sz="1200" u="sng" baseline="0" dirty="0">
                        <a:uFill>
                          <a:solidFill>
                            <a:srgbClr val="000000"/>
                          </a:solidFill>
                        </a:uFill>
                      </a:endParaRPr>
                    </a:p>
                  </a:txBody>
                  <a:tcPr/>
                </a:tc>
                <a:tc>
                  <a:txBody>
                    <a:bodyPr/>
                    <a:lstStyle/>
                    <a:p>
                      <a:pPr algn="r"/>
                      <a:r>
                        <a:rPr lang="en-IN" sz="1200" u="sng" baseline="0" dirty="0">
                          <a:uFill>
                            <a:solidFill>
                              <a:srgbClr val="000000"/>
                            </a:solidFill>
                          </a:uFill>
                        </a:rPr>
                        <a:t>$  389</a:t>
                      </a:r>
                      <a:endParaRPr lang="en-US" sz="1200" u="sng" baseline="0" dirty="0">
                        <a:uFill>
                          <a:solidFill>
                            <a:srgbClr val="000000"/>
                          </a:solidFill>
                        </a:uFill>
                      </a:endParaRPr>
                    </a:p>
                  </a:txBody>
                  <a:tcPr/>
                </a:tc>
                <a:extLst>
                  <a:ext uri="{0D108BD9-81ED-4DB2-BD59-A6C34878D82A}">
                    <a16:rowId xmlns:a16="http://schemas.microsoft.com/office/drawing/2014/main" val="1171990228"/>
                  </a:ext>
                </a:extLst>
              </a:tr>
              <a:tr h="0">
                <a:tc>
                  <a:txBody>
                    <a:bodyPr/>
                    <a:lstStyle/>
                    <a:p>
                      <a:pPr marL="0" indent="180975"/>
                      <a:r>
                        <a:rPr lang="en-IN" sz="1200" dirty="0"/>
                        <a:t>Total</a:t>
                      </a:r>
                      <a:endParaRPr lang="en-US" sz="1200" dirty="0"/>
                    </a:p>
                  </a:txBody>
                  <a:tcPr/>
                </a:tc>
                <a:tc>
                  <a:txBody>
                    <a:bodyPr/>
                    <a:lstStyle/>
                    <a:p>
                      <a:pPr algn="r"/>
                      <a:r>
                        <a:rPr lang="en-IN" sz="1200" u="sng" baseline="0" dirty="0">
                          <a:uFill>
                            <a:solidFill>
                              <a:srgbClr val="000000"/>
                            </a:solidFill>
                          </a:uFill>
                        </a:rPr>
                        <a:t>$1,112</a:t>
                      </a:r>
                      <a:endParaRPr lang="en-US" sz="1200" u="sng" baseline="0" dirty="0">
                        <a:uFill>
                          <a:solidFill>
                            <a:srgbClr val="000000"/>
                          </a:solidFill>
                        </a:uFill>
                      </a:endParaRPr>
                    </a:p>
                  </a:txBody>
                  <a:tcPr/>
                </a:tc>
                <a:tc>
                  <a:txBody>
                    <a:bodyPr/>
                    <a:lstStyle/>
                    <a:p>
                      <a:pPr algn="r"/>
                      <a:r>
                        <a:rPr lang="en-IN" sz="1200" u="sng" baseline="0" dirty="0">
                          <a:uFill>
                            <a:solidFill>
                              <a:srgbClr val="000000"/>
                            </a:solidFill>
                          </a:uFill>
                        </a:rPr>
                        <a:t>$1,464</a:t>
                      </a:r>
                      <a:endParaRPr lang="en-US" sz="1200" u="sng" baseline="0" dirty="0">
                        <a:uFill>
                          <a:solidFill>
                            <a:srgbClr val="000000"/>
                          </a:solidFill>
                        </a:uFill>
                      </a:endParaRPr>
                    </a:p>
                  </a:txBody>
                  <a:tcPr/>
                </a:tc>
                <a:tc>
                  <a:txBody>
                    <a:bodyPr/>
                    <a:lstStyle/>
                    <a:p>
                      <a:endParaRPr lang="en-US" sz="1200" u="dbl"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extLst>
                  <a:ext uri="{0D108BD9-81ED-4DB2-BD59-A6C34878D82A}">
                    <a16:rowId xmlns:a16="http://schemas.microsoft.com/office/drawing/2014/main" val="3030893004"/>
                  </a:ext>
                </a:extLst>
              </a:tr>
              <a:tr h="0">
                <a:tc>
                  <a:txBody>
                    <a:bodyPr/>
                    <a:lstStyle/>
                    <a:p>
                      <a:r>
                        <a:rPr lang="en-US" sz="1200" dirty="0"/>
                        <a:t>Fixed assets</a:t>
                      </a:r>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endParaRPr lang="en-US" sz="1200" u="dbl"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extLst>
                  <a:ext uri="{0D108BD9-81ED-4DB2-BD59-A6C34878D82A}">
                    <a16:rowId xmlns:a16="http://schemas.microsoft.com/office/drawing/2014/main" val="1813552892"/>
                  </a:ext>
                </a:extLst>
              </a:tr>
              <a:tr h="160674">
                <a:tc>
                  <a:txBody>
                    <a:bodyPr/>
                    <a:lstStyle/>
                    <a:p>
                      <a:pPr marL="90488" indent="0" algn="l"/>
                      <a:r>
                        <a:rPr lang="en-US" sz="1200" dirty="0"/>
                        <a:t>  Net plant and equipment</a:t>
                      </a:r>
                    </a:p>
                  </a:txBody>
                  <a:tcPr/>
                </a:tc>
                <a:tc>
                  <a:txBody>
                    <a:bodyPr/>
                    <a:lstStyle/>
                    <a:p>
                      <a:pPr algn="r"/>
                      <a:r>
                        <a:rPr lang="en-IN" sz="1200" u="sng" baseline="0" dirty="0">
                          <a:uFill>
                            <a:solidFill>
                              <a:srgbClr val="000000"/>
                            </a:solidFill>
                          </a:uFill>
                        </a:rPr>
                        <a:t>$1,644</a:t>
                      </a:r>
                      <a:endParaRPr lang="en-US" sz="1200" u="sng" baseline="0" dirty="0">
                        <a:uFill>
                          <a:solidFill>
                            <a:srgbClr val="000000"/>
                          </a:solidFill>
                        </a:uFill>
                      </a:endParaRPr>
                    </a:p>
                  </a:txBody>
                  <a:tcPr/>
                </a:tc>
                <a:tc>
                  <a:txBody>
                    <a:bodyPr/>
                    <a:lstStyle/>
                    <a:p>
                      <a:pPr algn="r"/>
                      <a:r>
                        <a:rPr lang="en-IN" sz="1200" u="sng" baseline="0" dirty="0">
                          <a:uFill>
                            <a:solidFill>
                              <a:srgbClr val="000000"/>
                            </a:solidFill>
                          </a:uFill>
                        </a:rPr>
                        <a:t>$1,709</a:t>
                      </a:r>
                      <a:endParaRPr lang="en-US" sz="1200" u="sng" baseline="0" dirty="0">
                        <a:uFill>
                          <a:solidFill>
                            <a:srgbClr val="000000"/>
                          </a:solidFill>
                        </a:uFill>
                      </a:endParaRPr>
                    </a:p>
                  </a:txBody>
                  <a:tcPr/>
                </a:tc>
                <a:tc>
                  <a:txBody>
                    <a:bodyPr/>
                    <a:lstStyle/>
                    <a:p>
                      <a:r>
                        <a:rPr lang="en-US" sz="1200" dirty="0"/>
                        <a:t>Long-term debt</a:t>
                      </a:r>
                      <a:endParaRPr lang="en-US" sz="1200" u="dbl" baseline="0" dirty="0">
                        <a:uFill>
                          <a:solidFill>
                            <a:srgbClr val="000000"/>
                          </a:solidFill>
                        </a:uFill>
                      </a:endParaRPr>
                    </a:p>
                  </a:txBody>
                  <a:tcPr/>
                </a:tc>
                <a:tc>
                  <a:txBody>
                    <a:bodyPr/>
                    <a:lstStyle/>
                    <a:p>
                      <a:pPr algn="r"/>
                      <a:r>
                        <a:rPr lang="en-IN" sz="1200" u="none" baseline="0" dirty="0">
                          <a:uFill>
                            <a:solidFill>
                              <a:srgbClr val="000000"/>
                            </a:solidFill>
                          </a:uFill>
                        </a:rPr>
                        <a:t>$  408</a:t>
                      </a:r>
                      <a:endParaRPr lang="en-US" sz="1200" u="none" baseline="0" dirty="0">
                        <a:uFill>
                          <a:solidFill>
                            <a:srgbClr val="000000"/>
                          </a:solidFill>
                        </a:uFill>
                      </a:endParaRPr>
                    </a:p>
                  </a:txBody>
                  <a:tcPr/>
                </a:tc>
                <a:tc>
                  <a:txBody>
                    <a:bodyPr/>
                    <a:lstStyle/>
                    <a:p>
                      <a:pPr algn="r"/>
                      <a:r>
                        <a:rPr lang="en-IN" sz="1200" u="none" baseline="0" dirty="0">
                          <a:uFill>
                            <a:solidFill>
                              <a:srgbClr val="000000"/>
                            </a:solidFill>
                          </a:uFill>
                        </a:rPr>
                        <a:t>$  454</a:t>
                      </a:r>
                      <a:endParaRPr lang="en-US" sz="1200" u="none" baseline="0" dirty="0">
                        <a:uFill>
                          <a:solidFill>
                            <a:srgbClr val="000000"/>
                          </a:solidFill>
                        </a:uFill>
                      </a:endParaRPr>
                    </a:p>
                  </a:txBody>
                  <a:tcPr/>
                </a:tc>
                <a:extLst>
                  <a:ext uri="{0D108BD9-81ED-4DB2-BD59-A6C34878D82A}">
                    <a16:rowId xmlns:a16="http://schemas.microsoft.com/office/drawing/2014/main" val="2103811689"/>
                  </a:ext>
                </a:extLst>
              </a:tr>
              <a:tr h="0">
                <a:tc>
                  <a:txBody>
                    <a:bodyPr/>
                    <a:lstStyle/>
                    <a:p>
                      <a:endParaRPr lang="en-US" sz="1200" dirty="0"/>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r>
                        <a:rPr lang="en-US" sz="1200" dirty="0"/>
                        <a:t>Owners’ equity</a:t>
                      </a:r>
                      <a:endParaRPr lang="en-US" sz="1200" u="dbl"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extLst>
                  <a:ext uri="{0D108BD9-81ED-4DB2-BD59-A6C34878D82A}">
                    <a16:rowId xmlns:a16="http://schemas.microsoft.com/office/drawing/2014/main" val="686277782"/>
                  </a:ext>
                </a:extLst>
              </a:tr>
              <a:tr h="224944">
                <a:tc>
                  <a:txBody>
                    <a:bodyPr/>
                    <a:lstStyle/>
                    <a:p>
                      <a:endParaRPr lang="en-US" sz="1200" dirty="0"/>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pPr marL="0" indent="180975"/>
                      <a:r>
                        <a:rPr lang="en-US" sz="1200" dirty="0"/>
                        <a:t>Common stock and paid-in surplus </a:t>
                      </a:r>
                      <a:endParaRPr lang="en-US" sz="1200" u="dbl" baseline="0" dirty="0">
                        <a:uFill>
                          <a:solidFill>
                            <a:srgbClr val="000000"/>
                          </a:solidFill>
                        </a:uFill>
                      </a:endParaRPr>
                    </a:p>
                  </a:txBody>
                  <a:tcPr/>
                </a:tc>
                <a:tc>
                  <a:txBody>
                    <a:bodyPr/>
                    <a:lstStyle/>
                    <a:p>
                      <a:pPr algn="r"/>
                      <a:r>
                        <a:rPr lang="en-IN" sz="1200" u="none" baseline="0" dirty="0">
                          <a:uFill>
                            <a:solidFill>
                              <a:srgbClr val="000000"/>
                            </a:solidFill>
                          </a:uFill>
                        </a:rPr>
                        <a:t>$  600</a:t>
                      </a:r>
                      <a:endParaRPr lang="en-US" sz="1200" u="none" baseline="0" dirty="0">
                        <a:uFill>
                          <a:solidFill>
                            <a:srgbClr val="000000"/>
                          </a:solidFill>
                        </a:uFill>
                      </a:endParaRPr>
                    </a:p>
                  </a:txBody>
                  <a:tcPr/>
                </a:tc>
                <a:tc>
                  <a:txBody>
                    <a:bodyPr/>
                    <a:lstStyle/>
                    <a:p>
                      <a:pPr algn="r"/>
                      <a:r>
                        <a:rPr lang="en-IN" sz="1200" u="none" baseline="0" dirty="0">
                          <a:uFill>
                            <a:solidFill>
                              <a:srgbClr val="000000"/>
                            </a:solidFill>
                          </a:uFill>
                        </a:rPr>
                        <a:t>$  640</a:t>
                      </a:r>
                      <a:endParaRPr lang="en-US" sz="1200" u="none" baseline="0" dirty="0">
                        <a:uFill>
                          <a:solidFill>
                            <a:srgbClr val="000000"/>
                          </a:solidFill>
                        </a:uFill>
                      </a:endParaRPr>
                    </a:p>
                  </a:txBody>
                  <a:tcPr/>
                </a:tc>
                <a:extLst>
                  <a:ext uri="{0D108BD9-81ED-4DB2-BD59-A6C34878D82A}">
                    <a16:rowId xmlns:a16="http://schemas.microsoft.com/office/drawing/2014/main" val="887640007"/>
                  </a:ext>
                </a:extLst>
              </a:tr>
              <a:tr h="160674">
                <a:tc>
                  <a:txBody>
                    <a:bodyPr/>
                    <a:lstStyle/>
                    <a:p>
                      <a:endParaRPr lang="en-US" sz="1200" dirty="0"/>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pPr marL="0" indent="180975"/>
                      <a:r>
                        <a:rPr lang="en-US" sz="1200" dirty="0"/>
                        <a:t>Retained earnings</a:t>
                      </a:r>
                      <a:endParaRPr lang="en-US" sz="1200" u="dbl" baseline="0" dirty="0">
                        <a:uFill>
                          <a:solidFill>
                            <a:srgbClr val="000000"/>
                          </a:solidFill>
                        </a:uFill>
                      </a:endParaRPr>
                    </a:p>
                  </a:txBody>
                  <a:tcPr/>
                </a:tc>
                <a:tc>
                  <a:txBody>
                    <a:bodyPr/>
                    <a:lstStyle/>
                    <a:p>
                      <a:pPr algn="r"/>
                      <a:r>
                        <a:rPr lang="en-IN" sz="1200" u="sng" baseline="0" dirty="0">
                          <a:uFill>
                            <a:solidFill>
                              <a:srgbClr val="000000"/>
                            </a:solidFill>
                          </a:uFill>
                        </a:rPr>
                        <a:t>  1,320</a:t>
                      </a:r>
                      <a:endParaRPr lang="en-US" sz="1200" u="sng" baseline="0" dirty="0">
                        <a:uFill>
                          <a:solidFill>
                            <a:srgbClr val="000000"/>
                          </a:solidFill>
                        </a:uFill>
                      </a:endParaRPr>
                    </a:p>
                  </a:txBody>
                  <a:tcPr/>
                </a:tc>
                <a:tc>
                  <a:txBody>
                    <a:bodyPr/>
                    <a:lstStyle/>
                    <a:p>
                      <a:pPr algn="r"/>
                      <a:r>
                        <a:rPr lang="en-IN" sz="1200" u="sng" baseline="0" dirty="0">
                          <a:uFill>
                            <a:solidFill>
                              <a:srgbClr val="000000"/>
                            </a:solidFill>
                          </a:uFill>
                        </a:rPr>
                        <a:t>  1,690</a:t>
                      </a:r>
                      <a:endParaRPr lang="en-US" sz="1200" u="sng" baseline="0" dirty="0">
                        <a:uFill>
                          <a:solidFill>
                            <a:srgbClr val="000000"/>
                          </a:solidFill>
                        </a:uFill>
                      </a:endParaRPr>
                    </a:p>
                  </a:txBody>
                  <a:tcPr/>
                </a:tc>
                <a:extLst>
                  <a:ext uri="{0D108BD9-81ED-4DB2-BD59-A6C34878D82A}">
                    <a16:rowId xmlns:a16="http://schemas.microsoft.com/office/drawing/2014/main" val="698056694"/>
                  </a:ext>
                </a:extLst>
              </a:tr>
              <a:tr h="0">
                <a:tc>
                  <a:txBody>
                    <a:bodyPr/>
                    <a:lstStyle/>
                    <a:p>
                      <a:endParaRPr lang="en-US" sz="1200" dirty="0"/>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pPr marL="0" indent="180975"/>
                      <a:r>
                        <a:rPr lang="en-IN" sz="1200" u="none" baseline="0" dirty="0">
                          <a:uFill>
                            <a:solidFill>
                              <a:srgbClr val="000000"/>
                            </a:solidFill>
                          </a:uFill>
                        </a:rPr>
                        <a:t>Total</a:t>
                      </a:r>
                      <a:endParaRPr lang="en-US" sz="1200" u="none" baseline="0" dirty="0">
                        <a:uFill>
                          <a:solidFill>
                            <a:srgbClr val="000000"/>
                          </a:solidFill>
                        </a:uFill>
                      </a:endParaRPr>
                    </a:p>
                  </a:txBody>
                  <a:tcPr/>
                </a:tc>
                <a:tc>
                  <a:txBody>
                    <a:bodyPr/>
                    <a:lstStyle/>
                    <a:p>
                      <a:pPr algn="r"/>
                      <a:r>
                        <a:rPr lang="en-IN" sz="1200" u="sng" baseline="0" dirty="0">
                          <a:uFill>
                            <a:solidFill>
                              <a:srgbClr val="000000"/>
                            </a:solidFill>
                          </a:uFill>
                        </a:rPr>
                        <a:t>$1,920</a:t>
                      </a:r>
                      <a:endParaRPr lang="en-US" sz="1200" u="sng" baseline="0" dirty="0">
                        <a:uFill>
                          <a:solidFill>
                            <a:srgbClr val="000000"/>
                          </a:solidFill>
                        </a:uFill>
                      </a:endParaRPr>
                    </a:p>
                  </a:txBody>
                  <a:tcPr/>
                </a:tc>
                <a:tc>
                  <a:txBody>
                    <a:bodyPr/>
                    <a:lstStyle/>
                    <a:p>
                      <a:pPr algn="r"/>
                      <a:r>
                        <a:rPr lang="en-IN" sz="1200" u="sng" baseline="0" dirty="0">
                          <a:uFill>
                            <a:solidFill>
                              <a:srgbClr val="000000"/>
                            </a:solidFill>
                          </a:uFill>
                        </a:rPr>
                        <a:t>$2,330</a:t>
                      </a:r>
                      <a:endParaRPr lang="en-US" sz="1200" u="sng" baseline="0" dirty="0">
                        <a:uFill>
                          <a:solidFill>
                            <a:srgbClr val="000000"/>
                          </a:solidFill>
                        </a:uFill>
                      </a:endParaRPr>
                    </a:p>
                  </a:txBody>
                  <a:tcPr/>
                </a:tc>
                <a:extLst>
                  <a:ext uri="{0D108BD9-81ED-4DB2-BD59-A6C34878D82A}">
                    <a16:rowId xmlns:a16="http://schemas.microsoft.com/office/drawing/2014/main" val="1852168538"/>
                  </a:ext>
                </a:extLst>
              </a:tr>
              <a:tr h="224944">
                <a:tc>
                  <a:txBody>
                    <a:bodyPr/>
                    <a:lstStyle/>
                    <a:p>
                      <a:r>
                        <a:rPr lang="en-IN" sz="1200" dirty="0"/>
                        <a:t>Total assets</a:t>
                      </a:r>
                      <a:endParaRPr lang="en-US" sz="1200" dirty="0"/>
                    </a:p>
                  </a:txBody>
                  <a:tcPr/>
                </a:tc>
                <a:tc>
                  <a:txBody>
                    <a:bodyPr/>
                    <a:lstStyle/>
                    <a:p>
                      <a:pPr algn="r"/>
                      <a:r>
                        <a:rPr lang="en-IN" sz="1200" u="dbl" baseline="0" dirty="0">
                          <a:uFill>
                            <a:solidFill>
                              <a:srgbClr val="000000"/>
                            </a:solidFill>
                          </a:uFill>
                        </a:rPr>
                        <a:t>$2,756</a:t>
                      </a:r>
                      <a:endParaRPr lang="en-US" sz="1200" u="dbl" baseline="0" dirty="0">
                        <a:uFill>
                          <a:solidFill>
                            <a:srgbClr val="000000"/>
                          </a:solidFill>
                        </a:uFill>
                      </a:endParaRPr>
                    </a:p>
                  </a:txBody>
                  <a:tcPr/>
                </a:tc>
                <a:tc>
                  <a:txBody>
                    <a:bodyPr/>
                    <a:lstStyle/>
                    <a:p>
                      <a:pPr algn="r"/>
                      <a:r>
                        <a:rPr lang="en-IN" sz="1200" u="dbl" baseline="0" dirty="0">
                          <a:uFill>
                            <a:solidFill>
                              <a:srgbClr val="000000"/>
                            </a:solidFill>
                          </a:uFill>
                        </a:rPr>
                        <a:t>$3,173</a:t>
                      </a:r>
                      <a:endParaRPr lang="en-US" sz="1200" u="dbl" baseline="0" dirty="0">
                        <a:uFill>
                          <a:solidFill>
                            <a:srgbClr val="000000"/>
                          </a:solidFill>
                        </a:uFill>
                      </a:endParaRPr>
                    </a:p>
                  </a:txBody>
                  <a:tcPr/>
                </a:tc>
                <a:tc>
                  <a:txBody>
                    <a:bodyPr/>
                    <a:lstStyle/>
                    <a:p>
                      <a:r>
                        <a:rPr lang="en-US" sz="1200" dirty="0"/>
                        <a:t>Total liabilities and owners’ equity</a:t>
                      </a:r>
                      <a:endParaRPr lang="en-US" sz="1200" u="dbl" baseline="0" dirty="0">
                        <a:uFill>
                          <a:solidFill>
                            <a:srgbClr val="000000"/>
                          </a:solidFill>
                        </a:uFill>
                      </a:endParaRPr>
                    </a:p>
                  </a:txBody>
                  <a:tcPr/>
                </a:tc>
                <a:tc>
                  <a:txBody>
                    <a:bodyPr/>
                    <a:lstStyle/>
                    <a:p>
                      <a:pPr algn="r"/>
                      <a:r>
                        <a:rPr lang="en-IN" sz="1200" u="dbl" baseline="0" dirty="0">
                          <a:uFill>
                            <a:solidFill>
                              <a:srgbClr val="000000"/>
                            </a:solidFill>
                          </a:uFill>
                        </a:rPr>
                        <a:t>$2,756</a:t>
                      </a:r>
                      <a:endParaRPr lang="en-US" sz="1200" u="dbl" baseline="0" dirty="0">
                        <a:uFill>
                          <a:solidFill>
                            <a:srgbClr val="000000"/>
                          </a:solidFill>
                        </a:uFill>
                      </a:endParaRPr>
                    </a:p>
                  </a:txBody>
                  <a:tcPr/>
                </a:tc>
                <a:tc>
                  <a:txBody>
                    <a:bodyPr/>
                    <a:lstStyle/>
                    <a:p>
                      <a:pPr algn="r"/>
                      <a:r>
                        <a:rPr lang="en-IN" sz="1200" u="dbl" baseline="0" dirty="0">
                          <a:uFill>
                            <a:solidFill>
                              <a:srgbClr val="000000"/>
                            </a:solidFill>
                          </a:uFill>
                        </a:rPr>
                        <a:t>$3,173</a:t>
                      </a:r>
                      <a:endParaRPr lang="en-US" sz="1200" u="dbl" baseline="0" dirty="0">
                        <a:uFill>
                          <a:solidFill>
                            <a:srgbClr val="000000"/>
                          </a:solidFill>
                        </a:uFill>
                      </a:endParaRPr>
                    </a:p>
                  </a:txBody>
                  <a:tcPr/>
                </a:tc>
                <a:extLst>
                  <a:ext uri="{0D108BD9-81ED-4DB2-BD59-A6C34878D82A}">
                    <a16:rowId xmlns:a16="http://schemas.microsoft.com/office/drawing/2014/main" val="3489176287"/>
                  </a:ext>
                </a:extLst>
              </a:tr>
            </a:tbl>
          </a:graphicData>
        </a:graphic>
      </p:graphicFrame>
      <p:sp>
        <p:nvSpPr>
          <p:cNvPr id="6" name="Slide Number Placeholder 5">
            <a:extLst>
              <a:ext uri="{FF2B5EF4-FFF2-40B4-BE49-F238E27FC236}">
                <a16:creationId xmlns:a16="http://schemas.microsoft.com/office/drawing/2014/main" id="{E375EABB-51D7-4614-B32A-ACEF56202658}"/>
              </a:ext>
            </a:extLst>
          </p:cNvPr>
          <p:cNvSpPr>
            <a:spLocks noGrp="1"/>
          </p:cNvSpPr>
          <p:nvPr>
            <p:ph type="sldNum" sz="quarter" idx="4"/>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818076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CD9FB-88BB-4A03-8841-649C44E2FBA6}"/>
              </a:ext>
            </a:extLst>
          </p:cNvPr>
          <p:cNvSpPr>
            <a:spLocks noGrp="1"/>
          </p:cNvSpPr>
          <p:nvPr>
            <p:ph type="title"/>
          </p:nvPr>
        </p:nvSpPr>
        <p:spPr>
          <a:ln>
            <a:solidFill>
              <a:schemeClr val="tx1"/>
            </a:solidFill>
          </a:ln>
        </p:spPr>
        <p:txBody>
          <a:bodyPr>
            <a:normAutofit/>
          </a:bodyPr>
          <a:lstStyle/>
          <a:p>
            <a:r>
              <a:rPr lang="en-US" sz="3600" dirty="0"/>
              <a:t>Income</a:t>
            </a:r>
            <a:r>
              <a:rPr lang="en-US" sz="1100" dirty="0"/>
              <a:t> </a:t>
            </a:r>
            <a:r>
              <a:rPr lang="en-US" sz="3600" dirty="0"/>
              <a:t>Statement</a:t>
            </a:r>
          </a:p>
        </p:txBody>
      </p:sp>
      <p:sp>
        <p:nvSpPr>
          <p:cNvPr id="3" name="Content Placeholder 2">
            <a:extLst>
              <a:ext uri="{FF2B5EF4-FFF2-40B4-BE49-F238E27FC236}">
                <a16:creationId xmlns:a16="http://schemas.microsoft.com/office/drawing/2014/main" id="{73E5D0FC-4CD5-4770-A955-D3D62B321583}"/>
              </a:ext>
            </a:extLst>
          </p:cNvPr>
          <p:cNvSpPr>
            <a:spLocks noGrp="1"/>
          </p:cNvSpPr>
          <p:nvPr>
            <p:ph sz="quarter" idx="11"/>
          </p:nvPr>
        </p:nvSpPr>
        <p:spPr>
          <a:xfrm>
            <a:off x="457200" y="1276710"/>
            <a:ext cx="9867900" cy="1240395"/>
          </a:xfrm>
        </p:spPr>
        <p:txBody>
          <a:bodyPr>
            <a:normAutofit lnSpcReduction="10000"/>
          </a:bodyPr>
          <a:lstStyle/>
          <a:p>
            <a:pPr marL="0" indent="0">
              <a:buNone/>
            </a:pPr>
            <a:r>
              <a:rPr lang="en-US" altLang="en-US" noProof="0" dirty="0">
                <a:solidFill>
                  <a:schemeClr val="tx2"/>
                </a:solidFill>
              </a:rPr>
              <a:t>The </a:t>
            </a:r>
            <a:r>
              <a:rPr lang="en-US" altLang="en-US" b="1" noProof="0" dirty="0">
                <a:solidFill>
                  <a:schemeClr val="tx2"/>
                </a:solidFill>
              </a:rPr>
              <a:t>income statement </a:t>
            </a:r>
            <a:r>
              <a:rPr lang="en-US" altLang="en-US" noProof="0" dirty="0">
                <a:solidFill>
                  <a:schemeClr val="tx2"/>
                </a:solidFill>
              </a:rPr>
              <a:t>is a financial statement summarizing a firm’s performance over a period of time, usually a quarter or a year. (video rather than snapshot)</a:t>
            </a:r>
          </a:p>
        </p:txBody>
      </p:sp>
      <p:sp>
        <p:nvSpPr>
          <p:cNvPr id="4" name="Content Placeholder 3">
            <a:extLst>
              <a:ext uri="{FF2B5EF4-FFF2-40B4-BE49-F238E27FC236}">
                <a16:creationId xmlns:a16="http://schemas.microsoft.com/office/drawing/2014/main" id="{07A872D5-C61C-4CA9-897B-FDCFD45A8C5C}"/>
              </a:ext>
            </a:extLst>
          </p:cNvPr>
          <p:cNvSpPr>
            <a:spLocks noGrp="1"/>
          </p:cNvSpPr>
          <p:nvPr>
            <p:ph sz="quarter" idx="14"/>
          </p:nvPr>
        </p:nvSpPr>
        <p:spPr>
          <a:xfrm>
            <a:off x="457200" y="2698093"/>
            <a:ext cx="9867900" cy="865990"/>
          </a:xfrm>
        </p:spPr>
        <p:txBody>
          <a:bodyPr/>
          <a:lstStyle/>
          <a:p>
            <a:pPr marL="0" indent="0">
              <a:spcBef>
                <a:spcPts val="100"/>
              </a:spcBef>
              <a:buNone/>
            </a:pPr>
            <a:r>
              <a:rPr lang="en-US" altLang="en-US" noProof="0" dirty="0">
                <a:solidFill>
                  <a:schemeClr val="tx2"/>
                </a:solidFill>
              </a:rPr>
              <a:t>Income statement equation is:</a:t>
            </a:r>
          </a:p>
          <a:p>
            <a:pPr>
              <a:spcBef>
                <a:spcPts val="100"/>
              </a:spcBef>
            </a:pPr>
            <a:r>
              <a:rPr lang="en-US" sz="2400" b="1" dirty="0"/>
              <a:t>Revenues − Expenses = Income</a:t>
            </a:r>
          </a:p>
        </p:txBody>
      </p:sp>
      <p:sp>
        <p:nvSpPr>
          <p:cNvPr id="8" name="Content Placeholder 7">
            <a:extLst>
              <a:ext uri="{FF2B5EF4-FFF2-40B4-BE49-F238E27FC236}">
                <a16:creationId xmlns:a16="http://schemas.microsoft.com/office/drawing/2014/main" id="{80291826-B58D-4FFF-9CE1-6AD61B5EEBD7}"/>
              </a:ext>
            </a:extLst>
          </p:cNvPr>
          <p:cNvSpPr>
            <a:spLocks noGrp="1"/>
          </p:cNvSpPr>
          <p:nvPr>
            <p:ph sz="quarter" idx="15"/>
          </p:nvPr>
        </p:nvSpPr>
        <p:spPr>
          <a:xfrm>
            <a:off x="574431" y="3745073"/>
            <a:ext cx="10539046" cy="2718072"/>
          </a:xfrm>
        </p:spPr>
        <p:txBody>
          <a:bodyPr>
            <a:normAutofit/>
          </a:bodyPr>
          <a:lstStyle/>
          <a:p>
            <a:pPr marL="342900" indent="-342900"/>
            <a:r>
              <a:rPr lang="en-US" altLang="en-US" sz="2400" dirty="0">
                <a:solidFill>
                  <a:schemeClr val="tx2"/>
                </a:solidFill>
              </a:rPr>
              <a:t>First part reported on income statement would usually be revenue and expenses from the firm’s principal operations.</a:t>
            </a:r>
          </a:p>
          <a:p>
            <a:pPr marL="291600" lvl="1" indent="-291600"/>
            <a:r>
              <a:rPr lang="en-US" altLang="en-US" noProof="0" dirty="0">
                <a:solidFill>
                  <a:schemeClr val="tx2"/>
                </a:solidFill>
              </a:rPr>
              <a:t>Subsequent parts include, among other things, financing expenses such as interest paid.</a:t>
            </a:r>
          </a:p>
          <a:p>
            <a:pPr marL="291600" lvl="1" indent="-291600"/>
            <a:r>
              <a:rPr lang="en-US" altLang="en-US" noProof="0" dirty="0">
                <a:solidFill>
                  <a:schemeClr val="tx2"/>
                </a:solidFill>
              </a:rPr>
              <a:t>Taxes are reported separately.</a:t>
            </a:r>
          </a:p>
          <a:p>
            <a:pPr marL="291600" lvl="1" indent="-291600"/>
            <a:r>
              <a:rPr lang="en-US" altLang="en-US" noProof="0" dirty="0">
                <a:solidFill>
                  <a:schemeClr val="tx2"/>
                </a:solidFill>
              </a:rPr>
              <a:t>Last item is </a:t>
            </a:r>
            <a:r>
              <a:rPr lang="en-US" altLang="en-US" i="1" noProof="0" dirty="0">
                <a:solidFill>
                  <a:schemeClr val="tx2"/>
                </a:solidFill>
              </a:rPr>
              <a:t>net income </a:t>
            </a:r>
            <a:r>
              <a:rPr lang="en-US" altLang="en-US" noProof="0" dirty="0">
                <a:solidFill>
                  <a:schemeClr val="tx2"/>
                </a:solidFill>
              </a:rPr>
              <a:t>(that is, “the bottom line”).</a:t>
            </a:r>
          </a:p>
        </p:txBody>
      </p:sp>
      <p:sp>
        <p:nvSpPr>
          <p:cNvPr id="7" name="Slide Number Placeholder 6">
            <a:extLst>
              <a:ext uri="{FF2B5EF4-FFF2-40B4-BE49-F238E27FC236}">
                <a16:creationId xmlns:a16="http://schemas.microsoft.com/office/drawing/2014/main" id="{98EFD3E9-38A2-4C07-AD3A-BC3BE09902CF}"/>
              </a:ext>
            </a:extLst>
          </p:cNvPr>
          <p:cNvSpPr>
            <a:spLocks noGrp="1"/>
          </p:cNvSpPr>
          <p:nvPr>
            <p:ph type="sldNum" sz="quarter" idx="10"/>
          </p:nvPr>
        </p:nvSpPr>
        <p:spPr/>
        <p:txBody>
          <a:bodyPr/>
          <a:lstStyle/>
          <a:p>
            <a:fld id="{68151E55-6873-49E2-B8D5-2F265E6F1973}" type="slidenum">
              <a:rPr lang="en-US" smtClean="0"/>
              <a:t>12</a:t>
            </a:fld>
            <a:endParaRPr lang="en-US"/>
          </a:p>
        </p:txBody>
      </p:sp>
    </p:spTree>
    <p:extLst>
      <p:ext uri="{BB962C8B-B14F-4D97-AF65-F5344CB8AC3E}">
        <p14:creationId xmlns:p14="http://schemas.microsoft.com/office/powerpoint/2010/main" val="4038677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FB6DC-3DFB-4454-98B2-F58F363DC11D}"/>
              </a:ext>
            </a:extLst>
          </p:cNvPr>
          <p:cNvSpPr>
            <a:spLocks noGrp="1"/>
          </p:cNvSpPr>
          <p:nvPr>
            <p:ph type="title"/>
          </p:nvPr>
        </p:nvSpPr>
        <p:spPr>
          <a:xfrm>
            <a:off x="457200" y="192491"/>
            <a:ext cx="11277600" cy="717171"/>
          </a:xfrm>
          <a:ln>
            <a:solidFill>
              <a:schemeClr val="tx1"/>
            </a:solidFill>
          </a:ln>
        </p:spPr>
        <p:txBody>
          <a:bodyPr/>
          <a:lstStyle/>
          <a:p>
            <a:r>
              <a:rPr lang="en-US" altLang="en-US" dirty="0"/>
              <a:t>U.S. Corporation: Income Statement</a:t>
            </a:r>
            <a:endParaRPr lang="en-US" dirty="0">
              <a:solidFill>
                <a:schemeClr val="tx1"/>
              </a:solidFill>
            </a:endParaRPr>
          </a:p>
        </p:txBody>
      </p:sp>
      <p:sp>
        <p:nvSpPr>
          <p:cNvPr id="3" name="Content Placeholder 2">
            <a:extLst>
              <a:ext uri="{FF2B5EF4-FFF2-40B4-BE49-F238E27FC236}">
                <a16:creationId xmlns:a16="http://schemas.microsoft.com/office/drawing/2014/main" id="{5C806EC6-2E42-42E9-A601-2AC8749B9837}"/>
              </a:ext>
            </a:extLst>
          </p:cNvPr>
          <p:cNvSpPr>
            <a:spLocks noGrp="1"/>
          </p:cNvSpPr>
          <p:nvPr>
            <p:ph sz="quarter" idx="11"/>
          </p:nvPr>
        </p:nvSpPr>
        <p:spPr>
          <a:xfrm>
            <a:off x="960132" y="1095722"/>
            <a:ext cx="9447029" cy="592401"/>
          </a:xfrm>
        </p:spPr>
        <p:txBody>
          <a:bodyPr/>
          <a:lstStyle/>
          <a:p>
            <a:pPr algn="ctr"/>
            <a:r>
              <a:rPr lang="en-US" b="1" dirty="0"/>
              <a:t>U.S. CORPORATION</a:t>
            </a:r>
            <a:br>
              <a:rPr lang="en-US" b="1" dirty="0"/>
            </a:br>
            <a:r>
              <a:rPr lang="en-US" sz="2400" b="1" dirty="0"/>
              <a:t>2024 Income Statement (in millions)</a:t>
            </a:r>
          </a:p>
        </p:txBody>
      </p:sp>
      <p:graphicFrame>
        <p:nvGraphicFramePr>
          <p:cNvPr id="7" name="Table 7">
            <a:extLst>
              <a:ext uri="{FF2B5EF4-FFF2-40B4-BE49-F238E27FC236}">
                <a16:creationId xmlns:a16="http://schemas.microsoft.com/office/drawing/2014/main" id="{8661904F-E47F-4CA2-8CA7-6176C50E66A7}"/>
              </a:ext>
            </a:extLst>
          </p:cNvPr>
          <p:cNvGraphicFramePr>
            <a:graphicFrameLocks noGrp="1"/>
          </p:cNvGraphicFramePr>
          <p:nvPr>
            <p:extLst>
              <p:ext uri="{D42A27DB-BD31-4B8C-83A1-F6EECF244321}">
                <p14:modId xmlns:p14="http://schemas.microsoft.com/office/powerpoint/2010/main" val="57694209"/>
              </p:ext>
            </p:extLst>
          </p:nvPr>
        </p:nvGraphicFramePr>
        <p:xfrm>
          <a:off x="866347" y="1874183"/>
          <a:ext cx="10868453" cy="3738714"/>
        </p:xfrm>
        <a:graphic>
          <a:graphicData uri="http://schemas.openxmlformats.org/drawingml/2006/table">
            <a:tbl>
              <a:tblPr firstRow="1" bandRow="1">
                <a:tableStyleId>{2D5ABB26-0587-4C30-8999-92F81FD0307C}</a:tableStyleId>
              </a:tblPr>
              <a:tblGrid>
                <a:gridCol w="6734939">
                  <a:extLst>
                    <a:ext uri="{9D8B030D-6E8A-4147-A177-3AD203B41FA5}">
                      <a16:colId xmlns:a16="http://schemas.microsoft.com/office/drawing/2014/main" val="478748918"/>
                    </a:ext>
                  </a:extLst>
                </a:gridCol>
                <a:gridCol w="2072289">
                  <a:extLst>
                    <a:ext uri="{9D8B030D-6E8A-4147-A177-3AD203B41FA5}">
                      <a16:colId xmlns:a16="http://schemas.microsoft.com/office/drawing/2014/main" val="2807940045"/>
                    </a:ext>
                  </a:extLst>
                </a:gridCol>
                <a:gridCol w="2061225">
                  <a:extLst>
                    <a:ext uri="{9D8B030D-6E8A-4147-A177-3AD203B41FA5}">
                      <a16:colId xmlns:a16="http://schemas.microsoft.com/office/drawing/2014/main" val="1110501148"/>
                    </a:ext>
                  </a:extLst>
                </a:gridCol>
              </a:tblGrid>
              <a:tr h="235406">
                <a:tc>
                  <a:txBody>
                    <a:bodyPr/>
                    <a:lstStyle/>
                    <a:p>
                      <a:r>
                        <a:rPr lang="en-US" b="0" dirty="0">
                          <a:solidFill>
                            <a:schemeClr val="tx1"/>
                          </a:solidFill>
                        </a:rPr>
                        <a:t>Net sales</a:t>
                      </a:r>
                    </a:p>
                  </a:txBody>
                  <a:tcPr/>
                </a:tc>
                <a:tc>
                  <a:txBody>
                    <a:bodyPr/>
                    <a:lstStyle/>
                    <a:p>
                      <a:pPr algn="r"/>
                      <a:endParaRPr lang="en-US" b="0" dirty="0">
                        <a:solidFill>
                          <a:schemeClr val="tx1"/>
                        </a:solidFill>
                      </a:endParaRPr>
                    </a:p>
                  </a:txBody>
                  <a:tcPr/>
                </a:tc>
                <a:tc>
                  <a:txBody>
                    <a:bodyPr/>
                    <a:lstStyle/>
                    <a:p>
                      <a:pPr algn="r"/>
                      <a:r>
                        <a:rPr lang="en-US" b="0" dirty="0">
                          <a:solidFill>
                            <a:schemeClr val="tx1"/>
                          </a:solidFill>
                        </a:rPr>
                        <a:t>$1,509</a:t>
                      </a:r>
                    </a:p>
                  </a:txBody>
                  <a:tcPr/>
                </a:tc>
                <a:extLst>
                  <a:ext uri="{0D108BD9-81ED-4DB2-BD59-A6C34878D82A}">
                    <a16:rowId xmlns:a16="http://schemas.microsoft.com/office/drawing/2014/main" val="3793139127"/>
                  </a:ext>
                </a:extLst>
              </a:tr>
              <a:tr h="235406">
                <a:tc>
                  <a:txBody>
                    <a:bodyPr/>
                    <a:lstStyle/>
                    <a:p>
                      <a:r>
                        <a:rPr lang="en-US" dirty="0"/>
                        <a:t>Cost of goods sold</a:t>
                      </a:r>
                    </a:p>
                  </a:txBody>
                  <a:tcPr/>
                </a:tc>
                <a:tc>
                  <a:txBody>
                    <a:bodyPr/>
                    <a:lstStyle/>
                    <a:p>
                      <a:pPr algn="r"/>
                      <a:endParaRPr lang="en-US" dirty="0"/>
                    </a:p>
                  </a:txBody>
                  <a:tcPr/>
                </a:tc>
                <a:tc>
                  <a:txBody>
                    <a:bodyPr/>
                    <a:lstStyle/>
                    <a:p>
                      <a:pPr algn="r"/>
                      <a:r>
                        <a:rPr lang="en-IN" dirty="0"/>
                        <a:t>750</a:t>
                      </a:r>
                      <a:endParaRPr lang="en-US" dirty="0"/>
                    </a:p>
                  </a:txBody>
                  <a:tcPr/>
                </a:tc>
                <a:extLst>
                  <a:ext uri="{0D108BD9-81ED-4DB2-BD59-A6C34878D82A}">
                    <a16:rowId xmlns:a16="http://schemas.microsoft.com/office/drawing/2014/main" val="3498343698"/>
                  </a:ext>
                </a:extLst>
              </a:tr>
              <a:tr h="235406">
                <a:tc>
                  <a:txBody>
                    <a:bodyPr/>
                    <a:lstStyle/>
                    <a:p>
                      <a:r>
                        <a:rPr lang="en-US" dirty="0"/>
                        <a:t>Depreciation</a:t>
                      </a:r>
                    </a:p>
                  </a:txBody>
                  <a:tcPr/>
                </a:tc>
                <a:tc>
                  <a:txBody>
                    <a:bodyPr/>
                    <a:lstStyle/>
                    <a:p>
                      <a:pPr algn="r"/>
                      <a:endParaRPr lang="en-US" dirty="0"/>
                    </a:p>
                  </a:txBody>
                  <a:tcPr/>
                </a:tc>
                <a:tc>
                  <a:txBody>
                    <a:bodyPr/>
                    <a:lstStyle/>
                    <a:p>
                      <a:pPr algn="r"/>
                      <a:r>
                        <a:rPr lang="en-IN" u="sng" dirty="0"/>
                        <a:t>       65</a:t>
                      </a:r>
                      <a:endParaRPr lang="en-US" u="sng" dirty="0"/>
                    </a:p>
                  </a:txBody>
                  <a:tcPr/>
                </a:tc>
                <a:extLst>
                  <a:ext uri="{0D108BD9-81ED-4DB2-BD59-A6C34878D82A}">
                    <a16:rowId xmlns:a16="http://schemas.microsoft.com/office/drawing/2014/main" val="140975099"/>
                  </a:ext>
                </a:extLst>
              </a:tr>
              <a:tr h="406317">
                <a:tc>
                  <a:txBody>
                    <a:bodyPr/>
                    <a:lstStyle/>
                    <a:p>
                      <a:r>
                        <a:rPr lang="en-US" dirty="0"/>
                        <a:t>Earnings before interest and taxes (Operating Income)</a:t>
                      </a:r>
                    </a:p>
                  </a:txBody>
                  <a:tcPr/>
                </a:tc>
                <a:tc>
                  <a:txBody>
                    <a:bodyPr/>
                    <a:lstStyle/>
                    <a:p>
                      <a:pPr algn="r"/>
                      <a:endParaRPr lang="en-US" dirty="0"/>
                    </a:p>
                  </a:txBody>
                  <a:tcPr/>
                </a:tc>
                <a:tc>
                  <a:txBody>
                    <a:bodyPr/>
                    <a:lstStyle/>
                    <a:p>
                      <a:pPr algn="r"/>
                      <a:r>
                        <a:rPr lang="en-IN" dirty="0"/>
                        <a:t>$   694</a:t>
                      </a:r>
                      <a:endParaRPr lang="en-US" dirty="0"/>
                    </a:p>
                  </a:txBody>
                  <a:tcPr/>
                </a:tc>
                <a:extLst>
                  <a:ext uri="{0D108BD9-81ED-4DB2-BD59-A6C34878D82A}">
                    <a16:rowId xmlns:a16="http://schemas.microsoft.com/office/drawing/2014/main" val="156998615"/>
                  </a:ext>
                </a:extLst>
              </a:tr>
              <a:tr h="235406">
                <a:tc>
                  <a:txBody>
                    <a:bodyPr/>
                    <a:lstStyle/>
                    <a:p>
                      <a:r>
                        <a:rPr lang="en-US" dirty="0"/>
                        <a:t>Interest paid</a:t>
                      </a:r>
                    </a:p>
                  </a:txBody>
                  <a:tcPr/>
                </a:tc>
                <a:tc>
                  <a:txBody>
                    <a:bodyPr/>
                    <a:lstStyle/>
                    <a:p>
                      <a:pPr algn="r"/>
                      <a:endParaRPr lang="en-US" dirty="0"/>
                    </a:p>
                  </a:txBody>
                  <a:tcPr/>
                </a:tc>
                <a:tc>
                  <a:txBody>
                    <a:bodyPr/>
                    <a:lstStyle/>
                    <a:p>
                      <a:pPr algn="r"/>
                      <a:r>
                        <a:rPr lang="en-IN" u="sng" dirty="0"/>
                        <a:t>       70</a:t>
                      </a:r>
                      <a:endParaRPr lang="en-US" u="sng" dirty="0"/>
                    </a:p>
                  </a:txBody>
                  <a:tcPr/>
                </a:tc>
                <a:extLst>
                  <a:ext uri="{0D108BD9-81ED-4DB2-BD59-A6C34878D82A}">
                    <a16:rowId xmlns:a16="http://schemas.microsoft.com/office/drawing/2014/main" val="3637321221"/>
                  </a:ext>
                </a:extLst>
              </a:tr>
              <a:tr h="235406">
                <a:tc>
                  <a:txBody>
                    <a:bodyPr/>
                    <a:lstStyle/>
                    <a:p>
                      <a:r>
                        <a:rPr lang="en-US" dirty="0"/>
                        <a:t>Taxable income</a:t>
                      </a:r>
                    </a:p>
                  </a:txBody>
                  <a:tcPr/>
                </a:tc>
                <a:tc>
                  <a:txBody>
                    <a:bodyPr/>
                    <a:lstStyle/>
                    <a:p>
                      <a:pPr algn="r"/>
                      <a:endParaRPr lang="en-US" dirty="0"/>
                    </a:p>
                  </a:txBody>
                  <a:tcPr/>
                </a:tc>
                <a:tc>
                  <a:txBody>
                    <a:bodyPr/>
                    <a:lstStyle/>
                    <a:p>
                      <a:pPr algn="r"/>
                      <a:r>
                        <a:rPr lang="en-IN" dirty="0"/>
                        <a:t>$   624</a:t>
                      </a:r>
                      <a:endParaRPr lang="en-US" dirty="0"/>
                    </a:p>
                  </a:txBody>
                  <a:tcPr/>
                </a:tc>
                <a:extLst>
                  <a:ext uri="{0D108BD9-81ED-4DB2-BD59-A6C34878D82A}">
                    <a16:rowId xmlns:a16="http://schemas.microsoft.com/office/drawing/2014/main" val="58851441"/>
                  </a:ext>
                </a:extLst>
              </a:tr>
              <a:tr h="235406">
                <a:tc>
                  <a:txBody>
                    <a:bodyPr/>
                    <a:lstStyle/>
                    <a:p>
                      <a:r>
                        <a:rPr lang="en-US" dirty="0"/>
                        <a:t>Taxes (21%)</a:t>
                      </a:r>
                    </a:p>
                  </a:txBody>
                  <a:tcPr/>
                </a:tc>
                <a:tc>
                  <a:txBody>
                    <a:bodyPr/>
                    <a:lstStyle/>
                    <a:p>
                      <a:pPr algn="r"/>
                      <a:endParaRPr lang="en-US" dirty="0"/>
                    </a:p>
                  </a:txBody>
                  <a:tcPr/>
                </a:tc>
                <a:tc>
                  <a:txBody>
                    <a:bodyPr/>
                    <a:lstStyle/>
                    <a:p>
                      <a:pPr algn="r"/>
                      <a:r>
                        <a:rPr lang="en-IN" u="sng" dirty="0"/>
                        <a:t>     131</a:t>
                      </a:r>
                      <a:endParaRPr lang="en-US" u="sng" dirty="0"/>
                    </a:p>
                  </a:txBody>
                  <a:tcPr/>
                </a:tc>
                <a:extLst>
                  <a:ext uri="{0D108BD9-81ED-4DB2-BD59-A6C34878D82A}">
                    <a16:rowId xmlns:a16="http://schemas.microsoft.com/office/drawing/2014/main" val="1073528588"/>
                  </a:ext>
                </a:extLst>
              </a:tr>
              <a:tr h="235406">
                <a:tc>
                  <a:txBody>
                    <a:bodyPr/>
                    <a:lstStyle/>
                    <a:p>
                      <a:r>
                        <a:rPr lang="en-US" dirty="0"/>
                        <a:t>Net income</a:t>
                      </a:r>
                    </a:p>
                  </a:txBody>
                  <a:tcPr/>
                </a:tc>
                <a:tc>
                  <a:txBody>
                    <a:bodyPr/>
                    <a:lstStyle/>
                    <a:p>
                      <a:pPr algn="r"/>
                      <a:endParaRPr lang="en-US" dirty="0"/>
                    </a:p>
                  </a:txBody>
                  <a:tcPr/>
                </a:tc>
                <a:tc>
                  <a:txBody>
                    <a:bodyPr/>
                    <a:lstStyle/>
                    <a:p>
                      <a:pPr algn="r"/>
                      <a:r>
                        <a:rPr lang="en-IN" u="dbl" baseline="0" dirty="0">
                          <a:uFill>
                            <a:solidFill>
                              <a:srgbClr val="000000"/>
                            </a:solidFill>
                          </a:uFill>
                        </a:rPr>
                        <a:t>$   493</a:t>
                      </a:r>
                      <a:endParaRPr lang="en-US" u="dbl" baseline="0" dirty="0">
                        <a:uFill>
                          <a:solidFill>
                            <a:srgbClr val="000000"/>
                          </a:solidFill>
                        </a:uFill>
                      </a:endParaRPr>
                    </a:p>
                  </a:txBody>
                  <a:tcPr/>
                </a:tc>
                <a:extLst>
                  <a:ext uri="{0D108BD9-81ED-4DB2-BD59-A6C34878D82A}">
                    <a16:rowId xmlns:a16="http://schemas.microsoft.com/office/drawing/2014/main" val="3793735649"/>
                  </a:ext>
                </a:extLst>
              </a:tr>
              <a:tr h="235406">
                <a:tc>
                  <a:txBody>
                    <a:bodyPr/>
                    <a:lstStyle/>
                    <a:p>
                      <a:r>
                        <a:rPr lang="en-US" dirty="0"/>
                        <a:t>Dividends</a:t>
                      </a:r>
                    </a:p>
                  </a:txBody>
                  <a:tcPr/>
                </a:tc>
                <a:tc>
                  <a:txBody>
                    <a:bodyPr/>
                    <a:lstStyle/>
                    <a:p>
                      <a:pPr algn="r"/>
                      <a:r>
                        <a:rPr lang="en-IN" dirty="0"/>
                        <a:t>$ 123</a:t>
                      </a:r>
                      <a:endParaRPr lang="en-US" dirty="0"/>
                    </a:p>
                  </a:txBody>
                  <a:tcPr/>
                </a:tc>
                <a:tc>
                  <a:txBody>
                    <a:bodyPr/>
                    <a:lstStyle/>
                    <a:p>
                      <a:pPr algn="r"/>
                      <a:endParaRPr lang="en-US" dirty="0"/>
                    </a:p>
                  </a:txBody>
                  <a:tcPr/>
                </a:tc>
                <a:extLst>
                  <a:ext uri="{0D108BD9-81ED-4DB2-BD59-A6C34878D82A}">
                    <a16:rowId xmlns:a16="http://schemas.microsoft.com/office/drawing/2014/main" val="3549933915"/>
                  </a:ext>
                </a:extLst>
              </a:tr>
              <a:tr h="406317">
                <a:tc>
                  <a:txBody>
                    <a:bodyPr/>
                    <a:lstStyle/>
                    <a:p>
                      <a:r>
                        <a:rPr lang="en-US" dirty="0"/>
                        <a:t>Addition to retained earnings</a:t>
                      </a:r>
                    </a:p>
                  </a:txBody>
                  <a:tcPr/>
                </a:tc>
                <a:tc>
                  <a:txBody>
                    <a:bodyPr/>
                    <a:lstStyle/>
                    <a:p>
                      <a:pPr algn="r"/>
                      <a:r>
                        <a:rPr lang="en-IN" dirty="0"/>
                        <a:t>370</a:t>
                      </a:r>
                      <a:endParaRPr lang="en-US" dirty="0"/>
                    </a:p>
                  </a:txBody>
                  <a:tcPr/>
                </a:tc>
                <a:tc>
                  <a:txBody>
                    <a:bodyPr/>
                    <a:lstStyle/>
                    <a:p>
                      <a:pPr algn="r"/>
                      <a:endParaRPr lang="en-US" dirty="0"/>
                    </a:p>
                  </a:txBody>
                  <a:tcPr/>
                </a:tc>
                <a:extLst>
                  <a:ext uri="{0D108BD9-81ED-4DB2-BD59-A6C34878D82A}">
                    <a16:rowId xmlns:a16="http://schemas.microsoft.com/office/drawing/2014/main" val="977618990"/>
                  </a:ext>
                </a:extLst>
              </a:tr>
            </a:tbl>
          </a:graphicData>
        </a:graphic>
      </p:graphicFrame>
      <p:sp>
        <p:nvSpPr>
          <p:cNvPr id="6" name="Slide Number Placeholder 5">
            <a:extLst>
              <a:ext uri="{FF2B5EF4-FFF2-40B4-BE49-F238E27FC236}">
                <a16:creationId xmlns:a16="http://schemas.microsoft.com/office/drawing/2014/main" id="{5C99E7D0-025D-487A-8418-7FCE1CCF811E}"/>
              </a:ext>
            </a:extLst>
          </p:cNvPr>
          <p:cNvSpPr>
            <a:spLocks noGrp="1"/>
          </p:cNvSpPr>
          <p:nvPr>
            <p:ph type="sldNum" sz="quarter" idx="4"/>
          </p:nvPr>
        </p:nvSpPr>
        <p:spPr/>
        <p:txBody>
          <a:bodyPr/>
          <a:lstStyle/>
          <a:p>
            <a:fld id="{68151E55-6873-49E2-B8D5-2F265E6F1973}" type="slidenum">
              <a:rPr lang="en-US" smtClean="0"/>
              <a:pPr/>
              <a:t>13</a:t>
            </a:fld>
            <a:endParaRPr lang="en-US" dirty="0"/>
          </a:p>
        </p:txBody>
      </p:sp>
      <p:sp>
        <p:nvSpPr>
          <p:cNvPr id="4" name="TextBox 3">
            <a:extLst>
              <a:ext uri="{FF2B5EF4-FFF2-40B4-BE49-F238E27FC236}">
                <a16:creationId xmlns:a16="http://schemas.microsoft.com/office/drawing/2014/main" id="{D52ADB6B-347C-DBED-0319-131440B7D063}"/>
              </a:ext>
            </a:extLst>
          </p:cNvPr>
          <p:cNvSpPr txBox="1"/>
          <p:nvPr/>
        </p:nvSpPr>
        <p:spPr>
          <a:xfrm>
            <a:off x="457199" y="5798957"/>
            <a:ext cx="11044683" cy="1354217"/>
          </a:xfrm>
          <a:prstGeom prst="rect">
            <a:avLst/>
          </a:prstGeom>
          <a:noFill/>
        </p:spPr>
        <p:txBody>
          <a:bodyPr wrap="square" rtlCol="0">
            <a:spAutoFit/>
          </a:bodyPr>
          <a:lstStyle/>
          <a:p>
            <a:pPr eaLnBrk="1" hangingPunct="1"/>
            <a:r>
              <a:rPr lang="en-US" sz="1600" b="0" i="0" u="none" strike="noStrike" baseline="0" dirty="0">
                <a:solidFill>
                  <a:srgbClr val="221E1F"/>
                </a:solidFill>
                <a:latin typeface="STIX MathJax Main"/>
              </a:rPr>
              <a:t>As indicated, U.S. Corporation paid cash dividends of $123. The difference between net income and cash dividends, $370, is the addition to retained earnings for the year. This amount is added to the cumulative retained earnings account on the balance sheet. If you look back at the two balance sheets for U.S. Corporation, you’ll see that retained earnings did go up by this amount: $1,320 + 370 = $1,690.</a:t>
            </a:r>
            <a:endParaRPr lang="en-US" sz="1600" dirty="0"/>
          </a:p>
          <a:p>
            <a:endParaRPr lang="en-US" dirty="0"/>
          </a:p>
        </p:txBody>
      </p:sp>
    </p:spTree>
    <p:extLst>
      <p:ext uri="{BB962C8B-B14F-4D97-AF65-F5344CB8AC3E}">
        <p14:creationId xmlns:p14="http://schemas.microsoft.com/office/powerpoint/2010/main" val="2068153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CD9FB-88BB-4A03-8841-649C44E2FBA6}"/>
              </a:ext>
            </a:extLst>
          </p:cNvPr>
          <p:cNvSpPr>
            <a:spLocks noGrp="1"/>
          </p:cNvSpPr>
          <p:nvPr>
            <p:ph type="title"/>
          </p:nvPr>
        </p:nvSpPr>
        <p:spPr>
          <a:xfrm>
            <a:off x="457200" y="192491"/>
            <a:ext cx="11277600" cy="464001"/>
          </a:xfrm>
          <a:ln>
            <a:solidFill>
              <a:schemeClr val="tx1"/>
            </a:solidFill>
          </a:ln>
        </p:spPr>
        <p:txBody>
          <a:bodyPr>
            <a:normAutofit fontScale="90000"/>
          </a:bodyPr>
          <a:lstStyle/>
          <a:p>
            <a:r>
              <a:rPr lang="en-US" altLang="en-US" sz="3600" dirty="0"/>
              <a:t>The Income Statement </a:t>
            </a:r>
            <a:r>
              <a:rPr lang="en-US" altLang="en-US" sz="1000" dirty="0"/>
              <a:t>2</a:t>
            </a:r>
            <a:endParaRPr lang="en-US" sz="1000" dirty="0"/>
          </a:p>
        </p:txBody>
      </p:sp>
      <p:sp>
        <p:nvSpPr>
          <p:cNvPr id="3" name="Content Placeholder 2">
            <a:extLst>
              <a:ext uri="{FF2B5EF4-FFF2-40B4-BE49-F238E27FC236}">
                <a16:creationId xmlns:a16="http://schemas.microsoft.com/office/drawing/2014/main" id="{73E5D0FC-4CD5-4770-A955-D3D62B321583}"/>
              </a:ext>
            </a:extLst>
          </p:cNvPr>
          <p:cNvSpPr>
            <a:spLocks noGrp="1"/>
          </p:cNvSpPr>
          <p:nvPr>
            <p:ph sz="quarter" idx="11"/>
          </p:nvPr>
        </p:nvSpPr>
        <p:spPr>
          <a:xfrm>
            <a:off x="656492" y="761278"/>
            <a:ext cx="10597662" cy="2424196"/>
          </a:xfrm>
        </p:spPr>
        <p:txBody>
          <a:bodyPr/>
          <a:lstStyle/>
          <a:p>
            <a:pPr marL="0" indent="0">
              <a:buNone/>
            </a:pPr>
            <a:r>
              <a:rPr lang="en-US" altLang="en-US" sz="2000" dirty="0"/>
              <a:t>A financial manager should keep three things in mind when looking at an income statement:</a:t>
            </a:r>
          </a:p>
          <a:p>
            <a:pPr marL="0" lvl="1" indent="0">
              <a:buNone/>
            </a:pPr>
            <a:r>
              <a:rPr lang="en-US" altLang="en-US" sz="2000" i="1" u="sng" dirty="0"/>
              <a:t>GAAP (</a:t>
            </a:r>
            <a:r>
              <a:rPr lang="en-US" altLang="en-US" sz="2000" dirty="0"/>
              <a:t>generally accepted accounting principle)</a:t>
            </a:r>
            <a:endParaRPr lang="en-US" altLang="en-US" sz="2000" i="1" u="sng" dirty="0"/>
          </a:p>
          <a:p>
            <a:pPr lvl="1">
              <a:lnSpc>
                <a:spcPct val="90000"/>
              </a:lnSpc>
            </a:pPr>
            <a:r>
              <a:rPr lang="en-US" altLang="en-US" sz="2000" dirty="0"/>
              <a:t>As a result of the way revenues and expenses are realized, income statement figures may not be representative of actual cash inflows/outflows that occurred during a particular period. </a:t>
            </a:r>
            <a:r>
              <a:rPr lang="en-US" sz="2000" b="0" i="0" u="none" strike="noStrike" baseline="0" dirty="0">
                <a:latin typeface="STIX MathJax Main"/>
              </a:rPr>
              <a:t>the </a:t>
            </a:r>
            <a:r>
              <a:rPr lang="en-US" sz="2000" b="0" i="1" u="none" strike="noStrike" baseline="0" dirty="0">
                <a:latin typeface="STIX MathJax Main"/>
              </a:rPr>
              <a:t>recognition </a:t>
            </a:r>
            <a:r>
              <a:rPr lang="en-US" sz="2000" b="0" i="0" u="none" strike="noStrike" baseline="0" dirty="0">
                <a:latin typeface="STIX MathJax Main"/>
              </a:rPr>
              <a:t>or </a:t>
            </a:r>
            <a:r>
              <a:rPr lang="en-US" sz="2000" b="0" i="1" u="none" strike="noStrike" baseline="0" dirty="0">
                <a:latin typeface="STIX MathJax Main"/>
              </a:rPr>
              <a:t>realization principle</a:t>
            </a:r>
            <a:endParaRPr lang="en-US" sz="2000" dirty="0"/>
          </a:p>
        </p:txBody>
      </p:sp>
      <p:sp>
        <p:nvSpPr>
          <p:cNvPr id="6" name="Content Placeholder 5">
            <a:extLst>
              <a:ext uri="{FF2B5EF4-FFF2-40B4-BE49-F238E27FC236}">
                <a16:creationId xmlns:a16="http://schemas.microsoft.com/office/drawing/2014/main" id="{B02BEC70-893E-4607-898E-B65D4C5DAB6C}"/>
              </a:ext>
            </a:extLst>
          </p:cNvPr>
          <p:cNvSpPr>
            <a:spLocks noGrp="1"/>
          </p:cNvSpPr>
          <p:nvPr>
            <p:ph sz="quarter" idx="14"/>
          </p:nvPr>
        </p:nvSpPr>
        <p:spPr>
          <a:xfrm>
            <a:off x="457199" y="2649415"/>
            <a:ext cx="11044683" cy="1594339"/>
          </a:xfrm>
        </p:spPr>
        <p:txBody>
          <a:bodyPr/>
          <a:lstStyle/>
          <a:p>
            <a:r>
              <a:rPr lang="en-US" altLang="en-US" sz="2000" i="1" u="sng" dirty="0"/>
              <a:t>Cash versus noncash items</a:t>
            </a:r>
            <a:r>
              <a:rPr lang="en-US" altLang="en-US" sz="2000" i="1" dirty="0"/>
              <a:t>:</a:t>
            </a:r>
          </a:p>
          <a:p>
            <a:pPr marL="291600" lvl="2" indent="-291600">
              <a:spcBef>
                <a:spcPts val="1000"/>
              </a:spcBef>
            </a:pPr>
            <a:r>
              <a:rPr lang="en-US" altLang="en-US" b="1" noProof="0" dirty="0"/>
              <a:t>Noncash items </a:t>
            </a:r>
            <a:r>
              <a:rPr lang="en-US" altLang="en-US" noProof="0" dirty="0"/>
              <a:t>are expenses charged against revenues that do not directly affect cash flow, such as depreciation and depletion.</a:t>
            </a:r>
          </a:p>
          <a:p>
            <a:pPr marL="291600" lvl="2" indent="-291600">
              <a:spcBef>
                <a:spcPts val="1000"/>
              </a:spcBef>
            </a:pPr>
            <a:r>
              <a:rPr lang="en-US" altLang="en-US" noProof="0" dirty="0"/>
              <a:t>Crucial to separate cash flows from noncash accounting entries.</a:t>
            </a:r>
            <a:endParaRPr lang="en-US" noProof="0" dirty="0"/>
          </a:p>
        </p:txBody>
      </p:sp>
      <p:sp>
        <p:nvSpPr>
          <p:cNvPr id="10" name="Content Placeholder 9">
            <a:extLst>
              <a:ext uri="{FF2B5EF4-FFF2-40B4-BE49-F238E27FC236}">
                <a16:creationId xmlns:a16="http://schemas.microsoft.com/office/drawing/2014/main" id="{D57FBD18-F016-43C7-A1B6-00198E67D81D}"/>
              </a:ext>
            </a:extLst>
          </p:cNvPr>
          <p:cNvSpPr>
            <a:spLocks noGrp="1"/>
          </p:cNvSpPr>
          <p:nvPr>
            <p:ph sz="quarter" idx="15"/>
          </p:nvPr>
        </p:nvSpPr>
        <p:spPr>
          <a:xfrm>
            <a:off x="457200" y="4243755"/>
            <a:ext cx="11148646" cy="2271346"/>
          </a:xfrm>
        </p:spPr>
        <p:txBody>
          <a:bodyPr>
            <a:normAutofit lnSpcReduction="10000"/>
          </a:bodyPr>
          <a:lstStyle/>
          <a:p>
            <a:r>
              <a:rPr lang="en-US" altLang="en-US" sz="2000" i="1" u="sng" dirty="0"/>
              <a:t>Time and costs.</a:t>
            </a:r>
            <a:endParaRPr lang="en-US" sz="2000" u="sng" dirty="0"/>
          </a:p>
          <a:p>
            <a:pPr marL="291600" lvl="2" indent="-291600">
              <a:spcBef>
                <a:spcPts val="600"/>
              </a:spcBef>
              <a:buClr>
                <a:srgbClr val="000000"/>
              </a:buClr>
            </a:pPr>
            <a:r>
              <a:rPr lang="en-US" altLang="en-US" i="1" noProof="0" dirty="0"/>
              <a:t>Product costs (operating costs) </a:t>
            </a:r>
            <a:r>
              <a:rPr lang="en-US" altLang="en-US" noProof="0" dirty="0"/>
              <a:t>include things such as raw materials, direct labor expense, and manufacturing overhead.</a:t>
            </a:r>
          </a:p>
          <a:p>
            <a:pPr marL="291600" lvl="2" indent="-291600">
              <a:spcBef>
                <a:spcPts val="600"/>
              </a:spcBef>
              <a:buClr>
                <a:srgbClr val="000000"/>
              </a:buClr>
            </a:pPr>
            <a:r>
              <a:rPr lang="en-US" altLang="en-US" i="1" noProof="0" dirty="0"/>
              <a:t>Period costs </a:t>
            </a:r>
            <a:r>
              <a:rPr lang="en-US" altLang="en-US" noProof="0" dirty="0"/>
              <a:t>are incurred during a particular time period and might be reported as selling, general, and administrative expenses.</a:t>
            </a:r>
          </a:p>
          <a:p>
            <a:pPr marL="291600" lvl="2" indent="-291600">
              <a:spcBef>
                <a:spcPts val="600"/>
              </a:spcBef>
              <a:buClr>
                <a:srgbClr val="000000"/>
              </a:buClr>
            </a:pPr>
            <a:r>
              <a:rPr lang="en-US" dirty="0"/>
              <a:t>Financial accountants do not distinguish between variable costs and fixed costs. Instead, accounting costs usually fit into a classification that distinguishes product costs from period costs.</a:t>
            </a:r>
          </a:p>
          <a:p>
            <a:pPr marL="291600" lvl="2" indent="-291600">
              <a:spcBef>
                <a:spcPts val="600"/>
              </a:spcBef>
              <a:buClr>
                <a:srgbClr val="000000"/>
              </a:buClr>
            </a:pPr>
            <a:endParaRPr lang="en-US" altLang="en-US" noProof="0" dirty="0">
              <a:solidFill>
                <a:schemeClr val="tx2"/>
              </a:solidFill>
            </a:endParaRPr>
          </a:p>
        </p:txBody>
      </p:sp>
      <p:sp>
        <p:nvSpPr>
          <p:cNvPr id="7" name="Slide Number Placeholder 6">
            <a:extLst>
              <a:ext uri="{FF2B5EF4-FFF2-40B4-BE49-F238E27FC236}">
                <a16:creationId xmlns:a16="http://schemas.microsoft.com/office/drawing/2014/main" id="{98EFD3E9-38A2-4C07-AD3A-BC3BE09902CF}"/>
              </a:ext>
            </a:extLst>
          </p:cNvPr>
          <p:cNvSpPr>
            <a:spLocks noGrp="1"/>
          </p:cNvSpPr>
          <p:nvPr>
            <p:ph type="sldNum" sz="quarter" idx="10"/>
          </p:nvPr>
        </p:nvSpPr>
        <p:spPr/>
        <p:txBody>
          <a:bodyPr/>
          <a:lstStyle/>
          <a:p>
            <a:fld id="{68151E55-6873-49E2-B8D5-2F265E6F1973}" type="slidenum">
              <a:rPr lang="en-US" smtClean="0"/>
              <a:t>14</a:t>
            </a:fld>
            <a:endParaRPr lang="en-US"/>
          </a:p>
        </p:txBody>
      </p:sp>
    </p:spTree>
    <p:extLst>
      <p:ext uri="{BB962C8B-B14F-4D97-AF65-F5344CB8AC3E}">
        <p14:creationId xmlns:p14="http://schemas.microsoft.com/office/powerpoint/2010/main" val="3289046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FCE83-4AD3-BB03-58B5-CC7ABE72D2D1}"/>
              </a:ext>
            </a:extLst>
          </p:cNvPr>
          <p:cNvSpPr>
            <a:spLocks noGrp="1"/>
          </p:cNvSpPr>
          <p:nvPr>
            <p:ph type="title"/>
          </p:nvPr>
        </p:nvSpPr>
        <p:spPr>
          <a:ln>
            <a:solidFill>
              <a:schemeClr val="tx1"/>
            </a:solidFill>
          </a:ln>
        </p:spPr>
        <p:txBody>
          <a:bodyPr>
            <a:normAutofit/>
          </a:bodyPr>
          <a:lstStyle/>
          <a:p>
            <a:r>
              <a:rPr lang="en-US" sz="2400" dirty="0">
                <a:solidFill>
                  <a:srgbClr val="4D5156"/>
                </a:solidFill>
                <a:highlight>
                  <a:srgbClr val="FFFFFF"/>
                </a:highlight>
                <a:latin typeface="Roboto" panose="02000000000000000000" pitchFamily="2" charset="0"/>
              </a:rPr>
              <a:t>The generally accepted accounting principles (GAAP)</a:t>
            </a:r>
            <a:endParaRPr lang="en-US" sz="2400" dirty="0"/>
          </a:p>
        </p:txBody>
      </p:sp>
      <p:sp>
        <p:nvSpPr>
          <p:cNvPr id="3" name="Content Placeholder 2">
            <a:extLst>
              <a:ext uri="{FF2B5EF4-FFF2-40B4-BE49-F238E27FC236}">
                <a16:creationId xmlns:a16="http://schemas.microsoft.com/office/drawing/2014/main" id="{A2DBCC75-1A27-4522-EDC6-53E70B5011B6}"/>
              </a:ext>
            </a:extLst>
          </p:cNvPr>
          <p:cNvSpPr>
            <a:spLocks noGrp="1"/>
          </p:cNvSpPr>
          <p:nvPr>
            <p:ph sz="quarter" idx="11"/>
          </p:nvPr>
        </p:nvSpPr>
        <p:spPr>
          <a:xfrm>
            <a:off x="539262" y="1276710"/>
            <a:ext cx="11195538" cy="4693017"/>
          </a:xfrm>
        </p:spPr>
        <p:txBody>
          <a:bodyPr>
            <a:normAutofit/>
          </a:bodyPr>
          <a:lstStyle/>
          <a:p>
            <a:r>
              <a:rPr lang="en-US" dirty="0"/>
              <a:t>The generally accepted accounting principles (GAAP) are a set of accounting rules, standards, and procedures issued and frequently revised by the Financial Accounting Standards Board (FASB) and the Governmental Accounting Standards Board (GASB).</a:t>
            </a:r>
          </a:p>
          <a:p>
            <a:r>
              <a:rPr lang="en-US" b="1" dirty="0"/>
              <a:t>The matching principal </a:t>
            </a:r>
            <a:r>
              <a:rPr lang="en-US" dirty="0"/>
              <a:t>GAAP requires that we recognize revenue when it is earned, not when the cash is received, and we match costs to revenues. This introduces noncash deductions such as depreciation and amortization. Consequently, net income is NOT the same as cash flow.</a:t>
            </a:r>
          </a:p>
          <a:p>
            <a:endParaRPr lang="en-US" dirty="0"/>
          </a:p>
        </p:txBody>
      </p:sp>
      <p:sp>
        <p:nvSpPr>
          <p:cNvPr id="7" name="Slide Number Placeholder 6">
            <a:extLst>
              <a:ext uri="{FF2B5EF4-FFF2-40B4-BE49-F238E27FC236}">
                <a16:creationId xmlns:a16="http://schemas.microsoft.com/office/drawing/2014/main" id="{53AA0942-F51D-7589-9FE5-10AF1CA97872}"/>
              </a:ext>
            </a:extLst>
          </p:cNvPr>
          <p:cNvSpPr>
            <a:spLocks noGrp="1"/>
          </p:cNvSpPr>
          <p:nvPr>
            <p:ph type="sldNum" sz="quarter" idx="10"/>
          </p:nvPr>
        </p:nvSpPr>
        <p:spPr/>
        <p:txBody>
          <a:bodyPr/>
          <a:lstStyle/>
          <a:p>
            <a:fld id="{68151E55-6873-49E2-B8D5-2F265E6F1973}" type="slidenum">
              <a:rPr lang="en-US" smtClean="0"/>
              <a:t>15</a:t>
            </a:fld>
            <a:endParaRPr lang="en-US"/>
          </a:p>
        </p:txBody>
      </p:sp>
    </p:spTree>
    <p:extLst>
      <p:ext uri="{BB962C8B-B14F-4D97-AF65-F5344CB8AC3E}">
        <p14:creationId xmlns:p14="http://schemas.microsoft.com/office/powerpoint/2010/main" val="2917081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CD9FB-88BB-4A03-8841-649C44E2FBA6}"/>
              </a:ext>
            </a:extLst>
          </p:cNvPr>
          <p:cNvSpPr>
            <a:spLocks noGrp="1"/>
          </p:cNvSpPr>
          <p:nvPr>
            <p:ph type="title"/>
          </p:nvPr>
        </p:nvSpPr>
        <p:spPr>
          <a:xfrm>
            <a:off x="1113692" y="192491"/>
            <a:ext cx="9211408" cy="771661"/>
          </a:xfrm>
          <a:ln>
            <a:solidFill>
              <a:schemeClr val="tx1"/>
            </a:solidFill>
          </a:ln>
        </p:spPr>
        <p:txBody>
          <a:bodyPr>
            <a:normAutofit/>
          </a:bodyPr>
          <a:lstStyle/>
          <a:p>
            <a:r>
              <a:rPr lang="en-US" altLang="en-US" sz="3600" dirty="0"/>
              <a:t>Taxes</a:t>
            </a:r>
            <a:endParaRPr lang="en-US" sz="1000" dirty="0"/>
          </a:p>
        </p:txBody>
      </p:sp>
      <p:sp>
        <p:nvSpPr>
          <p:cNvPr id="3" name="Content Placeholder 2">
            <a:extLst>
              <a:ext uri="{FF2B5EF4-FFF2-40B4-BE49-F238E27FC236}">
                <a16:creationId xmlns:a16="http://schemas.microsoft.com/office/drawing/2014/main" id="{73E5D0FC-4CD5-4770-A955-D3D62B321583}"/>
              </a:ext>
            </a:extLst>
          </p:cNvPr>
          <p:cNvSpPr>
            <a:spLocks noGrp="1"/>
          </p:cNvSpPr>
          <p:nvPr>
            <p:ph sz="quarter" idx="11"/>
          </p:nvPr>
        </p:nvSpPr>
        <p:spPr>
          <a:xfrm>
            <a:off x="1113692" y="1254154"/>
            <a:ext cx="9225258" cy="996677"/>
          </a:xfrm>
        </p:spPr>
        <p:txBody>
          <a:bodyPr>
            <a:normAutofit lnSpcReduction="10000"/>
          </a:bodyPr>
          <a:lstStyle/>
          <a:p>
            <a:pPr marL="0" indent="0">
              <a:buNone/>
              <a:defRPr/>
            </a:pPr>
            <a:r>
              <a:rPr lang="en-US" altLang="en-US" sz="2000" dirty="0"/>
              <a:t>Taxes can be one of the largest cash outflows a firm experiences.</a:t>
            </a:r>
          </a:p>
          <a:p>
            <a:pPr marL="0" lvl="1" indent="0">
              <a:buNone/>
              <a:defRPr/>
            </a:pPr>
            <a:r>
              <a:rPr lang="en-US" altLang="en-US" sz="2000" dirty="0"/>
              <a:t>Size of a company’s tax bill is determined by the tax code, an often amended set of rules.</a:t>
            </a:r>
          </a:p>
        </p:txBody>
      </p:sp>
      <p:sp>
        <p:nvSpPr>
          <p:cNvPr id="6" name="Content Placeholder 5">
            <a:extLst>
              <a:ext uri="{FF2B5EF4-FFF2-40B4-BE49-F238E27FC236}">
                <a16:creationId xmlns:a16="http://schemas.microsoft.com/office/drawing/2014/main" id="{B02BEC70-893E-4607-898E-B65D4C5DAB6C}"/>
              </a:ext>
            </a:extLst>
          </p:cNvPr>
          <p:cNvSpPr>
            <a:spLocks noGrp="1"/>
          </p:cNvSpPr>
          <p:nvPr>
            <p:ph sz="quarter" idx="14"/>
          </p:nvPr>
        </p:nvSpPr>
        <p:spPr>
          <a:xfrm>
            <a:off x="1113692" y="2549795"/>
            <a:ext cx="9225258" cy="2057509"/>
          </a:xfrm>
        </p:spPr>
        <p:txBody>
          <a:bodyPr/>
          <a:lstStyle/>
          <a:p>
            <a:pPr marL="0" indent="0">
              <a:buNone/>
              <a:defRPr/>
            </a:pPr>
            <a:r>
              <a:rPr lang="en-US" altLang="en-US" sz="2000" dirty="0"/>
              <a:t>Federal corporate tax rates became a flat 21% after the passage of the Tax Cuts and Jobs Act of 2017.</a:t>
            </a:r>
          </a:p>
          <a:p>
            <a:pPr marL="0" lvl="1" indent="0">
              <a:buNone/>
              <a:defRPr/>
            </a:pPr>
            <a:r>
              <a:rPr lang="en-US" altLang="en-US" sz="2000" dirty="0"/>
              <a:t>Tax rates on other forms of business (for example, proprietorships, partnerships, and L </a:t>
            </a:r>
            <a:r>
              <a:rPr lang="en-US" altLang="en-US" sz="2000" dirty="0" err="1"/>
              <a:t>L</a:t>
            </a:r>
            <a:r>
              <a:rPr lang="en-US" altLang="en-US" sz="2000" dirty="0"/>
              <a:t> C’s) did not become flat.</a:t>
            </a:r>
          </a:p>
        </p:txBody>
      </p:sp>
      <p:sp>
        <p:nvSpPr>
          <p:cNvPr id="10" name="Content Placeholder 9">
            <a:extLst>
              <a:ext uri="{FF2B5EF4-FFF2-40B4-BE49-F238E27FC236}">
                <a16:creationId xmlns:a16="http://schemas.microsoft.com/office/drawing/2014/main" id="{D57FBD18-F016-43C7-A1B6-00198E67D81D}"/>
              </a:ext>
            </a:extLst>
          </p:cNvPr>
          <p:cNvSpPr>
            <a:spLocks noGrp="1"/>
          </p:cNvSpPr>
          <p:nvPr>
            <p:ph sz="quarter" idx="15"/>
          </p:nvPr>
        </p:nvSpPr>
        <p:spPr>
          <a:xfrm>
            <a:off x="1008185" y="4126204"/>
            <a:ext cx="9316915" cy="2539306"/>
          </a:xfrm>
        </p:spPr>
        <p:txBody>
          <a:bodyPr/>
          <a:lstStyle/>
          <a:p>
            <a:pPr marL="0" indent="0">
              <a:buNone/>
            </a:pPr>
            <a:r>
              <a:rPr lang="en-US" altLang="en-US" sz="2000" b="1" dirty="0"/>
              <a:t>Average tax rate </a:t>
            </a:r>
            <a:r>
              <a:rPr lang="en-US" altLang="en-US" sz="2000" dirty="0"/>
              <a:t>is calculated as total taxes paid divided by total taxable income, while the marginal tax rate is the amount of tax payable on the next dollar earned.</a:t>
            </a:r>
          </a:p>
          <a:p>
            <a:pPr marL="0" indent="0">
              <a:buNone/>
            </a:pPr>
            <a:r>
              <a:rPr lang="en-US" altLang="en-US" sz="2000" b="1" dirty="0"/>
              <a:t>Marginal tax rate </a:t>
            </a:r>
            <a:r>
              <a:rPr lang="en-US" sz="1600" dirty="0">
                <a:solidFill>
                  <a:srgbClr val="000000"/>
                </a:solidFill>
                <a:highlight>
                  <a:srgbClr val="FFFFFF"/>
                </a:highlight>
                <a:latin typeface="ui-sans-serif"/>
              </a:rPr>
              <a:t> </a:t>
            </a:r>
            <a:r>
              <a:rPr lang="en-US" sz="2000" dirty="0"/>
              <a:t>It is the tax rate that applies to the next dollar earned and is a critical concept in understanding tax systems.</a:t>
            </a:r>
            <a:endParaRPr lang="en-US" altLang="en-US" sz="2000" dirty="0"/>
          </a:p>
        </p:txBody>
      </p:sp>
      <p:sp>
        <p:nvSpPr>
          <p:cNvPr id="7" name="Slide Number Placeholder 6">
            <a:extLst>
              <a:ext uri="{FF2B5EF4-FFF2-40B4-BE49-F238E27FC236}">
                <a16:creationId xmlns:a16="http://schemas.microsoft.com/office/drawing/2014/main" id="{98EFD3E9-38A2-4C07-AD3A-BC3BE09902CF}"/>
              </a:ext>
            </a:extLst>
          </p:cNvPr>
          <p:cNvSpPr>
            <a:spLocks noGrp="1"/>
          </p:cNvSpPr>
          <p:nvPr>
            <p:ph type="sldNum" sz="quarter" idx="10"/>
          </p:nvPr>
        </p:nvSpPr>
        <p:spPr/>
        <p:txBody>
          <a:bodyPr/>
          <a:lstStyle/>
          <a:p>
            <a:fld id="{68151E55-6873-49E2-B8D5-2F265E6F1973}" type="slidenum">
              <a:rPr lang="en-US" smtClean="0"/>
              <a:t>16</a:t>
            </a:fld>
            <a:endParaRPr lang="en-US"/>
          </a:p>
        </p:txBody>
      </p:sp>
    </p:spTree>
    <p:extLst>
      <p:ext uri="{BB962C8B-B14F-4D97-AF65-F5344CB8AC3E}">
        <p14:creationId xmlns:p14="http://schemas.microsoft.com/office/powerpoint/2010/main" val="1870178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67308-21AB-4D79-9F2C-B5A0F5E45275}"/>
              </a:ext>
            </a:extLst>
          </p:cNvPr>
          <p:cNvSpPr>
            <a:spLocks noGrp="1"/>
          </p:cNvSpPr>
          <p:nvPr>
            <p:ph type="title"/>
          </p:nvPr>
        </p:nvSpPr>
        <p:spPr>
          <a:xfrm>
            <a:off x="457200" y="192491"/>
            <a:ext cx="11277600" cy="698501"/>
          </a:xfrm>
          <a:ln>
            <a:solidFill>
              <a:schemeClr val="tx1"/>
            </a:solidFill>
          </a:ln>
        </p:spPr>
        <p:txBody>
          <a:bodyPr>
            <a:normAutofit/>
          </a:bodyPr>
          <a:lstStyle/>
          <a:p>
            <a:r>
              <a:rPr lang="en-US" altLang="en-US" sz="3600" dirty="0"/>
              <a:t>Cash Flow</a:t>
            </a:r>
            <a:endParaRPr lang="en-US" sz="3600" dirty="0"/>
          </a:p>
        </p:txBody>
      </p:sp>
      <p:sp>
        <p:nvSpPr>
          <p:cNvPr id="3" name="Content Placeholder 2">
            <a:extLst>
              <a:ext uri="{FF2B5EF4-FFF2-40B4-BE49-F238E27FC236}">
                <a16:creationId xmlns:a16="http://schemas.microsoft.com/office/drawing/2014/main" id="{CE966678-ADD1-4EEB-9EFF-FB218DA87BAD}"/>
              </a:ext>
            </a:extLst>
          </p:cNvPr>
          <p:cNvSpPr>
            <a:spLocks noGrp="1"/>
          </p:cNvSpPr>
          <p:nvPr>
            <p:ph sz="quarter" idx="11"/>
          </p:nvPr>
        </p:nvSpPr>
        <p:spPr>
          <a:xfrm>
            <a:off x="597877" y="1062503"/>
            <a:ext cx="11277600" cy="793785"/>
          </a:xfrm>
        </p:spPr>
        <p:txBody>
          <a:bodyPr/>
          <a:lstStyle/>
          <a:p>
            <a:r>
              <a:rPr lang="en-US" altLang="en-US" sz="2200" i="1" dirty="0"/>
              <a:t>Cash flow </a:t>
            </a:r>
            <a:r>
              <a:rPr lang="en-US" altLang="en-US" sz="2200" dirty="0"/>
              <a:t>means the difference between the number of dollars that came in and the number of dollars that went out.</a:t>
            </a:r>
          </a:p>
        </p:txBody>
      </p:sp>
      <p:sp>
        <p:nvSpPr>
          <p:cNvPr id="4" name="Content Placeholder 3">
            <a:extLst>
              <a:ext uri="{FF2B5EF4-FFF2-40B4-BE49-F238E27FC236}">
                <a16:creationId xmlns:a16="http://schemas.microsoft.com/office/drawing/2014/main" id="{10AF602A-FA8A-4BE2-9922-E7EDB684A143}"/>
              </a:ext>
            </a:extLst>
          </p:cNvPr>
          <p:cNvSpPr>
            <a:spLocks noGrp="1"/>
          </p:cNvSpPr>
          <p:nvPr>
            <p:ph sz="quarter" idx="14"/>
          </p:nvPr>
        </p:nvSpPr>
        <p:spPr>
          <a:xfrm>
            <a:off x="597877" y="1856288"/>
            <a:ext cx="10996246" cy="1358505"/>
          </a:xfrm>
        </p:spPr>
        <p:txBody>
          <a:bodyPr>
            <a:normAutofit lnSpcReduction="10000"/>
          </a:bodyPr>
          <a:lstStyle/>
          <a:p>
            <a:pPr marL="0" indent="0">
              <a:buNone/>
              <a:defRPr/>
            </a:pPr>
            <a:r>
              <a:rPr lang="en-US" altLang="en-US" sz="2200" dirty="0"/>
              <a:t>No standard financial statement presents this information in the way that we need (more about that later).</a:t>
            </a:r>
          </a:p>
          <a:p>
            <a:pPr marL="0" lvl="1" indent="0">
              <a:spcBef>
                <a:spcPts val="1000"/>
              </a:spcBef>
              <a:buNone/>
              <a:defRPr/>
            </a:pPr>
            <a:r>
              <a:rPr lang="en-US" altLang="en-US" sz="2200" i="1" dirty="0"/>
              <a:t>Statement of cash flows </a:t>
            </a:r>
            <a:r>
              <a:rPr lang="en-US" altLang="en-US" sz="2200" dirty="0"/>
              <a:t>is a standard financial accounting statement, but it is concerned with a somewhat different issue.</a:t>
            </a:r>
            <a:endParaRPr lang="en-US" sz="2200" dirty="0"/>
          </a:p>
        </p:txBody>
      </p:sp>
      <p:sp>
        <p:nvSpPr>
          <p:cNvPr id="5" name="Content Placeholder 4">
            <a:extLst>
              <a:ext uri="{FF2B5EF4-FFF2-40B4-BE49-F238E27FC236}">
                <a16:creationId xmlns:a16="http://schemas.microsoft.com/office/drawing/2014/main" id="{0AAFEF96-79CD-4CAD-B2FC-AFAAB64B2D16}"/>
              </a:ext>
            </a:extLst>
          </p:cNvPr>
          <p:cNvSpPr>
            <a:spLocks noGrp="1"/>
          </p:cNvSpPr>
          <p:nvPr>
            <p:ph sz="quarter" idx="15"/>
          </p:nvPr>
        </p:nvSpPr>
        <p:spPr>
          <a:xfrm>
            <a:off x="597876" y="3265824"/>
            <a:ext cx="10996246" cy="673100"/>
          </a:xfrm>
        </p:spPr>
        <p:txBody>
          <a:bodyPr>
            <a:normAutofit lnSpcReduction="10000"/>
          </a:bodyPr>
          <a:lstStyle/>
          <a:p>
            <a:r>
              <a:rPr lang="en-US" altLang="en-US" sz="2200" i="1" u="sng" dirty="0"/>
              <a:t>Cash flow identity </a:t>
            </a:r>
            <a:r>
              <a:rPr lang="en-US" altLang="en-US" sz="2200" dirty="0"/>
              <a:t>says the cash flow from the firm’s assets is equal to the cash flow paid to suppliers of capital to the firm:</a:t>
            </a:r>
            <a:endParaRPr lang="en-US" sz="2200" dirty="0"/>
          </a:p>
        </p:txBody>
      </p:sp>
      <p:sp>
        <p:nvSpPr>
          <p:cNvPr id="6" name="Content Placeholder 5">
            <a:extLst>
              <a:ext uri="{FF2B5EF4-FFF2-40B4-BE49-F238E27FC236}">
                <a16:creationId xmlns:a16="http://schemas.microsoft.com/office/drawing/2014/main" id="{E5365544-B078-47A1-86E1-302F75F3CFB5}"/>
              </a:ext>
            </a:extLst>
          </p:cNvPr>
          <p:cNvSpPr>
            <a:spLocks noGrp="1"/>
          </p:cNvSpPr>
          <p:nvPr>
            <p:ph sz="quarter" idx="16"/>
          </p:nvPr>
        </p:nvSpPr>
        <p:spPr>
          <a:xfrm>
            <a:off x="597877" y="4615391"/>
            <a:ext cx="9727223" cy="698500"/>
          </a:xfrm>
        </p:spPr>
        <p:txBody>
          <a:bodyPr/>
          <a:lstStyle/>
          <a:p>
            <a:r>
              <a:rPr lang="en-US" sz="2200" b="1" dirty="0"/>
              <a:t>Cash flow from assets = Cash flow to creditors + Cash flow to stockholders</a:t>
            </a:r>
          </a:p>
          <a:p>
            <a:endParaRPr lang="en-US" sz="2200" b="1" dirty="0"/>
          </a:p>
        </p:txBody>
      </p:sp>
      <p:sp>
        <p:nvSpPr>
          <p:cNvPr id="7" name="Content Placeholder 6">
            <a:extLst>
              <a:ext uri="{FF2B5EF4-FFF2-40B4-BE49-F238E27FC236}">
                <a16:creationId xmlns:a16="http://schemas.microsoft.com/office/drawing/2014/main" id="{2C006964-1349-4FE4-8208-CD8CB51BB8D0}"/>
              </a:ext>
            </a:extLst>
          </p:cNvPr>
          <p:cNvSpPr>
            <a:spLocks noGrp="1"/>
          </p:cNvSpPr>
          <p:nvPr>
            <p:ph sz="quarter" idx="17"/>
          </p:nvPr>
        </p:nvSpPr>
        <p:spPr>
          <a:xfrm>
            <a:off x="597877" y="5414670"/>
            <a:ext cx="9727223" cy="1057305"/>
          </a:xfrm>
        </p:spPr>
        <p:txBody>
          <a:bodyPr/>
          <a:lstStyle/>
          <a:p>
            <a:r>
              <a:rPr lang="en-US" altLang="en-US" sz="2200" dirty="0"/>
              <a:t>Cash flow identity reflects the fact that a firm generates cash through its various activities, and that cash is either used to pay creditors or paid out to the owners of the firm.</a:t>
            </a:r>
            <a:endParaRPr lang="en-US" sz="2200" dirty="0"/>
          </a:p>
        </p:txBody>
      </p:sp>
      <p:sp>
        <p:nvSpPr>
          <p:cNvPr id="11" name="Slide Number Placeholder 10">
            <a:extLst>
              <a:ext uri="{FF2B5EF4-FFF2-40B4-BE49-F238E27FC236}">
                <a16:creationId xmlns:a16="http://schemas.microsoft.com/office/drawing/2014/main" id="{A3EB9DE6-6541-4141-9AFF-6E27F4EFCD69}"/>
              </a:ext>
            </a:extLst>
          </p:cNvPr>
          <p:cNvSpPr>
            <a:spLocks noGrp="1"/>
          </p:cNvSpPr>
          <p:nvPr>
            <p:ph type="sldNum" sz="quarter" idx="10"/>
          </p:nvPr>
        </p:nvSpPr>
        <p:spPr/>
        <p:txBody>
          <a:bodyPr/>
          <a:lstStyle/>
          <a:p>
            <a:fld id="{68151E55-6873-49E2-B8D5-2F265E6F1973}" type="slidenum">
              <a:rPr lang="en-US" smtClean="0"/>
              <a:t>17</a:t>
            </a:fld>
            <a:endParaRPr lang="en-US" dirty="0"/>
          </a:p>
        </p:txBody>
      </p:sp>
      <p:graphicFrame>
        <p:nvGraphicFramePr>
          <p:cNvPr id="8" name="Object 7">
            <a:extLst>
              <a:ext uri="{FF2B5EF4-FFF2-40B4-BE49-F238E27FC236}">
                <a16:creationId xmlns:a16="http://schemas.microsoft.com/office/drawing/2014/main" id="{61E45945-DEFE-3622-CBE3-C8FBA11BB513}"/>
              </a:ext>
            </a:extLst>
          </p:cNvPr>
          <p:cNvGraphicFramePr>
            <a:graphicFrameLocks noChangeAspect="1"/>
          </p:cNvGraphicFramePr>
          <p:nvPr>
            <p:extLst>
              <p:ext uri="{D42A27DB-BD31-4B8C-83A1-F6EECF244321}">
                <p14:modId xmlns:p14="http://schemas.microsoft.com/office/powerpoint/2010/main" val="648931566"/>
              </p:ext>
            </p:extLst>
          </p:nvPr>
        </p:nvGraphicFramePr>
        <p:xfrm>
          <a:off x="2251550" y="4050652"/>
          <a:ext cx="3086100" cy="342900"/>
        </p:xfrm>
        <a:graphic>
          <a:graphicData uri="http://schemas.openxmlformats.org/presentationml/2006/ole">
            <mc:AlternateContent xmlns:mc="http://schemas.openxmlformats.org/markup-compatibility/2006">
              <mc:Choice xmlns:v="urn:schemas-microsoft-com:vml" Requires="v">
                <p:oleObj name="Equation" r:id="rId3" imgW="3085920" imgH="342720" progId="Equation.DSMT4">
                  <p:embed/>
                </p:oleObj>
              </mc:Choice>
              <mc:Fallback>
                <p:oleObj name="Equation" r:id="rId3" imgW="3085920" imgH="342720" progId="Equation.DSMT4">
                  <p:embed/>
                  <p:pic>
                    <p:nvPicPr>
                      <p:cNvPr id="7" name="Object 6">
                        <a:extLst>
                          <a:ext uri="{FF2B5EF4-FFF2-40B4-BE49-F238E27FC236}">
                            <a16:creationId xmlns:a16="http://schemas.microsoft.com/office/drawing/2014/main" id="{20B2E831-6AAC-41AA-BECF-422910232AF6}"/>
                          </a:ext>
                        </a:extLst>
                      </p:cNvPr>
                      <p:cNvPicPr/>
                      <p:nvPr/>
                    </p:nvPicPr>
                    <p:blipFill>
                      <a:blip r:embed="rId4"/>
                      <a:stretch>
                        <a:fillRect/>
                      </a:stretch>
                    </p:blipFill>
                    <p:spPr>
                      <a:xfrm>
                        <a:off x="2251550" y="4050652"/>
                        <a:ext cx="3086100" cy="342900"/>
                      </a:xfrm>
                      <a:prstGeom prst="rect">
                        <a:avLst/>
                      </a:prstGeom>
                    </p:spPr>
                  </p:pic>
                </p:oleObj>
              </mc:Fallback>
            </mc:AlternateContent>
          </a:graphicData>
        </a:graphic>
      </p:graphicFrame>
    </p:spTree>
    <p:extLst>
      <p:ext uri="{BB962C8B-B14F-4D97-AF65-F5344CB8AC3E}">
        <p14:creationId xmlns:p14="http://schemas.microsoft.com/office/powerpoint/2010/main" val="940933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CD9FB-88BB-4A03-8841-649C44E2FBA6}"/>
              </a:ext>
            </a:extLst>
          </p:cNvPr>
          <p:cNvSpPr>
            <a:spLocks noGrp="1"/>
          </p:cNvSpPr>
          <p:nvPr>
            <p:ph type="title"/>
          </p:nvPr>
        </p:nvSpPr>
        <p:spPr>
          <a:xfrm>
            <a:off x="785446" y="192491"/>
            <a:ext cx="9539654" cy="839476"/>
          </a:xfrm>
          <a:ln>
            <a:solidFill>
              <a:schemeClr val="tx1"/>
            </a:solidFill>
          </a:ln>
        </p:spPr>
        <p:txBody>
          <a:bodyPr>
            <a:normAutofit/>
          </a:bodyPr>
          <a:lstStyle/>
          <a:p>
            <a:r>
              <a:rPr lang="en-US" altLang="en-US" sz="3600" dirty="0"/>
              <a:t>Cash Flow from Assets </a:t>
            </a:r>
            <a:r>
              <a:rPr lang="en-US" altLang="en-US" sz="1000" dirty="0"/>
              <a:t>1</a:t>
            </a:r>
            <a:endParaRPr lang="en-US" sz="1000" dirty="0"/>
          </a:p>
        </p:txBody>
      </p:sp>
      <p:sp>
        <p:nvSpPr>
          <p:cNvPr id="3" name="Content Placeholder 2">
            <a:extLst>
              <a:ext uri="{FF2B5EF4-FFF2-40B4-BE49-F238E27FC236}">
                <a16:creationId xmlns:a16="http://schemas.microsoft.com/office/drawing/2014/main" id="{73E5D0FC-4CD5-4770-A955-D3D62B321583}"/>
              </a:ext>
            </a:extLst>
          </p:cNvPr>
          <p:cNvSpPr>
            <a:spLocks noGrp="1"/>
          </p:cNvSpPr>
          <p:nvPr>
            <p:ph sz="quarter" idx="11"/>
          </p:nvPr>
        </p:nvSpPr>
        <p:spPr>
          <a:xfrm>
            <a:off x="785446" y="1254153"/>
            <a:ext cx="9553504" cy="3349020"/>
          </a:xfrm>
        </p:spPr>
        <p:txBody>
          <a:bodyPr/>
          <a:lstStyle/>
          <a:p>
            <a:pPr marL="0" indent="0">
              <a:buNone/>
              <a:defRPr/>
            </a:pPr>
            <a:r>
              <a:rPr lang="en-US" altLang="en-US" sz="2200" b="1" dirty="0"/>
              <a:t>Cash flow from assets (CFFA) </a:t>
            </a:r>
            <a:r>
              <a:rPr lang="en-US" altLang="en-US" sz="2200" dirty="0"/>
              <a:t>is the total of cash flow to creditors and cash flow to stockholders, consisting of the following three components:</a:t>
            </a:r>
          </a:p>
          <a:p>
            <a:pPr marL="291600" lvl="1" indent="-291600">
              <a:defRPr/>
            </a:pPr>
            <a:r>
              <a:rPr lang="en-US" altLang="en-US" sz="2000" b="1" dirty="0"/>
              <a:t>Operating cash flow </a:t>
            </a:r>
            <a:r>
              <a:rPr lang="en-US" altLang="en-US" sz="2000" dirty="0"/>
              <a:t>refers to cash generated from a firm’s normal business activities.</a:t>
            </a:r>
          </a:p>
          <a:p>
            <a:pPr marL="291600" lvl="1" indent="-291600">
              <a:defRPr/>
            </a:pPr>
            <a:r>
              <a:rPr lang="en-US" altLang="en-US" sz="2000" b="1" dirty="0"/>
              <a:t>Capital spending </a:t>
            </a:r>
            <a:r>
              <a:rPr lang="en-US" altLang="en-US" sz="2000" dirty="0"/>
              <a:t>refers to the net spending on fixed assets (purchases of fixed assets less sales of fixed assets).</a:t>
            </a:r>
          </a:p>
          <a:p>
            <a:pPr marL="291600" lvl="1" indent="-291600">
              <a:defRPr/>
            </a:pPr>
            <a:r>
              <a:rPr lang="en-US" altLang="en-US" sz="2000" b="1" dirty="0"/>
              <a:t>Change in net working capital </a:t>
            </a:r>
            <a:r>
              <a:rPr lang="en-US" altLang="en-US" sz="2000" dirty="0"/>
              <a:t>is measured as the net change in current assets relative to current liabilities for the period being examined and represents the amount spend on net working capital.</a:t>
            </a:r>
          </a:p>
        </p:txBody>
      </p:sp>
      <p:sp>
        <p:nvSpPr>
          <p:cNvPr id="10" name="Content Placeholder 9">
            <a:extLst>
              <a:ext uri="{FF2B5EF4-FFF2-40B4-BE49-F238E27FC236}">
                <a16:creationId xmlns:a16="http://schemas.microsoft.com/office/drawing/2014/main" id="{D57FBD18-F016-43C7-A1B6-00198E67D81D}"/>
              </a:ext>
            </a:extLst>
          </p:cNvPr>
          <p:cNvSpPr>
            <a:spLocks noGrp="1"/>
          </p:cNvSpPr>
          <p:nvPr>
            <p:ph sz="quarter" idx="15"/>
          </p:nvPr>
        </p:nvSpPr>
        <p:spPr>
          <a:xfrm>
            <a:off x="785446" y="4761605"/>
            <a:ext cx="9553504" cy="1452160"/>
          </a:xfrm>
        </p:spPr>
        <p:txBody>
          <a:bodyPr/>
          <a:lstStyle/>
          <a:p>
            <a:pPr marL="0" indent="0">
              <a:buNone/>
            </a:pPr>
            <a:r>
              <a:rPr lang="en-US" altLang="en-US" sz="2200" dirty="0"/>
              <a:t>Cash flow from assets is sometimes called </a:t>
            </a:r>
            <a:r>
              <a:rPr lang="en-US" altLang="en-US" sz="2200" b="1" u="sng" dirty="0"/>
              <a:t>free cash flow (FCF)</a:t>
            </a:r>
            <a:r>
              <a:rPr lang="en-US" altLang="en-US" sz="2200" dirty="0"/>
              <a:t>, referring to the cash the firm is “free” to distribute to creditors and stockholders because it is not needed for working capital or fixed asset investments.</a:t>
            </a:r>
          </a:p>
        </p:txBody>
      </p:sp>
      <p:sp>
        <p:nvSpPr>
          <p:cNvPr id="7" name="Slide Number Placeholder 6">
            <a:extLst>
              <a:ext uri="{FF2B5EF4-FFF2-40B4-BE49-F238E27FC236}">
                <a16:creationId xmlns:a16="http://schemas.microsoft.com/office/drawing/2014/main" id="{98EFD3E9-38A2-4C07-AD3A-BC3BE09902CF}"/>
              </a:ext>
            </a:extLst>
          </p:cNvPr>
          <p:cNvSpPr>
            <a:spLocks noGrp="1"/>
          </p:cNvSpPr>
          <p:nvPr>
            <p:ph type="sldNum" sz="quarter" idx="10"/>
          </p:nvPr>
        </p:nvSpPr>
        <p:spPr/>
        <p:txBody>
          <a:bodyPr/>
          <a:lstStyle/>
          <a:p>
            <a:fld id="{68151E55-6873-49E2-B8D5-2F265E6F1973}" type="slidenum">
              <a:rPr lang="en-US" smtClean="0"/>
              <a:t>18</a:t>
            </a:fld>
            <a:endParaRPr lang="en-US"/>
          </a:p>
        </p:txBody>
      </p:sp>
    </p:spTree>
    <p:extLst>
      <p:ext uri="{BB962C8B-B14F-4D97-AF65-F5344CB8AC3E}">
        <p14:creationId xmlns:p14="http://schemas.microsoft.com/office/powerpoint/2010/main" val="29333905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CD9FB-88BB-4A03-8841-649C44E2FBA6}"/>
              </a:ext>
            </a:extLst>
          </p:cNvPr>
          <p:cNvSpPr>
            <a:spLocks noGrp="1"/>
          </p:cNvSpPr>
          <p:nvPr>
            <p:ph type="title"/>
          </p:nvPr>
        </p:nvSpPr>
        <p:spPr>
          <a:ln>
            <a:solidFill>
              <a:schemeClr val="tx1"/>
            </a:solidFill>
          </a:ln>
        </p:spPr>
        <p:txBody>
          <a:bodyPr>
            <a:normAutofit/>
          </a:bodyPr>
          <a:lstStyle/>
          <a:p>
            <a:r>
              <a:rPr lang="en-US" altLang="en-US" sz="3600" dirty="0"/>
              <a:t>Cash Flow from Assets </a:t>
            </a:r>
            <a:endParaRPr lang="en-US" sz="1000" dirty="0"/>
          </a:p>
        </p:txBody>
      </p:sp>
      <p:sp>
        <p:nvSpPr>
          <p:cNvPr id="3" name="Content Placeholder 2">
            <a:extLst>
              <a:ext uri="{FF2B5EF4-FFF2-40B4-BE49-F238E27FC236}">
                <a16:creationId xmlns:a16="http://schemas.microsoft.com/office/drawing/2014/main" id="{73E5D0FC-4CD5-4770-A955-D3D62B321583}"/>
              </a:ext>
            </a:extLst>
          </p:cNvPr>
          <p:cNvSpPr>
            <a:spLocks noGrp="1"/>
          </p:cNvSpPr>
          <p:nvPr>
            <p:ph sz="quarter" idx="11"/>
          </p:nvPr>
        </p:nvSpPr>
        <p:spPr>
          <a:xfrm>
            <a:off x="562708" y="1254153"/>
            <a:ext cx="11277600" cy="2393056"/>
          </a:xfrm>
        </p:spPr>
        <p:txBody>
          <a:bodyPr>
            <a:normAutofit/>
          </a:bodyPr>
          <a:lstStyle/>
          <a:p>
            <a:pPr marL="0" indent="0">
              <a:buNone/>
              <a:defRPr/>
            </a:pPr>
            <a:r>
              <a:rPr lang="en-US" altLang="en-US" sz="2000" i="1" u="sng" dirty="0"/>
              <a:t>Operating cash flow </a:t>
            </a:r>
            <a:r>
              <a:rPr lang="en-US" altLang="en-US" sz="2000" dirty="0"/>
              <a:t>is calculated as revenues minus costs and tells us whether a firm’s cash inflows from its business operations are sufficient to cover its everyday cash outflows.</a:t>
            </a:r>
          </a:p>
          <a:p>
            <a:pPr marL="291600" lvl="1" indent="-291600">
              <a:defRPr/>
            </a:pPr>
            <a:r>
              <a:rPr lang="en-US" altLang="en-US" sz="2000" dirty="0"/>
              <a:t>Do not include depreciation or interest in the calculation but be sure to include taxes.</a:t>
            </a:r>
          </a:p>
          <a:p>
            <a:pPr marL="291600" lvl="1" indent="-291600">
              <a:defRPr/>
            </a:pPr>
            <a:r>
              <a:rPr lang="en-US" altLang="en-US" sz="2000" dirty="0"/>
              <a:t>Negative operating cash flow is a sign of trouble.</a:t>
            </a:r>
          </a:p>
          <a:p>
            <a:pPr marL="291600" lvl="1" indent="-291600">
              <a:defRPr/>
            </a:pPr>
            <a:r>
              <a:rPr lang="en-US" altLang="en-US" sz="2000" dirty="0"/>
              <a:t>Different calculation used for operating cash flow in accounting.</a:t>
            </a:r>
            <a:endParaRPr lang="en-US" sz="2000" dirty="0"/>
          </a:p>
        </p:txBody>
      </p:sp>
      <p:sp>
        <p:nvSpPr>
          <p:cNvPr id="6" name="Content Placeholder 5">
            <a:extLst>
              <a:ext uri="{FF2B5EF4-FFF2-40B4-BE49-F238E27FC236}">
                <a16:creationId xmlns:a16="http://schemas.microsoft.com/office/drawing/2014/main" id="{B02BEC70-893E-4607-898E-B65D4C5DAB6C}"/>
              </a:ext>
            </a:extLst>
          </p:cNvPr>
          <p:cNvSpPr>
            <a:spLocks noGrp="1"/>
          </p:cNvSpPr>
          <p:nvPr>
            <p:ph sz="quarter" idx="14"/>
          </p:nvPr>
        </p:nvSpPr>
        <p:spPr>
          <a:xfrm>
            <a:off x="562708" y="3429000"/>
            <a:ext cx="11172092" cy="1075590"/>
          </a:xfrm>
        </p:spPr>
        <p:txBody>
          <a:bodyPr/>
          <a:lstStyle/>
          <a:p>
            <a:pPr marL="0" indent="0">
              <a:buNone/>
              <a:defRPr/>
            </a:pPr>
            <a:r>
              <a:rPr lang="en-US" altLang="en-US" sz="2000" i="1" u="sng" dirty="0"/>
              <a:t>Net capital spending </a:t>
            </a:r>
            <a:r>
              <a:rPr lang="en-US" altLang="en-US" sz="2000" dirty="0"/>
              <a:t>(that is, CAPEX) is money spent on fixed assets less money received from the sale of fixed assets.</a:t>
            </a:r>
          </a:p>
          <a:p>
            <a:pPr marL="291600" lvl="1" indent="-291600">
              <a:defRPr/>
            </a:pPr>
            <a:r>
              <a:rPr lang="en-US" altLang="en-US" sz="2000" dirty="0"/>
              <a:t>Could be negative is the firm sells more assets than it purchases.</a:t>
            </a:r>
            <a:endParaRPr lang="en-US" sz="2000" dirty="0"/>
          </a:p>
        </p:txBody>
      </p:sp>
      <p:sp>
        <p:nvSpPr>
          <p:cNvPr id="10" name="Content Placeholder 9">
            <a:extLst>
              <a:ext uri="{FF2B5EF4-FFF2-40B4-BE49-F238E27FC236}">
                <a16:creationId xmlns:a16="http://schemas.microsoft.com/office/drawing/2014/main" id="{D57FBD18-F016-43C7-A1B6-00198E67D81D}"/>
              </a:ext>
            </a:extLst>
          </p:cNvPr>
          <p:cNvSpPr>
            <a:spLocks noGrp="1"/>
          </p:cNvSpPr>
          <p:nvPr>
            <p:ph sz="quarter" idx="15"/>
          </p:nvPr>
        </p:nvSpPr>
        <p:spPr>
          <a:xfrm>
            <a:off x="457199" y="4749202"/>
            <a:ext cx="11044683" cy="1212296"/>
          </a:xfrm>
        </p:spPr>
        <p:txBody>
          <a:bodyPr/>
          <a:lstStyle/>
          <a:p>
            <a:pPr marL="0" indent="0">
              <a:buNone/>
              <a:defRPr/>
            </a:pPr>
            <a:r>
              <a:rPr lang="en-US" altLang="en-US" sz="2000" i="1" u="sng" dirty="0"/>
              <a:t>Change in net working capital </a:t>
            </a:r>
            <a:r>
              <a:rPr lang="en-US" altLang="en-US" sz="2000" dirty="0"/>
              <a:t>is found by taking the difference between the beginning and ending net working capital (N</a:t>
            </a:r>
            <a:r>
              <a:rPr lang="en-US" altLang="en-US" sz="100" dirty="0"/>
              <a:t> </a:t>
            </a:r>
            <a:r>
              <a:rPr lang="en-US" altLang="en-US" sz="2000" dirty="0"/>
              <a:t>W</a:t>
            </a:r>
            <a:r>
              <a:rPr lang="en-US" altLang="en-US" sz="100" dirty="0"/>
              <a:t> </a:t>
            </a:r>
            <a:r>
              <a:rPr lang="en-US" altLang="en-US" sz="2000" dirty="0"/>
              <a:t>C) figures.</a:t>
            </a:r>
          </a:p>
          <a:p>
            <a:pPr marL="291600" lvl="1" indent="-291600">
              <a:defRPr/>
            </a:pPr>
            <a:r>
              <a:rPr lang="en-US" altLang="en-US" sz="2000" dirty="0"/>
              <a:t>Often referred to as the “addition to” N</a:t>
            </a:r>
            <a:r>
              <a:rPr lang="en-US" altLang="en-US" sz="100" dirty="0"/>
              <a:t> </a:t>
            </a:r>
            <a:r>
              <a:rPr lang="en-US" altLang="en-US" sz="2000" dirty="0"/>
              <a:t>W</a:t>
            </a:r>
            <a:r>
              <a:rPr lang="en-US" altLang="en-US" sz="100" dirty="0"/>
              <a:t> </a:t>
            </a:r>
            <a:r>
              <a:rPr lang="en-US" altLang="en-US" sz="2000" dirty="0"/>
              <a:t>C.</a:t>
            </a:r>
            <a:endParaRPr lang="en-US" sz="2000" dirty="0"/>
          </a:p>
        </p:txBody>
      </p:sp>
      <p:sp>
        <p:nvSpPr>
          <p:cNvPr id="7" name="Slide Number Placeholder 6">
            <a:extLst>
              <a:ext uri="{FF2B5EF4-FFF2-40B4-BE49-F238E27FC236}">
                <a16:creationId xmlns:a16="http://schemas.microsoft.com/office/drawing/2014/main" id="{98EFD3E9-38A2-4C07-AD3A-BC3BE09902CF}"/>
              </a:ext>
            </a:extLst>
          </p:cNvPr>
          <p:cNvSpPr>
            <a:spLocks noGrp="1"/>
          </p:cNvSpPr>
          <p:nvPr>
            <p:ph type="sldNum" sz="quarter" idx="10"/>
          </p:nvPr>
        </p:nvSpPr>
        <p:spPr/>
        <p:txBody>
          <a:bodyPr/>
          <a:lstStyle/>
          <a:p>
            <a:fld id="{68151E55-6873-49E2-B8D5-2F265E6F1973}" type="slidenum">
              <a:rPr lang="en-US" smtClean="0"/>
              <a:t>19</a:t>
            </a:fld>
            <a:endParaRPr lang="en-US"/>
          </a:p>
        </p:txBody>
      </p:sp>
    </p:spTree>
    <p:extLst>
      <p:ext uri="{BB962C8B-B14F-4D97-AF65-F5344CB8AC3E}">
        <p14:creationId xmlns:p14="http://schemas.microsoft.com/office/powerpoint/2010/main" val="4009243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72865-E33F-8FA1-3580-9C8DB6D78E22}"/>
              </a:ext>
            </a:extLst>
          </p:cNvPr>
          <p:cNvSpPr>
            <a:spLocks noGrp="1"/>
          </p:cNvSpPr>
          <p:nvPr>
            <p:ph type="title"/>
          </p:nvPr>
        </p:nvSpPr>
        <p:spPr>
          <a:ln>
            <a:solidFill>
              <a:schemeClr val="tx1"/>
            </a:solidFill>
          </a:ln>
        </p:spPr>
        <p:txBody>
          <a:bodyPr/>
          <a:lstStyle/>
          <a:p>
            <a:r>
              <a:rPr lang="en-US" altLang="en-US" dirty="0"/>
              <a:t>Cash Flow from Assets </a:t>
            </a:r>
            <a:endParaRPr lang="en-US" dirty="0"/>
          </a:p>
        </p:txBody>
      </p:sp>
      <p:sp>
        <p:nvSpPr>
          <p:cNvPr id="3" name="Content Placeholder 2">
            <a:extLst>
              <a:ext uri="{FF2B5EF4-FFF2-40B4-BE49-F238E27FC236}">
                <a16:creationId xmlns:a16="http://schemas.microsoft.com/office/drawing/2014/main" id="{132D4B20-09EB-BF15-C322-0800FE626806}"/>
              </a:ext>
            </a:extLst>
          </p:cNvPr>
          <p:cNvSpPr>
            <a:spLocks noGrp="1"/>
          </p:cNvSpPr>
          <p:nvPr>
            <p:ph sz="quarter" idx="11"/>
          </p:nvPr>
        </p:nvSpPr>
        <p:spPr>
          <a:xfrm>
            <a:off x="0" y="1276710"/>
            <a:ext cx="10325101" cy="4704868"/>
          </a:xfrm>
        </p:spPr>
        <p:txBody>
          <a:bodyPr>
            <a:normAutofit fontScale="77500" lnSpcReduction="20000"/>
          </a:bodyPr>
          <a:lstStyle/>
          <a:p>
            <a:pPr marL="1371600" lvl="3" indent="0">
              <a:spcBef>
                <a:spcPts val="0"/>
              </a:spcBef>
              <a:buNone/>
              <a:tabLst>
                <a:tab pos="1371600" algn="l"/>
              </a:tabLst>
            </a:pPr>
            <a:r>
              <a:rPr lang="en-US" sz="3800" dirty="0">
                <a:latin typeface="Times New Roman" panose="02020603050405020304" pitchFamily="18" charset="0"/>
                <a:ea typeface="Times New Roman" panose="02020603050405020304" pitchFamily="18" charset="0"/>
                <a:cs typeface="Times New Roman" panose="02020603050405020304" pitchFamily="18" charset="0"/>
              </a:rPr>
              <a:t>Cash flow from Assets = Cash flow to creditors + Cash flow to stockholders</a:t>
            </a:r>
            <a:br>
              <a:rPr lang="en-US" sz="3800" dirty="0">
                <a:latin typeface="Times New Roman" panose="02020603050405020304" pitchFamily="18" charset="0"/>
                <a:ea typeface="Times New Roman" panose="02020603050405020304" pitchFamily="18" charset="0"/>
                <a:cs typeface="Times New Roman" panose="02020603050405020304" pitchFamily="18" charset="0"/>
              </a:rPr>
            </a:br>
            <a:endParaRPr lang="en-US" sz="3800" dirty="0">
              <a:latin typeface="Times New Roman" panose="02020603050405020304" pitchFamily="18" charset="0"/>
              <a:ea typeface="Times New Roman" panose="02020603050405020304" pitchFamily="18" charset="0"/>
              <a:cs typeface="Times New Roman" panose="02020603050405020304" pitchFamily="18" charset="0"/>
            </a:endParaRPr>
          </a:p>
          <a:p>
            <a:pPr marL="1371600" lvl="3" indent="0">
              <a:spcBef>
                <a:spcPts val="0"/>
              </a:spcBef>
              <a:buNone/>
              <a:tabLst>
                <a:tab pos="1371600" algn="l"/>
              </a:tabLst>
            </a:pPr>
            <a:r>
              <a:rPr lang="en-US" sz="3800" dirty="0">
                <a:latin typeface="Times New Roman" panose="02020603050405020304" pitchFamily="18" charset="0"/>
                <a:ea typeface="Times New Roman" panose="02020603050405020304" pitchFamily="18" charset="0"/>
                <a:cs typeface="Times New Roman" panose="02020603050405020304" pitchFamily="18" charset="0"/>
              </a:rPr>
              <a:t>CFFA = </a:t>
            </a:r>
            <a:r>
              <a:rPr lang="en-US" sz="380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Operating cash flow </a:t>
            </a:r>
            <a:r>
              <a:rPr lang="en-US" sz="3800" dirty="0">
                <a:solidFill>
                  <a:srgbClr val="000000"/>
                </a:solidFill>
                <a:latin typeface="Times New Roman" panose="02020603050405020304" pitchFamily="18" charset="0"/>
                <a:ea typeface="MS Gothic" panose="020B0609070205080204" pitchFamily="49" charset="-128"/>
                <a:cs typeface="Times New Roman" panose="02020603050405020304" pitchFamily="18" charset="0"/>
              </a:rPr>
              <a:t>−</a:t>
            </a:r>
            <a:r>
              <a:rPr lang="en-US" sz="38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3800" dirty="0">
                <a:solidFill>
                  <a:schemeClr val="accent5">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Net capital spending </a:t>
            </a:r>
            <a:r>
              <a:rPr lang="en-US" sz="3800" dirty="0">
                <a:solidFill>
                  <a:srgbClr val="000000"/>
                </a:solidFill>
                <a:latin typeface="Times New Roman" panose="02020603050405020304" pitchFamily="18" charset="0"/>
                <a:ea typeface="MS Gothic" panose="020B0609070205080204" pitchFamily="49" charset="-128"/>
                <a:cs typeface="Times New Roman" panose="02020603050405020304" pitchFamily="18" charset="0"/>
              </a:rPr>
              <a:t>− </a:t>
            </a:r>
            <a:r>
              <a:rPr lang="en-US" sz="3800" dirty="0">
                <a:solidFill>
                  <a:srgbClr val="00B050"/>
                </a:solidFill>
                <a:latin typeface="Times New Roman" panose="02020603050405020304" pitchFamily="18" charset="0"/>
                <a:ea typeface="Times New Roman" panose="02020603050405020304" pitchFamily="18" charset="0"/>
                <a:cs typeface="Times New Roman" panose="02020603050405020304" pitchFamily="18" charset="0"/>
              </a:rPr>
              <a:t>Changes in net working capital</a:t>
            </a:r>
            <a:br>
              <a:rPr lang="en-US" sz="3800" dirty="0">
                <a:latin typeface="Times New Roman" panose="02020603050405020304" pitchFamily="18" charset="0"/>
                <a:ea typeface="Times New Roman" panose="02020603050405020304" pitchFamily="18" charset="0"/>
                <a:cs typeface="Times New Roman" panose="02020603050405020304" pitchFamily="18" charset="0"/>
              </a:rPr>
            </a:br>
            <a:br>
              <a:rPr lang="en-US" sz="3800" dirty="0">
                <a:latin typeface="Times New Roman" panose="02020603050405020304" pitchFamily="18" charset="0"/>
                <a:ea typeface="Times New Roman" panose="02020603050405020304" pitchFamily="18" charset="0"/>
                <a:cs typeface="Times New Roman" panose="02020603050405020304" pitchFamily="18" charset="0"/>
              </a:rPr>
            </a:br>
            <a:r>
              <a:rPr lang="en-US" sz="3800" dirty="0">
                <a:latin typeface="Times New Roman" panose="02020603050405020304" pitchFamily="18" charset="0"/>
                <a:ea typeface="Times New Roman" panose="02020603050405020304" pitchFamily="18" charset="0"/>
                <a:cs typeface="Times New Roman" panose="02020603050405020304" pitchFamily="18" charset="0"/>
              </a:rPr>
              <a:t>1.	</a:t>
            </a:r>
            <a:r>
              <a:rPr lang="en-US" sz="3800" dirty="0">
                <a:solidFill>
                  <a:srgbClr val="FF0000"/>
                </a:solidFill>
                <a:latin typeface="Times New Roman" panose="02020603050405020304" pitchFamily="18" charset="0"/>
                <a:cs typeface="Times New Roman" panose="02020603050405020304" pitchFamily="18" charset="0"/>
              </a:rPr>
              <a:t>Operating cash flow (OCF) </a:t>
            </a:r>
            <a:r>
              <a:rPr lang="en-US" sz="3800" dirty="0">
                <a:latin typeface="Times New Roman" panose="02020603050405020304" pitchFamily="18" charset="0"/>
                <a:cs typeface="Times New Roman" panose="02020603050405020304" pitchFamily="18" charset="0"/>
              </a:rPr>
              <a:t>= EBIT + Depreciation − 	Taxes</a:t>
            </a:r>
            <a:br>
              <a:rPr lang="en-US" sz="3800" dirty="0">
                <a:latin typeface="Times New Roman" panose="02020603050405020304" pitchFamily="18" charset="0"/>
                <a:ea typeface="Times New Roman" panose="02020603050405020304" pitchFamily="18" charset="0"/>
                <a:cs typeface="Times New Roman" panose="02020603050405020304" pitchFamily="18" charset="0"/>
              </a:rPr>
            </a:br>
            <a:endParaRPr lang="en-US" sz="3800" dirty="0">
              <a:latin typeface="Times New Roman" panose="02020603050405020304" pitchFamily="18" charset="0"/>
              <a:ea typeface="Times New Roman" panose="02020603050405020304" pitchFamily="18" charset="0"/>
              <a:cs typeface="Times New Roman" panose="02020603050405020304" pitchFamily="18" charset="0"/>
            </a:endParaRPr>
          </a:p>
          <a:p>
            <a:pPr marL="1371600" lvl="3" indent="0">
              <a:spcBef>
                <a:spcPts val="0"/>
              </a:spcBef>
              <a:buNone/>
              <a:tabLst>
                <a:tab pos="1371600" algn="l"/>
              </a:tabLst>
            </a:pPr>
            <a:r>
              <a:rPr lang="en-US" sz="3800" dirty="0">
                <a:solidFill>
                  <a:schemeClr val="accent5">
                    <a:lumMod val="60000"/>
                    <a:lumOff val="40000"/>
                  </a:schemeClr>
                </a:solidFill>
                <a:latin typeface="Times New Roman" panose="02020603050405020304" pitchFamily="18" charset="0"/>
                <a:ea typeface="Times New Roman" panose="02020603050405020304" pitchFamily="18" charset="0"/>
                <a:cs typeface="Times New Roman" panose="02020603050405020304" pitchFamily="18" charset="0"/>
              </a:rPr>
              <a:t>2.	Net capital spending (NCS) </a:t>
            </a:r>
            <a:r>
              <a:rPr lang="en-US" sz="3800" dirty="0">
                <a:latin typeface="Times New Roman" panose="02020603050405020304" pitchFamily="18" charset="0"/>
                <a:ea typeface="Times New Roman" panose="02020603050405020304" pitchFamily="18" charset="0"/>
                <a:cs typeface="Times New Roman" panose="02020603050405020304" pitchFamily="18" charset="0"/>
              </a:rPr>
              <a:t>= Ending fixed assets </a:t>
            </a:r>
            <a:r>
              <a:rPr lang="en-US" sz="3800" dirty="0">
                <a:solidFill>
                  <a:srgbClr val="000000"/>
                </a:solidFill>
                <a:latin typeface="Times New Roman" panose="02020603050405020304" pitchFamily="18" charset="0"/>
                <a:ea typeface="MS Gothic" panose="020B0609070205080204" pitchFamily="49" charset="-128"/>
                <a:cs typeface="Times New Roman" panose="02020603050405020304" pitchFamily="18" charset="0"/>
              </a:rPr>
              <a:t>−</a:t>
            </a:r>
            <a:r>
              <a:rPr lang="en-US" sz="3800" dirty="0">
                <a:latin typeface="Times New Roman" panose="02020603050405020304" pitchFamily="18" charset="0"/>
                <a:ea typeface="Times New Roman" panose="02020603050405020304" pitchFamily="18" charset="0"/>
                <a:cs typeface="Times New Roman" panose="02020603050405020304" pitchFamily="18" charset="0"/>
              </a:rPr>
              <a:t> 	Beginning fixed assets + Depreciation</a:t>
            </a:r>
            <a:br>
              <a:rPr lang="en-US" sz="3800" dirty="0">
                <a:latin typeface="Times New Roman" panose="02020603050405020304" pitchFamily="18" charset="0"/>
                <a:ea typeface="Times New Roman" panose="02020603050405020304" pitchFamily="18" charset="0"/>
                <a:cs typeface="Times New Roman" panose="02020603050405020304" pitchFamily="18" charset="0"/>
              </a:rPr>
            </a:br>
            <a:endParaRPr lang="en-US" sz="3800" dirty="0">
              <a:latin typeface="Times New Roman" panose="02020603050405020304" pitchFamily="18" charset="0"/>
              <a:ea typeface="Times New Roman" panose="02020603050405020304" pitchFamily="18" charset="0"/>
              <a:cs typeface="Times New Roman" panose="02020603050405020304" pitchFamily="18" charset="0"/>
            </a:endParaRPr>
          </a:p>
          <a:p>
            <a:pPr marL="1371600" lvl="3" indent="0">
              <a:spcBef>
                <a:spcPts val="0"/>
              </a:spcBef>
              <a:buNone/>
              <a:tabLst>
                <a:tab pos="1371600" algn="l"/>
              </a:tabLst>
            </a:pPr>
            <a:r>
              <a:rPr lang="en-US" sz="3800" dirty="0">
                <a:solidFill>
                  <a:srgbClr val="00B050"/>
                </a:solidFill>
                <a:latin typeface="Times New Roman" panose="02020603050405020304" pitchFamily="18" charset="0"/>
                <a:ea typeface="Times New Roman" panose="02020603050405020304" pitchFamily="18" charset="0"/>
                <a:cs typeface="Times New Roman" panose="02020603050405020304" pitchFamily="18" charset="0"/>
              </a:rPr>
              <a:t>3.	Changes in NWC </a:t>
            </a:r>
            <a:r>
              <a:rPr lang="en-US" sz="3800" dirty="0">
                <a:latin typeface="Times New Roman" panose="02020603050405020304" pitchFamily="18" charset="0"/>
                <a:ea typeface="Times New Roman" panose="02020603050405020304" pitchFamily="18" charset="0"/>
                <a:cs typeface="Times New Roman" panose="02020603050405020304" pitchFamily="18" charset="0"/>
              </a:rPr>
              <a:t>= Ending NWC </a:t>
            </a:r>
            <a:r>
              <a:rPr lang="en-US" sz="3800" dirty="0">
                <a:solidFill>
                  <a:srgbClr val="000000"/>
                </a:solidFill>
                <a:latin typeface="Times New Roman" panose="02020603050405020304" pitchFamily="18" charset="0"/>
                <a:ea typeface="MS Gothic" panose="020B0609070205080204" pitchFamily="49" charset="-128"/>
                <a:cs typeface="Times New Roman" panose="02020603050405020304" pitchFamily="18" charset="0"/>
              </a:rPr>
              <a:t>−</a:t>
            </a:r>
            <a:r>
              <a:rPr lang="en-US" sz="3800" dirty="0">
                <a:latin typeface="Times New Roman" panose="02020603050405020304" pitchFamily="18" charset="0"/>
                <a:ea typeface="Times New Roman" panose="02020603050405020304" pitchFamily="18" charset="0"/>
                <a:cs typeface="Times New Roman" panose="02020603050405020304" pitchFamily="18" charset="0"/>
              </a:rPr>
              <a:t> Beginning NWC</a:t>
            </a:r>
          </a:p>
          <a:p>
            <a:endParaRPr lang="en-US" dirty="0"/>
          </a:p>
        </p:txBody>
      </p:sp>
      <p:sp>
        <p:nvSpPr>
          <p:cNvPr id="7" name="Slide Number Placeholder 6">
            <a:extLst>
              <a:ext uri="{FF2B5EF4-FFF2-40B4-BE49-F238E27FC236}">
                <a16:creationId xmlns:a16="http://schemas.microsoft.com/office/drawing/2014/main" id="{91FBA0E6-9CB3-B819-97CF-A00DD45DC8BE}"/>
              </a:ext>
            </a:extLst>
          </p:cNvPr>
          <p:cNvSpPr>
            <a:spLocks noGrp="1"/>
          </p:cNvSpPr>
          <p:nvPr>
            <p:ph type="sldNum" sz="quarter" idx="10"/>
          </p:nvPr>
        </p:nvSpPr>
        <p:spPr/>
        <p:txBody>
          <a:bodyPr/>
          <a:lstStyle/>
          <a:p>
            <a:fld id="{68151E55-6873-49E2-B8D5-2F265E6F1973}" type="slidenum">
              <a:rPr lang="en-US" smtClean="0"/>
              <a:t>20</a:t>
            </a:fld>
            <a:endParaRPr lang="en-US"/>
          </a:p>
        </p:txBody>
      </p:sp>
    </p:spTree>
    <p:extLst>
      <p:ext uri="{BB962C8B-B14F-4D97-AF65-F5344CB8AC3E}">
        <p14:creationId xmlns:p14="http://schemas.microsoft.com/office/powerpoint/2010/main" val="2374468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08F86-A1ED-4197-969A-FFAF71566CDA}"/>
              </a:ext>
            </a:extLst>
          </p:cNvPr>
          <p:cNvSpPr>
            <a:spLocks noGrp="1"/>
          </p:cNvSpPr>
          <p:nvPr>
            <p:ph type="title"/>
          </p:nvPr>
        </p:nvSpPr>
        <p:spPr>
          <a:xfrm>
            <a:off x="609601" y="192490"/>
            <a:ext cx="10761784" cy="914356"/>
          </a:xfrm>
          <a:ln>
            <a:solidFill>
              <a:schemeClr val="tx1"/>
            </a:solidFill>
          </a:ln>
        </p:spPr>
        <p:txBody>
          <a:bodyPr>
            <a:noAutofit/>
          </a:bodyPr>
          <a:lstStyle/>
          <a:p>
            <a:r>
              <a:rPr lang="en-US" altLang="en-US" sz="2800" dirty="0"/>
              <a:t>U.S. Corporation 2023 and 2024 Balance Sheets</a:t>
            </a:r>
            <a:endParaRPr lang="en-US" sz="2800" dirty="0"/>
          </a:p>
        </p:txBody>
      </p:sp>
      <p:sp>
        <p:nvSpPr>
          <p:cNvPr id="3" name="Content Placeholder 2">
            <a:extLst>
              <a:ext uri="{FF2B5EF4-FFF2-40B4-BE49-F238E27FC236}">
                <a16:creationId xmlns:a16="http://schemas.microsoft.com/office/drawing/2014/main" id="{AD862A18-A50B-4384-945C-CCBC2B3A6F9F}"/>
              </a:ext>
            </a:extLst>
          </p:cNvPr>
          <p:cNvSpPr>
            <a:spLocks noGrp="1"/>
          </p:cNvSpPr>
          <p:nvPr>
            <p:ph sz="quarter" idx="11"/>
          </p:nvPr>
        </p:nvSpPr>
        <p:spPr>
          <a:xfrm>
            <a:off x="1866900" y="1276710"/>
            <a:ext cx="8458200" cy="822254"/>
          </a:xfrm>
        </p:spPr>
        <p:txBody>
          <a:bodyPr/>
          <a:lstStyle/>
          <a:p>
            <a:pPr marL="0" indent="0" algn="ctr">
              <a:buNone/>
            </a:pPr>
            <a:r>
              <a:rPr lang="en-US" sz="2400" b="1" dirty="0"/>
              <a:t>U.S. CORPORATION</a:t>
            </a:r>
            <a:br>
              <a:rPr lang="en-US" sz="2400" b="1" dirty="0"/>
            </a:br>
            <a:r>
              <a:rPr lang="en-US" sz="2400" b="1" dirty="0"/>
              <a:t>2023 and 2024 Balance Sheets (in $ millions)</a:t>
            </a:r>
          </a:p>
        </p:txBody>
      </p:sp>
      <p:graphicFrame>
        <p:nvGraphicFramePr>
          <p:cNvPr id="8" name="Table 8">
            <a:extLst>
              <a:ext uri="{FF2B5EF4-FFF2-40B4-BE49-F238E27FC236}">
                <a16:creationId xmlns:a16="http://schemas.microsoft.com/office/drawing/2014/main" id="{E234D386-C616-40FC-9495-EC93C1E6513D}"/>
              </a:ext>
            </a:extLst>
          </p:cNvPr>
          <p:cNvGraphicFramePr>
            <a:graphicFrameLocks noGrp="1"/>
          </p:cNvGraphicFramePr>
          <p:nvPr>
            <p:extLst>
              <p:ext uri="{D42A27DB-BD31-4B8C-83A1-F6EECF244321}">
                <p14:modId xmlns:p14="http://schemas.microsoft.com/office/powerpoint/2010/main" val="2902380300"/>
              </p:ext>
            </p:extLst>
          </p:nvPr>
        </p:nvGraphicFramePr>
        <p:xfrm>
          <a:off x="1590494" y="2434767"/>
          <a:ext cx="9036720" cy="4023360"/>
        </p:xfrm>
        <a:graphic>
          <a:graphicData uri="http://schemas.openxmlformats.org/drawingml/2006/table">
            <a:tbl>
              <a:tblPr firstRow="1" bandRow="1">
                <a:tableStyleId>{2D5ABB26-0587-4C30-8999-92F81FD0307C}</a:tableStyleId>
              </a:tblPr>
              <a:tblGrid>
                <a:gridCol w="2108446">
                  <a:extLst>
                    <a:ext uri="{9D8B030D-6E8A-4147-A177-3AD203B41FA5}">
                      <a16:colId xmlns:a16="http://schemas.microsoft.com/office/drawing/2014/main" val="802552312"/>
                    </a:ext>
                  </a:extLst>
                </a:gridCol>
                <a:gridCol w="1405632">
                  <a:extLst>
                    <a:ext uri="{9D8B030D-6E8A-4147-A177-3AD203B41FA5}">
                      <a16:colId xmlns:a16="http://schemas.microsoft.com/office/drawing/2014/main" val="2778655903"/>
                    </a:ext>
                  </a:extLst>
                </a:gridCol>
                <a:gridCol w="1004282">
                  <a:extLst>
                    <a:ext uri="{9D8B030D-6E8A-4147-A177-3AD203B41FA5}">
                      <a16:colId xmlns:a16="http://schemas.microsoft.com/office/drawing/2014/main" val="2519003888"/>
                    </a:ext>
                  </a:extLst>
                </a:gridCol>
                <a:gridCol w="2657164">
                  <a:extLst>
                    <a:ext uri="{9D8B030D-6E8A-4147-A177-3AD203B41FA5}">
                      <a16:colId xmlns:a16="http://schemas.microsoft.com/office/drawing/2014/main" val="3105041329"/>
                    </a:ext>
                  </a:extLst>
                </a:gridCol>
                <a:gridCol w="918196">
                  <a:extLst>
                    <a:ext uri="{9D8B030D-6E8A-4147-A177-3AD203B41FA5}">
                      <a16:colId xmlns:a16="http://schemas.microsoft.com/office/drawing/2014/main" val="2601496514"/>
                    </a:ext>
                  </a:extLst>
                </a:gridCol>
                <a:gridCol w="943000">
                  <a:extLst>
                    <a:ext uri="{9D8B030D-6E8A-4147-A177-3AD203B41FA5}">
                      <a16:colId xmlns:a16="http://schemas.microsoft.com/office/drawing/2014/main" val="3612326608"/>
                    </a:ext>
                  </a:extLst>
                </a:gridCol>
              </a:tblGrid>
              <a:tr h="160674">
                <a:tc>
                  <a:txBody>
                    <a:bodyPr/>
                    <a:lstStyle/>
                    <a:p>
                      <a:endParaRPr lang="en-US" sz="1200" b="0" dirty="0">
                        <a:solidFill>
                          <a:schemeClr val="tx1"/>
                        </a:solidFill>
                      </a:endParaRPr>
                    </a:p>
                  </a:txBody>
                  <a:tcPr/>
                </a:tc>
                <a:tc>
                  <a:txBody>
                    <a:bodyPr/>
                    <a:lstStyle/>
                    <a:p>
                      <a:pPr algn="l"/>
                      <a:r>
                        <a:rPr lang="en-US" sz="1200" b="1" dirty="0">
                          <a:solidFill>
                            <a:schemeClr val="tx1"/>
                          </a:solidFill>
                        </a:rPr>
                        <a:t>Assets</a:t>
                      </a:r>
                    </a:p>
                  </a:txBody>
                  <a:tcPr/>
                </a:tc>
                <a:tc>
                  <a:txBody>
                    <a:bodyPr/>
                    <a:lstStyle/>
                    <a:p>
                      <a:endParaRPr lang="en-US" sz="1200" b="1" dirty="0">
                        <a:solidFill>
                          <a:schemeClr val="tx1"/>
                        </a:solidFill>
                      </a:endParaRPr>
                    </a:p>
                  </a:txBody>
                  <a:tcPr/>
                </a:tc>
                <a:tc>
                  <a:txBody>
                    <a:bodyPr/>
                    <a:lstStyle/>
                    <a:p>
                      <a:pPr algn="r"/>
                      <a:r>
                        <a:rPr lang="en-US" sz="1200" b="1" dirty="0">
                          <a:solidFill>
                            <a:schemeClr val="tx1"/>
                          </a:solidFill>
                        </a:rPr>
                        <a:t>Liabilities and </a:t>
                      </a:r>
                      <a:r>
                        <a:rPr lang="en-US" sz="1200" dirty="0">
                          <a:solidFill>
                            <a:schemeClr val="tx1"/>
                          </a:solidFill>
                        </a:rPr>
                        <a:t>owners’</a:t>
                      </a:r>
                      <a:r>
                        <a:rPr lang="en-US" sz="1200" b="1" dirty="0">
                          <a:solidFill>
                            <a:schemeClr val="tx1"/>
                          </a:solidFill>
                        </a:rPr>
                        <a:t> Equity</a:t>
                      </a:r>
                    </a:p>
                  </a:txBody>
                  <a:tcPr/>
                </a:tc>
                <a:tc>
                  <a:txBody>
                    <a:bodyPr/>
                    <a:lstStyle/>
                    <a:p>
                      <a:endParaRPr lang="en-US" sz="1200" b="0" dirty="0">
                        <a:solidFill>
                          <a:schemeClr val="tx1"/>
                        </a:solidFill>
                      </a:endParaRPr>
                    </a:p>
                  </a:txBody>
                  <a:tcPr/>
                </a:tc>
                <a:tc>
                  <a:txBody>
                    <a:bodyPr/>
                    <a:lstStyle/>
                    <a:p>
                      <a:endParaRPr lang="en-US" sz="1200" b="0" dirty="0">
                        <a:solidFill>
                          <a:schemeClr val="tx1"/>
                        </a:solidFill>
                      </a:endParaRPr>
                    </a:p>
                  </a:txBody>
                  <a:tcPr/>
                </a:tc>
                <a:extLst>
                  <a:ext uri="{0D108BD9-81ED-4DB2-BD59-A6C34878D82A}">
                    <a16:rowId xmlns:a16="http://schemas.microsoft.com/office/drawing/2014/main" val="3784183384"/>
                  </a:ext>
                </a:extLst>
              </a:tr>
              <a:tr h="0">
                <a:tc>
                  <a:txBody>
                    <a:bodyPr/>
                    <a:lstStyle/>
                    <a:p>
                      <a:endParaRPr lang="en-US" sz="1200" dirty="0"/>
                    </a:p>
                  </a:txBody>
                  <a:tcPr/>
                </a:tc>
                <a:tc>
                  <a:txBody>
                    <a:bodyPr/>
                    <a:lstStyle/>
                    <a:p>
                      <a:pPr algn="r"/>
                      <a:r>
                        <a:rPr lang="en-IN" sz="1200" b="1" u="none" baseline="0" dirty="0"/>
                        <a:t>2023</a:t>
                      </a:r>
                      <a:endParaRPr lang="en-US" sz="1200" b="1" u="none" baseline="0" dirty="0"/>
                    </a:p>
                  </a:txBody>
                  <a:tcPr/>
                </a:tc>
                <a:tc>
                  <a:txBody>
                    <a:bodyPr/>
                    <a:lstStyle/>
                    <a:p>
                      <a:pPr algn="r"/>
                      <a:r>
                        <a:rPr lang="en-IN" sz="1200" b="1" u="none" baseline="0" dirty="0"/>
                        <a:t>2024</a:t>
                      </a:r>
                      <a:endParaRPr lang="en-US" sz="1200" b="1" u="none" baseline="0" dirty="0"/>
                    </a:p>
                  </a:txBody>
                  <a:tcPr/>
                </a:tc>
                <a:tc>
                  <a:txBody>
                    <a:bodyPr/>
                    <a:lstStyle/>
                    <a:p>
                      <a:pPr algn="ctr"/>
                      <a:endParaRPr lang="en-US" sz="1200" b="1" dirty="0"/>
                    </a:p>
                  </a:txBody>
                  <a:tcPr/>
                </a:tc>
                <a:tc>
                  <a:txBody>
                    <a:bodyPr/>
                    <a:lstStyle/>
                    <a:p>
                      <a:pPr algn="r"/>
                      <a:r>
                        <a:rPr lang="en-IN" sz="1200" b="1" u="none" baseline="0" dirty="0"/>
                        <a:t>2023</a:t>
                      </a:r>
                      <a:endParaRPr lang="en-US" sz="1200" b="1" u="none" baseline="0" dirty="0"/>
                    </a:p>
                  </a:txBody>
                  <a:tcPr/>
                </a:tc>
                <a:tc>
                  <a:txBody>
                    <a:bodyPr/>
                    <a:lstStyle/>
                    <a:p>
                      <a:pPr algn="r"/>
                      <a:r>
                        <a:rPr lang="en-IN" sz="1200" b="1" u="none" baseline="0" dirty="0"/>
                        <a:t>2024</a:t>
                      </a:r>
                      <a:endParaRPr lang="en-US" sz="1200" b="1" u="none" baseline="0" dirty="0"/>
                    </a:p>
                  </a:txBody>
                  <a:tcPr/>
                </a:tc>
                <a:extLst>
                  <a:ext uri="{0D108BD9-81ED-4DB2-BD59-A6C34878D82A}">
                    <a16:rowId xmlns:a16="http://schemas.microsoft.com/office/drawing/2014/main" val="3486704405"/>
                  </a:ext>
                </a:extLst>
              </a:tr>
              <a:tr h="0">
                <a:tc>
                  <a:txBody>
                    <a:bodyPr/>
                    <a:lstStyle/>
                    <a:p>
                      <a:r>
                        <a:rPr lang="en-US" sz="1200" dirty="0"/>
                        <a:t>Current assets</a:t>
                      </a:r>
                    </a:p>
                  </a:txBody>
                  <a:tcPr/>
                </a:tc>
                <a:tc>
                  <a:txBody>
                    <a:bodyPr/>
                    <a:lstStyle/>
                    <a:p>
                      <a:pPr algn="r"/>
                      <a:endParaRPr lang="en-US" sz="1200" u="none" baseline="0" dirty="0"/>
                    </a:p>
                  </a:txBody>
                  <a:tcPr/>
                </a:tc>
                <a:tc>
                  <a:txBody>
                    <a:bodyPr/>
                    <a:lstStyle/>
                    <a:p>
                      <a:pPr algn="r"/>
                      <a:endParaRPr lang="en-US" sz="1200" u="none" baseline="0" dirty="0"/>
                    </a:p>
                  </a:txBody>
                  <a:tcPr/>
                </a:tc>
                <a:tc>
                  <a:txBody>
                    <a:bodyPr/>
                    <a:lstStyle/>
                    <a:p>
                      <a:r>
                        <a:rPr lang="en-US" sz="1200" dirty="0"/>
                        <a:t>Current liabilities</a:t>
                      </a:r>
                    </a:p>
                  </a:txBody>
                  <a:tcPr/>
                </a:tc>
                <a:tc>
                  <a:txBody>
                    <a:bodyPr/>
                    <a:lstStyle/>
                    <a:p>
                      <a:pPr algn="r"/>
                      <a:endParaRPr lang="en-US" sz="1200" u="none" baseline="0" dirty="0"/>
                    </a:p>
                  </a:txBody>
                  <a:tcPr/>
                </a:tc>
                <a:tc>
                  <a:txBody>
                    <a:bodyPr/>
                    <a:lstStyle/>
                    <a:p>
                      <a:pPr algn="r"/>
                      <a:endParaRPr lang="en-US" sz="1200" u="none" baseline="0" dirty="0"/>
                    </a:p>
                  </a:txBody>
                  <a:tcPr/>
                </a:tc>
                <a:extLst>
                  <a:ext uri="{0D108BD9-81ED-4DB2-BD59-A6C34878D82A}">
                    <a16:rowId xmlns:a16="http://schemas.microsoft.com/office/drawing/2014/main" val="3437108726"/>
                  </a:ext>
                </a:extLst>
              </a:tr>
              <a:tr h="160674">
                <a:tc>
                  <a:txBody>
                    <a:bodyPr/>
                    <a:lstStyle/>
                    <a:p>
                      <a:pPr marL="0" indent="90488"/>
                      <a:r>
                        <a:rPr lang="en-US" sz="1200" dirty="0"/>
                        <a:t>Cash</a:t>
                      </a:r>
                    </a:p>
                  </a:txBody>
                  <a:tcPr/>
                </a:tc>
                <a:tc>
                  <a:txBody>
                    <a:bodyPr/>
                    <a:lstStyle/>
                    <a:p>
                      <a:pPr algn="r"/>
                      <a:r>
                        <a:rPr lang="en-IN" sz="1200" u="none" baseline="0" dirty="0"/>
                        <a:t>$  104</a:t>
                      </a:r>
                      <a:endParaRPr lang="en-US" sz="1200" u="none" baseline="0" dirty="0"/>
                    </a:p>
                  </a:txBody>
                  <a:tcPr/>
                </a:tc>
                <a:tc>
                  <a:txBody>
                    <a:bodyPr/>
                    <a:lstStyle/>
                    <a:p>
                      <a:pPr algn="r"/>
                      <a:r>
                        <a:rPr lang="en-IN" sz="1200" u="none" baseline="0" dirty="0"/>
                        <a:t>$  221</a:t>
                      </a:r>
                      <a:endParaRPr lang="en-US" sz="1200" u="none" baseline="0" dirty="0"/>
                    </a:p>
                  </a:txBody>
                  <a:tcPr/>
                </a:tc>
                <a:tc>
                  <a:txBody>
                    <a:bodyPr/>
                    <a:lstStyle/>
                    <a:p>
                      <a:pPr marL="0" indent="180975"/>
                      <a:r>
                        <a:rPr lang="en-US" sz="1200" dirty="0"/>
                        <a:t>Accounts payable</a:t>
                      </a:r>
                    </a:p>
                  </a:txBody>
                  <a:tcPr/>
                </a:tc>
                <a:tc>
                  <a:txBody>
                    <a:bodyPr/>
                    <a:lstStyle/>
                    <a:p>
                      <a:pPr algn="r"/>
                      <a:r>
                        <a:rPr lang="en-IN" sz="1200" u="none" baseline="0" dirty="0"/>
                        <a:t>$  232</a:t>
                      </a:r>
                      <a:endParaRPr lang="en-US" sz="1200" u="none" baseline="0" dirty="0"/>
                    </a:p>
                  </a:txBody>
                  <a:tcPr/>
                </a:tc>
                <a:tc>
                  <a:txBody>
                    <a:bodyPr/>
                    <a:lstStyle/>
                    <a:p>
                      <a:pPr algn="r"/>
                      <a:r>
                        <a:rPr lang="en-IN" sz="1200" u="none" baseline="0" dirty="0"/>
                        <a:t>$  266</a:t>
                      </a:r>
                      <a:endParaRPr lang="en-US" sz="1200" u="none" baseline="0" dirty="0"/>
                    </a:p>
                  </a:txBody>
                  <a:tcPr/>
                </a:tc>
                <a:extLst>
                  <a:ext uri="{0D108BD9-81ED-4DB2-BD59-A6C34878D82A}">
                    <a16:rowId xmlns:a16="http://schemas.microsoft.com/office/drawing/2014/main" val="25180284"/>
                  </a:ext>
                </a:extLst>
              </a:tr>
              <a:tr h="160674">
                <a:tc>
                  <a:txBody>
                    <a:bodyPr/>
                    <a:lstStyle/>
                    <a:p>
                      <a:pPr marL="0" indent="90488"/>
                      <a:r>
                        <a:rPr lang="en-US" sz="1200" dirty="0"/>
                        <a:t>Accounts receivable</a:t>
                      </a:r>
                    </a:p>
                  </a:txBody>
                  <a:tcPr/>
                </a:tc>
                <a:tc>
                  <a:txBody>
                    <a:bodyPr/>
                    <a:lstStyle/>
                    <a:p>
                      <a:pPr algn="r"/>
                      <a:r>
                        <a:rPr lang="en-IN" sz="1200" u="none" baseline="0" dirty="0"/>
                        <a:t>455</a:t>
                      </a:r>
                      <a:endParaRPr lang="en-US" sz="1200" u="none" baseline="0" dirty="0"/>
                    </a:p>
                  </a:txBody>
                  <a:tcPr/>
                </a:tc>
                <a:tc>
                  <a:txBody>
                    <a:bodyPr/>
                    <a:lstStyle/>
                    <a:p>
                      <a:pPr algn="r"/>
                      <a:r>
                        <a:rPr lang="en-IN" sz="1200" u="none" baseline="0" dirty="0">
                          <a:uFill>
                            <a:solidFill>
                              <a:srgbClr val="000000"/>
                            </a:solidFill>
                          </a:uFill>
                        </a:rPr>
                        <a:t>688</a:t>
                      </a:r>
                      <a:endParaRPr lang="en-US" sz="1200" u="none" baseline="0" dirty="0">
                        <a:uFill>
                          <a:solidFill>
                            <a:srgbClr val="000000"/>
                          </a:solidFill>
                        </a:uFill>
                      </a:endParaRPr>
                    </a:p>
                  </a:txBody>
                  <a:tcPr/>
                </a:tc>
                <a:tc>
                  <a:txBody>
                    <a:bodyPr/>
                    <a:lstStyle/>
                    <a:p>
                      <a:pPr marL="0" indent="180975"/>
                      <a:r>
                        <a:rPr lang="en-US" sz="1200" dirty="0"/>
                        <a:t>Notes payable</a:t>
                      </a:r>
                      <a:endParaRPr lang="en-US" sz="1200" u="dbl" baseline="0" dirty="0">
                        <a:uFill>
                          <a:solidFill>
                            <a:srgbClr val="000000"/>
                          </a:solidFill>
                        </a:uFill>
                      </a:endParaRPr>
                    </a:p>
                  </a:txBody>
                  <a:tcPr/>
                </a:tc>
                <a:tc>
                  <a:txBody>
                    <a:bodyPr/>
                    <a:lstStyle/>
                    <a:p>
                      <a:pPr algn="r"/>
                      <a:r>
                        <a:rPr lang="en-IN" sz="1200" u="sng" baseline="0" dirty="0">
                          <a:uFill>
                            <a:solidFill>
                              <a:srgbClr val="000000"/>
                            </a:solidFill>
                          </a:uFill>
                        </a:rPr>
                        <a:t>    196</a:t>
                      </a:r>
                      <a:endParaRPr lang="en-US" sz="1200" u="sng" baseline="0" dirty="0">
                        <a:uFill>
                          <a:solidFill>
                            <a:srgbClr val="000000"/>
                          </a:solidFill>
                        </a:uFill>
                      </a:endParaRPr>
                    </a:p>
                  </a:txBody>
                  <a:tcPr/>
                </a:tc>
                <a:tc>
                  <a:txBody>
                    <a:bodyPr/>
                    <a:lstStyle/>
                    <a:p>
                      <a:pPr algn="r"/>
                      <a:r>
                        <a:rPr lang="en-IN" sz="1200" u="sng" baseline="0" dirty="0">
                          <a:uFill>
                            <a:solidFill>
                              <a:srgbClr val="000000"/>
                            </a:solidFill>
                          </a:uFill>
                        </a:rPr>
                        <a:t>    123</a:t>
                      </a:r>
                      <a:endParaRPr lang="en-US" sz="1200" u="sng" baseline="0" dirty="0">
                        <a:uFill>
                          <a:solidFill>
                            <a:srgbClr val="000000"/>
                          </a:solidFill>
                        </a:uFill>
                      </a:endParaRPr>
                    </a:p>
                  </a:txBody>
                  <a:tcPr/>
                </a:tc>
                <a:extLst>
                  <a:ext uri="{0D108BD9-81ED-4DB2-BD59-A6C34878D82A}">
                    <a16:rowId xmlns:a16="http://schemas.microsoft.com/office/drawing/2014/main" val="4286433086"/>
                  </a:ext>
                </a:extLst>
              </a:tr>
              <a:tr h="0">
                <a:tc>
                  <a:txBody>
                    <a:bodyPr/>
                    <a:lstStyle/>
                    <a:p>
                      <a:pPr marL="0" indent="90488"/>
                      <a:r>
                        <a:rPr lang="en-US" sz="1200" dirty="0"/>
                        <a:t>Inventory</a:t>
                      </a:r>
                    </a:p>
                  </a:txBody>
                  <a:tcPr/>
                </a:tc>
                <a:tc>
                  <a:txBody>
                    <a:bodyPr/>
                    <a:lstStyle/>
                    <a:p>
                      <a:pPr algn="r"/>
                      <a:r>
                        <a:rPr lang="en-IN" sz="1200" u="sng" baseline="0" dirty="0">
                          <a:uFill>
                            <a:solidFill>
                              <a:srgbClr val="000000"/>
                            </a:solidFill>
                          </a:uFill>
                        </a:rPr>
                        <a:t>     553</a:t>
                      </a:r>
                      <a:endParaRPr lang="en-US" sz="1200" u="sng" baseline="0" dirty="0">
                        <a:uFill>
                          <a:solidFill>
                            <a:srgbClr val="000000"/>
                          </a:solidFill>
                        </a:uFill>
                      </a:endParaRPr>
                    </a:p>
                  </a:txBody>
                  <a:tcPr/>
                </a:tc>
                <a:tc>
                  <a:txBody>
                    <a:bodyPr/>
                    <a:lstStyle/>
                    <a:p>
                      <a:pPr algn="r"/>
                      <a:r>
                        <a:rPr lang="en-IN" sz="1200" u="sng" baseline="0" dirty="0">
                          <a:uFill>
                            <a:solidFill>
                              <a:srgbClr val="000000"/>
                            </a:solidFill>
                          </a:uFill>
                        </a:rPr>
                        <a:t>     555</a:t>
                      </a:r>
                      <a:endParaRPr lang="en-US" sz="1200" u="sng" baseline="0" dirty="0">
                        <a:uFill>
                          <a:solidFill>
                            <a:srgbClr val="000000"/>
                          </a:solidFill>
                        </a:uFill>
                      </a:endParaRPr>
                    </a:p>
                  </a:txBody>
                  <a:tcPr/>
                </a:tc>
                <a:tc>
                  <a:txBody>
                    <a:bodyPr/>
                    <a:lstStyle/>
                    <a:p>
                      <a:pPr marL="0" indent="180975"/>
                      <a:r>
                        <a:rPr lang="en-IN" sz="1200" u="none" baseline="0" dirty="0">
                          <a:uFill>
                            <a:solidFill>
                              <a:srgbClr val="000000"/>
                            </a:solidFill>
                          </a:uFill>
                        </a:rPr>
                        <a:t>Total</a:t>
                      </a:r>
                      <a:endParaRPr lang="en-US" sz="1200" u="none" baseline="0" dirty="0">
                        <a:uFill>
                          <a:solidFill>
                            <a:srgbClr val="000000"/>
                          </a:solidFill>
                        </a:uFill>
                      </a:endParaRPr>
                    </a:p>
                  </a:txBody>
                  <a:tcPr/>
                </a:tc>
                <a:tc>
                  <a:txBody>
                    <a:bodyPr/>
                    <a:lstStyle/>
                    <a:p>
                      <a:pPr algn="r"/>
                      <a:r>
                        <a:rPr lang="en-IN" sz="1200" u="sng" baseline="0" dirty="0">
                          <a:uFill>
                            <a:solidFill>
                              <a:srgbClr val="000000"/>
                            </a:solidFill>
                          </a:uFill>
                        </a:rPr>
                        <a:t>$  428</a:t>
                      </a:r>
                      <a:endParaRPr lang="en-US" sz="1200" u="sng" baseline="0" dirty="0">
                        <a:uFill>
                          <a:solidFill>
                            <a:srgbClr val="000000"/>
                          </a:solidFill>
                        </a:uFill>
                      </a:endParaRPr>
                    </a:p>
                  </a:txBody>
                  <a:tcPr/>
                </a:tc>
                <a:tc>
                  <a:txBody>
                    <a:bodyPr/>
                    <a:lstStyle/>
                    <a:p>
                      <a:pPr algn="r"/>
                      <a:r>
                        <a:rPr lang="en-IN" sz="1200" u="sng" baseline="0" dirty="0">
                          <a:uFill>
                            <a:solidFill>
                              <a:srgbClr val="000000"/>
                            </a:solidFill>
                          </a:uFill>
                        </a:rPr>
                        <a:t>$  389</a:t>
                      </a:r>
                      <a:endParaRPr lang="en-US" sz="1200" u="sng" baseline="0" dirty="0">
                        <a:uFill>
                          <a:solidFill>
                            <a:srgbClr val="000000"/>
                          </a:solidFill>
                        </a:uFill>
                      </a:endParaRPr>
                    </a:p>
                  </a:txBody>
                  <a:tcPr/>
                </a:tc>
                <a:extLst>
                  <a:ext uri="{0D108BD9-81ED-4DB2-BD59-A6C34878D82A}">
                    <a16:rowId xmlns:a16="http://schemas.microsoft.com/office/drawing/2014/main" val="1171990228"/>
                  </a:ext>
                </a:extLst>
              </a:tr>
              <a:tr h="0">
                <a:tc>
                  <a:txBody>
                    <a:bodyPr/>
                    <a:lstStyle/>
                    <a:p>
                      <a:pPr marL="0" indent="180975"/>
                      <a:r>
                        <a:rPr lang="en-IN" sz="1200" dirty="0"/>
                        <a:t>Total</a:t>
                      </a:r>
                      <a:endParaRPr lang="en-US" sz="1200" dirty="0"/>
                    </a:p>
                  </a:txBody>
                  <a:tcPr/>
                </a:tc>
                <a:tc>
                  <a:txBody>
                    <a:bodyPr/>
                    <a:lstStyle/>
                    <a:p>
                      <a:pPr algn="r"/>
                      <a:r>
                        <a:rPr lang="en-IN" sz="1200" u="sng" baseline="0" dirty="0">
                          <a:uFill>
                            <a:solidFill>
                              <a:srgbClr val="000000"/>
                            </a:solidFill>
                          </a:uFill>
                        </a:rPr>
                        <a:t>$1,112</a:t>
                      </a:r>
                      <a:endParaRPr lang="en-US" sz="1200" u="sng" baseline="0" dirty="0">
                        <a:uFill>
                          <a:solidFill>
                            <a:srgbClr val="000000"/>
                          </a:solidFill>
                        </a:uFill>
                      </a:endParaRPr>
                    </a:p>
                  </a:txBody>
                  <a:tcPr/>
                </a:tc>
                <a:tc>
                  <a:txBody>
                    <a:bodyPr/>
                    <a:lstStyle/>
                    <a:p>
                      <a:pPr algn="r"/>
                      <a:r>
                        <a:rPr lang="en-IN" sz="1200" u="sng" baseline="0" dirty="0">
                          <a:uFill>
                            <a:solidFill>
                              <a:srgbClr val="000000"/>
                            </a:solidFill>
                          </a:uFill>
                        </a:rPr>
                        <a:t>$1,464</a:t>
                      </a:r>
                      <a:endParaRPr lang="en-US" sz="1200" u="sng" baseline="0" dirty="0">
                        <a:uFill>
                          <a:solidFill>
                            <a:srgbClr val="000000"/>
                          </a:solidFill>
                        </a:uFill>
                      </a:endParaRPr>
                    </a:p>
                  </a:txBody>
                  <a:tcPr/>
                </a:tc>
                <a:tc>
                  <a:txBody>
                    <a:bodyPr/>
                    <a:lstStyle/>
                    <a:p>
                      <a:endParaRPr lang="en-US" sz="1200" u="dbl"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extLst>
                  <a:ext uri="{0D108BD9-81ED-4DB2-BD59-A6C34878D82A}">
                    <a16:rowId xmlns:a16="http://schemas.microsoft.com/office/drawing/2014/main" val="3030893004"/>
                  </a:ext>
                </a:extLst>
              </a:tr>
              <a:tr h="0">
                <a:tc>
                  <a:txBody>
                    <a:bodyPr/>
                    <a:lstStyle/>
                    <a:p>
                      <a:r>
                        <a:rPr lang="en-US" sz="1200" dirty="0"/>
                        <a:t>Fixed assets</a:t>
                      </a:r>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endParaRPr lang="en-US" sz="1200" u="dbl"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extLst>
                  <a:ext uri="{0D108BD9-81ED-4DB2-BD59-A6C34878D82A}">
                    <a16:rowId xmlns:a16="http://schemas.microsoft.com/office/drawing/2014/main" val="1813552892"/>
                  </a:ext>
                </a:extLst>
              </a:tr>
              <a:tr h="160674">
                <a:tc>
                  <a:txBody>
                    <a:bodyPr/>
                    <a:lstStyle/>
                    <a:p>
                      <a:pPr marL="90488" indent="0" algn="l"/>
                      <a:r>
                        <a:rPr lang="en-US" sz="1200" dirty="0"/>
                        <a:t>  Net plant and equipment</a:t>
                      </a:r>
                    </a:p>
                  </a:txBody>
                  <a:tcPr/>
                </a:tc>
                <a:tc>
                  <a:txBody>
                    <a:bodyPr/>
                    <a:lstStyle/>
                    <a:p>
                      <a:pPr algn="r"/>
                      <a:r>
                        <a:rPr lang="en-IN" sz="1200" u="sng" baseline="0" dirty="0">
                          <a:uFill>
                            <a:solidFill>
                              <a:srgbClr val="000000"/>
                            </a:solidFill>
                          </a:uFill>
                        </a:rPr>
                        <a:t>$1,644</a:t>
                      </a:r>
                      <a:endParaRPr lang="en-US" sz="1200" u="sng" baseline="0" dirty="0">
                        <a:uFill>
                          <a:solidFill>
                            <a:srgbClr val="000000"/>
                          </a:solidFill>
                        </a:uFill>
                      </a:endParaRPr>
                    </a:p>
                  </a:txBody>
                  <a:tcPr/>
                </a:tc>
                <a:tc>
                  <a:txBody>
                    <a:bodyPr/>
                    <a:lstStyle/>
                    <a:p>
                      <a:pPr algn="r"/>
                      <a:r>
                        <a:rPr lang="en-IN" sz="1200" u="sng" baseline="0" dirty="0">
                          <a:uFill>
                            <a:solidFill>
                              <a:srgbClr val="000000"/>
                            </a:solidFill>
                          </a:uFill>
                        </a:rPr>
                        <a:t>$1,709</a:t>
                      </a:r>
                      <a:endParaRPr lang="en-US" sz="1200" u="sng" baseline="0" dirty="0">
                        <a:uFill>
                          <a:solidFill>
                            <a:srgbClr val="000000"/>
                          </a:solidFill>
                        </a:uFill>
                      </a:endParaRPr>
                    </a:p>
                  </a:txBody>
                  <a:tcPr/>
                </a:tc>
                <a:tc>
                  <a:txBody>
                    <a:bodyPr/>
                    <a:lstStyle/>
                    <a:p>
                      <a:r>
                        <a:rPr lang="en-US" sz="1200" dirty="0"/>
                        <a:t>Long-term debt</a:t>
                      </a:r>
                      <a:endParaRPr lang="en-US" sz="1200" u="dbl" baseline="0" dirty="0">
                        <a:uFill>
                          <a:solidFill>
                            <a:srgbClr val="000000"/>
                          </a:solidFill>
                        </a:uFill>
                      </a:endParaRPr>
                    </a:p>
                  </a:txBody>
                  <a:tcPr/>
                </a:tc>
                <a:tc>
                  <a:txBody>
                    <a:bodyPr/>
                    <a:lstStyle/>
                    <a:p>
                      <a:pPr algn="r"/>
                      <a:r>
                        <a:rPr lang="en-IN" sz="1200" u="none" baseline="0" dirty="0">
                          <a:uFill>
                            <a:solidFill>
                              <a:srgbClr val="000000"/>
                            </a:solidFill>
                          </a:uFill>
                        </a:rPr>
                        <a:t>$  408</a:t>
                      </a:r>
                      <a:endParaRPr lang="en-US" sz="1200" u="none" baseline="0" dirty="0">
                        <a:uFill>
                          <a:solidFill>
                            <a:srgbClr val="000000"/>
                          </a:solidFill>
                        </a:uFill>
                      </a:endParaRPr>
                    </a:p>
                  </a:txBody>
                  <a:tcPr/>
                </a:tc>
                <a:tc>
                  <a:txBody>
                    <a:bodyPr/>
                    <a:lstStyle/>
                    <a:p>
                      <a:pPr algn="r"/>
                      <a:r>
                        <a:rPr lang="en-IN" sz="1200" u="none" baseline="0" dirty="0">
                          <a:uFill>
                            <a:solidFill>
                              <a:srgbClr val="000000"/>
                            </a:solidFill>
                          </a:uFill>
                        </a:rPr>
                        <a:t>$  454</a:t>
                      </a:r>
                      <a:endParaRPr lang="en-US" sz="1200" u="none" baseline="0" dirty="0">
                        <a:uFill>
                          <a:solidFill>
                            <a:srgbClr val="000000"/>
                          </a:solidFill>
                        </a:uFill>
                      </a:endParaRPr>
                    </a:p>
                  </a:txBody>
                  <a:tcPr/>
                </a:tc>
                <a:extLst>
                  <a:ext uri="{0D108BD9-81ED-4DB2-BD59-A6C34878D82A}">
                    <a16:rowId xmlns:a16="http://schemas.microsoft.com/office/drawing/2014/main" val="2103811689"/>
                  </a:ext>
                </a:extLst>
              </a:tr>
              <a:tr h="0">
                <a:tc>
                  <a:txBody>
                    <a:bodyPr/>
                    <a:lstStyle/>
                    <a:p>
                      <a:endParaRPr lang="en-US" sz="1200" dirty="0"/>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r>
                        <a:rPr lang="en-US" sz="1200" dirty="0"/>
                        <a:t>Owners’ equity</a:t>
                      </a:r>
                      <a:endParaRPr lang="en-US" sz="1200" u="dbl"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extLst>
                  <a:ext uri="{0D108BD9-81ED-4DB2-BD59-A6C34878D82A}">
                    <a16:rowId xmlns:a16="http://schemas.microsoft.com/office/drawing/2014/main" val="686277782"/>
                  </a:ext>
                </a:extLst>
              </a:tr>
              <a:tr h="224944">
                <a:tc>
                  <a:txBody>
                    <a:bodyPr/>
                    <a:lstStyle/>
                    <a:p>
                      <a:endParaRPr lang="en-US" sz="1200" dirty="0"/>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pPr marL="0" indent="180975"/>
                      <a:r>
                        <a:rPr lang="en-US" sz="1200" dirty="0"/>
                        <a:t>Common stock and paid-in surplus </a:t>
                      </a:r>
                      <a:endParaRPr lang="en-US" sz="1200" u="dbl" baseline="0" dirty="0">
                        <a:uFill>
                          <a:solidFill>
                            <a:srgbClr val="000000"/>
                          </a:solidFill>
                        </a:uFill>
                      </a:endParaRPr>
                    </a:p>
                  </a:txBody>
                  <a:tcPr/>
                </a:tc>
                <a:tc>
                  <a:txBody>
                    <a:bodyPr/>
                    <a:lstStyle/>
                    <a:p>
                      <a:pPr algn="r"/>
                      <a:r>
                        <a:rPr lang="en-IN" sz="1200" u="none" baseline="0" dirty="0">
                          <a:uFill>
                            <a:solidFill>
                              <a:srgbClr val="000000"/>
                            </a:solidFill>
                          </a:uFill>
                        </a:rPr>
                        <a:t>$  600</a:t>
                      </a:r>
                      <a:endParaRPr lang="en-US" sz="1200" u="none" baseline="0" dirty="0">
                        <a:uFill>
                          <a:solidFill>
                            <a:srgbClr val="000000"/>
                          </a:solidFill>
                        </a:uFill>
                      </a:endParaRPr>
                    </a:p>
                  </a:txBody>
                  <a:tcPr/>
                </a:tc>
                <a:tc>
                  <a:txBody>
                    <a:bodyPr/>
                    <a:lstStyle/>
                    <a:p>
                      <a:pPr algn="r"/>
                      <a:r>
                        <a:rPr lang="en-IN" sz="1200" u="none" baseline="0" dirty="0">
                          <a:uFill>
                            <a:solidFill>
                              <a:srgbClr val="000000"/>
                            </a:solidFill>
                          </a:uFill>
                        </a:rPr>
                        <a:t>$  640</a:t>
                      </a:r>
                      <a:endParaRPr lang="en-US" sz="1200" u="none" baseline="0" dirty="0">
                        <a:uFill>
                          <a:solidFill>
                            <a:srgbClr val="000000"/>
                          </a:solidFill>
                        </a:uFill>
                      </a:endParaRPr>
                    </a:p>
                  </a:txBody>
                  <a:tcPr/>
                </a:tc>
                <a:extLst>
                  <a:ext uri="{0D108BD9-81ED-4DB2-BD59-A6C34878D82A}">
                    <a16:rowId xmlns:a16="http://schemas.microsoft.com/office/drawing/2014/main" val="887640007"/>
                  </a:ext>
                </a:extLst>
              </a:tr>
              <a:tr h="160674">
                <a:tc>
                  <a:txBody>
                    <a:bodyPr/>
                    <a:lstStyle/>
                    <a:p>
                      <a:endParaRPr lang="en-US" sz="1200" dirty="0"/>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pPr marL="0" indent="180975"/>
                      <a:r>
                        <a:rPr lang="en-US" sz="1200" dirty="0"/>
                        <a:t>Retained earnings</a:t>
                      </a:r>
                      <a:endParaRPr lang="en-US" sz="1200" u="dbl" baseline="0" dirty="0">
                        <a:uFill>
                          <a:solidFill>
                            <a:srgbClr val="000000"/>
                          </a:solidFill>
                        </a:uFill>
                      </a:endParaRPr>
                    </a:p>
                  </a:txBody>
                  <a:tcPr/>
                </a:tc>
                <a:tc>
                  <a:txBody>
                    <a:bodyPr/>
                    <a:lstStyle/>
                    <a:p>
                      <a:pPr algn="r"/>
                      <a:r>
                        <a:rPr lang="en-IN" sz="1200" u="sng" baseline="0" dirty="0">
                          <a:uFill>
                            <a:solidFill>
                              <a:srgbClr val="000000"/>
                            </a:solidFill>
                          </a:uFill>
                        </a:rPr>
                        <a:t>  1,320</a:t>
                      </a:r>
                      <a:endParaRPr lang="en-US" sz="1200" u="sng" baseline="0" dirty="0">
                        <a:uFill>
                          <a:solidFill>
                            <a:srgbClr val="000000"/>
                          </a:solidFill>
                        </a:uFill>
                      </a:endParaRPr>
                    </a:p>
                  </a:txBody>
                  <a:tcPr/>
                </a:tc>
                <a:tc>
                  <a:txBody>
                    <a:bodyPr/>
                    <a:lstStyle/>
                    <a:p>
                      <a:pPr algn="r"/>
                      <a:r>
                        <a:rPr lang="en-IN" sz="1200" u="sng" baseline="0" dirty="0">
                          <a:uFill>
                            <a:solidFill>
                              <a:srgbClr val="000000"/>
                            </a:solidFill>
                          </a:uFill>
                        </a:rPr>
                        <a:t>  1,690</a:t>
                      </a:r>
                      <a:endParaRPr lang="en-US" sz="1200" u="sng" baseline="0" dirty="0">
                        <a:uFill>
                          <a:solidFill>
                            <a:srgbClr val="000000"/>
                          </a:solidFill>
                        </a:uFill>
                      </a:endParaRPr>
                    </a:p>
                  </a:txBody>
                  <a:tcPr/>
                </a:tc>
                <a:extLst>
                  <a:ext uri="{0D108BD9-81ED-4DB2-BD59-A6C34878D82A}">
                    <a16:rowId xmlns:a16="http://schemas.microsoft.com/office/drawing/2014/main" val="698056694"/>
                  </a:ext>
                </a:extLst>
              </a:tr>
              <a:tr h="0">
                <a:tc>
                  <a:txBody>
                    <a:bodyPr/>
                    <a:lstStyle/>
                    <a:p>
                      <a:endParaRPr lang="en-US" sz="1200" dirty="0"/>
                    </a:p>
                  </a:txBody>
                  <a:tcPr/>
                </a:tc>
                <a:tc>
                  <a:txBody>
                    <a:bodyPr/>
                    <a:lstStyle/>
                    <a:p>
                      <a:pPr algn="r"/>
                      <a:endParaRPr lang="en-US" sz="1200" u="none" baseline="0" dirty="0">
                        <a:uFill>
                          <a:solidFill>
                            <a:srgbClr val="000000"/>
                          </a:solidFill>
                        </a:uFill>
                      </a:endParaRPr>
                    </a:p>
                  </a:txBody>
                  <a:tcPr/>
                </a:tc>
                <a:tc>
                  <a:txBody>
                    <a:bodyPr/>
                    <a:lstStyle/>
                    <a:p>
                      <a:pPr algn="r"/>
                      <a:endParaRPr lang="en-US" sz="1200" u="none" baseline="0" dirty="0">
                        <a:uFill>
                          <a:solidFill>
                            <a:srgbClr val="000000"/>
                          </a:solidFill>
                        </a:uFill>
                      </a:endParaRPr>
                    </a:p>
                  </a:txBody>
                  <a:tcPr/>
                </a:tc>
                <a:tc>
                  <a:txBody>
                    <a:bodyPr/>
                    <a:lstStyle/>
                    <a:p>
                      <a:pPr marL="0" indent="180975"/>
                      <a:r>
                        <a:rPr lang="en-IN" sz="1200" u="none" baseline="0" dirty="0">
                          <a:uFill>
                            <a:solidFill>
                              <a:srgbClr val="000000"/>
                            </a:solidFill>
                          </a:uFill>
                        </a:rPr>
                        <a:t>Total</a:t>
                      </a:r>
                      <a:endParaRPr lang="en-US" sz="1200" u="none" baseline="0" dirty="0">
                        <a:uFill>
                          <a:solidFill>
                            <a:srgbClr val="000000"/>
                          </a:solidFill>
                        </a:uFill>
                      </a:endParaRPr>
                    </a:p>
                  </a:txBody>
                  <a:tcPr/>
                </a:tc>
                <a:tc>
                  <a:txBody>
                    <a:bodyPr/>
                    <a:lstStyle/>
                    <a:p>
                      <a:pPr algn="r"/>
                      <a:r>
                        <a:rPr lang="en-IN" sz="1200" u="sng" baseline="0" dirty="0">
                          <a:uFill>
                            <a:solidFill>
                              <a:srgbClr val="000000"/>
                            </a:solidFill>
                          </a:uFill>
                        </a:rPr>
                        <a:t>$1,920</a:t>
                      </a:r>
                      <a:endParaRPr lang="en-US" sz="1200" u="sng" baseline="0" dirty="0">
                        <a:uFill>
                          <a:solidFill>
                            <a:srgbClr val="000000"/>
                          </a:solidFill>
                        </a:uFill>
                      </a:endParaRPr>
                    </a:p>
                  </a:txBody>
                  <a:tcPr/>
                </a:tc>
                <a:tc>
                  <a:txBody>
                    <a:bodyPr/>
                    <a:lstStyle/>
                    <a:p>
                      <a:pPr algn="r"/>
                      <a:r>
                        <a:rPr lang="en-IN" sz="1200" u="sng" baseline="0" dirty="0">
                          <a:uFill>
                            <a:solidFill>
                              <a:srgbClr val="000000"/>
                            </a:solidFill>
                          </a:uFill>
                        </a:rPr>
                        <a:t>$2,330</a:t>
                      </a:r>
                      <a:endParaRPr lang="en-US" sz="1200" u="sng" baseline="0" dirty="0">
                        <a:uFill>
                          <a:solidFill>
                            <a:srgbClr val="000000"/>
                          </a:solidFill>
                        </a:uFill>
                      </a:endParaRPr>
                    </a:p>
                  </a:txBody>
                  <a:tcPr/>
                </a:tc>
                <a:extLst>
                  <a:ext uri="{0D108BD9-81ED-4DB2-BD59-A6C34878D82A}">
                    <a16:rowId xmlns:a16="http://schemas.microsoft.com/office/drawing/2014/main" val="1852168538"/>
                  </a:ext>
                </a:extLst>
              </a:tr>
              <a:tr h="224944">
                <a:tc>
                  <a:txBody>
                    <a:bodyPr/>
                    <a:lstStyle/>
                    <a:p>
                      <a:r>
                        <a:rPr lang="en-IN" sz="1200" dirty="0"/>
                        <a:t>Total assets</a:t>
                      </a:r>
                      <a:endParaRPr lang="en-US" sz="1200" dirty="0"/>
                    </a:p>
                  </a:txBody>
                  <a:tcPr/>
                </a:tc>
                <a:tc>
                  <a:txBody>
                    <a:bodyPr/>
                    <a:lstStyle/>
                    <a:p>
                      <a:pPr algn="r"/>
                      <a:r>
                        <a:rPr lang="en-IN" sz="1200" u="dbl" baseline="0" dirty="0">
                          <a:uFill>
                            <a:solidFill>
                              <a:srgbClr val="000000"/>
                            </a:solidFill>
                          </a:uFill>
                        </a:rPr>
                        <a:t>$2,756</a:t>
                      </a:r>
                      <a:endParaRPr lang="en-US" sz="1200" u="dbl" baseline="0" dirty="0">
                        <a:uFill>
                          <a:solidFill>
                            <a:srgbClr val="000000"/>
                          </a:solidFill>
                        </a:uFill>
                      </a:endParaRPr>
                    </a:p>
                  </a:txBody>
                  <a:tcPr/>
                </a:tc>
                <a:tc>
                  <a:txBody>
                    <a:bodyPr/>
                    <a:lstStyle/>
                    <a:p>
                      <a:pPr algn="r"/>
                      <a:r>
                        <a:rPr lang="en-IN" sz="1200" u="dbl" baseline="0" dirty="0">
                          <a:uFill>
                            <a:solidFill>
                              <a:srgbClr val="000000"/>
                            </a:solidFill>
                          </a:uFill>
                        </a:rPr>
                        <a:t>$3,173</a:t>
                      </a:r>
                      <a:endParaRPr lang="en-US" sz="1200" u="dbl" baseline="0" dirty="0">
                        <a:uFill>
                          <a:solidFill>
                            <a:srgbClr val="000000"/>
                          </a:solidFill>
                        </a:uFill>
                      </a:endParaRPr>
                    </a:p>
                  </a:txBody>
                  <a:tcPr/>
                </a:tc>
                <a:tc>
                  <a:txBody>
                    <a:bodyPr/>
                    <a:lstStyle/>
                    <a:p>
                      <a:r>
                        <a:rPr lang="en-US" sz="1200" dirty="0"/>
                        <a:t>Total liabilities and owners’ equity</a:t>
                      </a:r>
                      <a:endParaRPr lang="en-US" sz="1200" u="dbl" baseline="0" dirty="0">
                        <a:uFill>
                          <a:solidFill>
                            <a:srgbClr val="000000"/>
                          </a:solidFill>
                        </a:uFill>
                      </a:endParaRPr>
                    </a:p>
                  </a:txBody>
                  <a:tcPr/>
                </a:tc>
                <a:tc>
                  <a:txBody>
                    <a:bodyPr/>
                    <a:lstStyle/>
                    <a:p>
                      <a:pPr algn="r"/>
                      <a:r>
                        <a:rPr lang="en-IN" sz="1200" u="dbl" baseline="0" dirty="0">
                          <a:uFill>
                            <a:solidFill>
                              <a:srgbClr val="000000"/>
                            </a:solidFill>
                          </a:uFill>
                        </a:rPr>
                        <a:t>$2,756</a:t>
                      </a:r>
                      <a:endParaRPr lang="en-US" sz="1200" u="dbl" baseline="0" dirty="0">
                        <a:uFill>
                          <a:solidFill>
                            <a:srgbClr val="000000"/>
                          </a:solidFill>
                        </a:uFill>
                      </a:endParaRPr>
                    </a:p>
                  </a:txBody>
                  <a:tcPr/>
                </a:tc>
                <a:tc>
                  <a:txBody>
                    <a:bodyPr/>
                    <a:lstStyle/>
                    <a:p>
                      <a:pPr algn="r"/>
                      <a:r>
                        <a:rPr lang="en-IN" sz="1200" u="dbl" baseline="0" dirty="0">
                          <a:uFill>
                            <a:solidFill>
                              <a:srgbClr val="000000"/>
                            </a:solidFill>
                          </a:uFill>
                        </a:rPr>
                        <a:t>$3,173</a:t>
                      </a:r>
                      <a:endParaRPr lang="en-US" sz="1200" u="dbl" baseline="0" dirty="0">
                        <a:uFill>
                          <a:solidFill>
                            <a:srgbClr val="000000"/>
                          </a:solidFill>
                        </a:uFill>
                      </a:endParaRPr>
                    </a:p>
                  </a:txBody>
                  <a:tcPr/>
                </a:tc>
                <a:extLst>
                  <a:ext uri="{0D108BD9-81ED-4DB2-BD59-A6C34878D82A}">
                    <a16:rowId xmlns:a16="http://schemas.microsoft.com/office/drawing/2014/main" val="3489176287"/>
                  </a:ext>
                </a:extLst>
              </a:tr>
            </a:tbl>
          </a:graphicData>
        </a:graphic>
      </p:graphicFrame>
      <p:sp>
        <p:nvSpPr>
          <p:cNvPr id="6" name="Slide Number Placeholder 5">
            <a:extLst>
              <a:ext uri="{FF2B5EF4-FFF2-40B4-BE49-F238E27FC236}">
                <a16:creationId xmlns:a16="http://schemas.microsoft.com/office/drawing/2014/main" id="{E375EABB-51D7-4614-B32A-ACEF56202658}"/>
              </a:ext>
            </a:extLst>
          </p:cNvPr>
          <p:cNvSpPr>
            <a:spLocks noGrp="1"/>
          </p:cNvSpPr>
          <p:nvPr>
            <p:ph type="sldNum" sz="quarter" idx="4"/>
          </p:nvPr>
        </p:nvSpPr>
        <p:spPr/>
        <p:txBody>
          <a:bodyPr/>
          <a:lstStyle/>
          <a:p>
            <a:fld id="{68151E55-6873-49E2-B8D5-2F265E6F1973}" type="slidenum">
              <a:rPr lang="en-US" smtClean="0"/>
              <a:pPr/>
              <a:t>21</a:t>
            </a:fld>
            <a:endParaRPr lang="en-US" dirty="0"/>
          </a:p>
        </p:txBody>
      </p:sp>
      <p:grpSp>
        <p:nvGrpSpPr>
          <p:cNvPr id="4" name="Group 139">
            <a:extLst>
              <a:ext uri="{FF2B5EF4-FFF2-40B4-BE49-F238E27FC236}">
                <a16:creationId xmlns:a16="http://schemas.microsoft.com/office/drawing/2014/main" id="{65388B15-0CE1-D94D-35A6-B2928ACF2558}"/>
              </a:ext>
            </a:extLst>
          </p:cNvPr>
          <p:cNvGrpSpPr>
            <a:grpSpLocks/>
          </p:cNvGrpSpPr>
          <p:nvPr/>
        </p:nvGrpSpPr>
        <p:grpSpPr bwMode="auto">
          <a:xfrm>
            <a:off x="1866900" y="3763963"/>
            <a:ext cx="7802563" cy="2184400"/>
            <a:chOff x="576" y="2275"/>
            <a:chExt cx="4915" cy="1376"/>
          </a:xfrm>
        </p:grpSpPr>
        <p:sp>
          <p:nvSpPr>
            <p:cNvPr id="5" name="Rectangle 140">
              <a:extLst>
                <a:ext uri="{FF2B5EF4-FFF2-40B4-BE49-F238E27FC236}">
                  <a16:creationId xmlns:a16="http://schemas.microsoft.com/office/drawing/2014/main" id="{ECCD0DDD-B972-A59E-FD7D-33EC1DB99F23}"/>
                </a:ext>
              </a:extLst>
            </p:cNvPr>
            <p:cNvSpPr>
              <a:spLocks noChangeArrowheads="1"/>
            </p:cNvSpPr>
            <p:nvPr/>
          </p:nvSpPr>
          <p:spPr bwMode="auto">
            <a:xfrm>
              <a:off x="576" y="3360"/>
              <a:ext cx="1897" cy="291"/>
            </a:xfrm>
            <a:prstGeom prst="rect">
              <a:avLst/>
            </a:prstGeom>
            <a:noFill/>
            <a:ln w="12700" cap="sq">
              <a:solidFill>
                <a:srgbClr val="00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eaLnBrk="1" hangingPunct="1"/>
              <a:r>
                <a:rPr lang="en-US" altLang="en-US" sz="2400" dirty="0">
                  <a:solidFill>
                    <a:srgbClr val="FF0000"/>
                  </a:solidFill>
                </a:rPr>
                <a:t>684m = 1,112m- 428m</a:t>
              </a:r>
            </a:p>
          </p:txBody>
        </p:sp>
        <p:sp>
          <p:nvSpPr>
            <p:cNvPr id="7" name="Arc 141">
              <a:extLst>
                <a:ext uri="{FF2B5EF4-FFF2-40B4-BE49-F238E27FC236}">
                  <a16:creationId xmlns:a16="http://schemas.microsoft.com/office/drawing/2014/main" id="{C3BA8D40-ADDA-1A07-A9B7-520A5E6CE16A}"/>
                </a:ext>
              </a:extLst>
            </p:cNvPr>
            <p:cNvSpPr>
              <a:spLocks/>
            </p:cNvSpPr>
            <p:nvPr/>
          </p:nvSpPr>
          <p:spPr bwMode="auto">
            <a:xfrm flipH="1">
              <a:off x="1682" y="2563"/>
              <a:ext cx="541" cy="79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cap="sq">
              <a:solidFill>
                <a:srgbClr val="FF33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Oval 142">
              <a:extLst>
                <a:ext uri="{FF2B5EF4-FFF2-40B4-BE49-F238E27FC236}">
                  <a16:creationId xmlns:a16="http://schemas.microsoft.com/office/drawing/2014/main" id="{EAAAF9DE-8463-278E-C8DA-E042DA978EF9}"/>
                </a:ext>
              </a:extLst>
            </p:cNvPr>
            <p:cNvSpPr>
              <a:spLocks noChangeArrowheads="1"/>
            </p:cNvSpPr>
            <p:nvPr/>
          </p:nvSpPr>
          <p:spPr bwMode="auto">
            <a:xfrm>
              <a:off x="2223" y="2467"/>
              <a:ext cx="384" cy="192"/>
            </a:xfrm>
            <a:prstGeom prst="ellipse">
              <a:avLst/>
            </a:prstGeom>
            <a:noFill/>
            <a:ln w="38100">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0" name="Arc 143">
              <a:extLst>
                <a:ext uri="{FF2B5EF4-FFF2-40B4-BE49-F238E27FC236}">
                  <a16:creationId xmlns:a16="http://schemas.microsoft.com/office/drawing/2014/main" id="{E4E4578D-38F6-AA91-8444-054CEB451233}"/>
                </a:ext>
              </a:extLst>
            </p:cNvPr>
            <p:cNvSpPr>
              <a:spLocks/>
            </p:cNvSpPr>
            <p:nvPr/>
          </p:nvSpPr>
          <p:spPr bwMode="auto">
            <a:xfrm flipH="1">
              <a:off x="2223" y="2386"/>
              <a:ext cx="2910" cy="97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cap="sq">
              <a:solidFill>
                <a:srgbClr val="FF33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Oval 144">
              <a:extLst>
                <a:ext uri="{FF2B5EF4-FFF2-40B4-BE49-F238E27FC236}">
                  <a16:creationId xmlns:a16="http://schemas.microsoft.com/office/drawing/2014/main" id="{CCD32E38-4070-D7EF-A45F-7B88386D54E2}"/>
                </a:ext>
              </a:extLst>
            </p:cNvPr>
            <p:cNvSpPr>
              <a:spLocks noChangeArrowheads="1"/>
            </p:cNvSpPr>
            <p:nvPr/>
          </p:nvSpPr>
          <p:spPr bwMode="auto">
            <a:xfrm>
              <a:off x="5107" y="2275"/>
              <a:ext cx="384" cy="192"/>
            </a:xfrm>
            <a:prstGeom prst="ellipse">
              <a:avLst/>
            </a:prstGeom>
            <a:noFill/>
            <a:ln w="38100">
              <a:solidFill>
                <a:srgbClr val="FF33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grpSp>
        <p:nvGrpSpPr>
          <p:cNvPr id="12" name="Group 148">
            <a:extLst>
              <a:ext uri="{FF2B5EF4-FFF2-40B4-BE49-F238E27FC236}">
                <a16:creationId xmlns:a16="http://schemas.microsoft.com/office/drawing/2014/main" id="{A7E4D70A-C517-9D84-C994-B65D8FBEA345}"/>
              </a:ext>
            </a:extLst>
          </p:cNvPr>
          <p:cNvGrpSpPr>
            <a:grpSpLocks/>
          </p:cNvGrpSpPr>
          <p:nvPr/>
        </p:nvGrpSpPr>
        <p:grpSpPr bwMode="auto">
          <a:xfrm>
            <a:off x="2638181" y="1993354"/>
            <a:ext cx="8023225" cy="2419131"/>
            <a:chOff x="910" y="902"/>
            <a:chExt cx="5054" cy="1498"/>
          </a:xfrm>
        </p:grpSpPr>
        <p:sp>
          <p:nvSpPr>
            <p:cNvPr id="13" name="Rectangle 149">
              <a:extLst>
                <a:ext uri="{FF2B5EF4-FFF2-40B4-BE49-F238E27FC236}">
                  <a16:creationId xmlns:a16="http://schemas.microsoft.com/office/drawing/2014/main" id="{D757899B-DB4D-D4AA-DFAD-C1BA4F359D6B}"/>
                </a:ext>
              </a:extLst>
            </p:cNvPr>
            <p:cNvSpPr>
              <a:spLocks noChangeArrowheads="1"/>
            </p:cNvSpPr>
            <p:nvPr/>
          </p:nvSpPr>
          <p:spPr bwMode="auto">
            <a:xfrm>
              <a:off x="910" y="902"/>
              <a:ext cx="2162" cy="286"/>
            </a:xfrm>
            <a:prstGeom prst="rect">
              <a:avLst/>
            </a:prstGeom>
            <a:solidFill>
              <a:srgbClr val="FFFFFF"/>
            </a:solidFill>
            <a:ln w="12700" cap="sq">
              <a:solidFill>
                <a:srgbClr val="000000"/>
              </a:solidFill>
              <a:miter lim="800000"/>
              <a:headEnd type="none" w="sm" len="sm"/>
              <a:tailEnd type="none" w="sm" len="sm"/>
            </a:ln>
          </p:spPr>
          <p:txBody>
            <a:bodyPr wrap="square">
              <a:spAutoFit/>
            </a:bodyP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a:spcBef>
                  <a:spcPct val="50000"/>
                </a:spcBef>
              </a:pPr>
              <a:r>
                <a:rPr lang="en-US" altLang="en-US" sz="2400" dirty="0">
                  <a:solidFill>
                    <a:srgbClr val="0033CC"/>
                  </a:solidFill>
                </a:rPr>
                <a:t>1,075m = 1464m- 389m</a:t>
              </a:r>
            </a:p>
          </p:txBody>
        </p:sp>
        <p:sp>
          <p:nvSpPr>
            <p:cNvPr id="14" name="Arc 150">
              <a:extLst>
                <a:ext uri="{FF2B5EF4-FFF2-40B4-BE49-F238E27FC236}">
                  <a16:creationId xmlns:a16="http://schemas.microsoft.com/office/drawing/2014/main" id="{AD4353B0-CDE0-24D5-7CFF-3300C9A7E903}"/>
                </a:ext>
              </a:extLst>
            </p:cNvPr>
            <p:cNvSpPr>
              <a:spLocks/>
            </p:cNvSpPr>
            <p:nvPr/>
          </p:nvSpPr>
          <p:spPr bwMode="auto">
            <a:xfrm>
              <a:off x="1248" y="1200"/>
              <a:ext cx="1636" cy="1010"/>
            </a:xfrm>
            <a:custGeom>
              <a:avLst/>
              <a:gdLst>
                <a:gd name="T0" fmla="*/ 0 w 21600"/>
                <a:gd name="T1" fmla="*/ 0 h 18154"/>
                <a:gd name="T2" fmla="*/ 0 w 21600"/>
                <a:gd name="T3" fmla="*/ 0 h 18154"/>
                <a:gd name="T4" fmla="*/ 0 w 21600"/>
                <a:gd name="T5" fmla="*/ 0 h 18154"/>
                <a:gd name="T6" fmla="*/ 0 60000 65536"/>
                <a:gd name="T7" fmla="*/ 0 60000 65536"/>
                <a:gd name="T8" fmla="*/ 0 60000 65536"/>
                <a:gd name="T9" fmla="*/ 0 w 21600"/>
                <a:gd name="T10" fmla="*/ 0 h 18154"/>
                <a:gd name="T11" fmla="*/ 21600 w 21600"/>
                <a:gd name="T12" fmla="*/ 18154 h 18154"/>
              </a:gdLst>
              <a:ahLst/>
              <a:cxnLst>
                <a:cxn ang="T6">
                  <a:pos x="T0" y="T1"/>
                </a:cxn>
                <a:cxn ang="T7">
                  <a:pos x="T2" y="T3"/>
                </a:cxn>
                <a:cxn ang="T8">
                  <a:pos x="T4" y="T5"/>
                </a:cxn>
              </a:cxnLst>
              <a:rect l="T9" t="T10" r="T11" b="T12"/>
              <a:pathLst>
                <a:path w="21600" h="18154" fill="none" extrusionOk="0">
                  <a:moveTo>
                    <a:pt x="11704" y="-1"/>
                  </a:moveTo>
                  <a:cubicBezTo>
                    <a:pt x="17872" y="3976"/>
                    <a:pt x="21600" y="10814"/>
                    <a:pt x="21600" y="18154"/>
                  </a:cubicBezTo>
                </a:path>
                <a:path w="21600" h="18154" stroke="0" extrusionOk="0">
                  <a:moveTo>
                    <a:pt x="11704" y="-1"/>
                  </a:moveTo>
                  <a:cubicBezTo>
                    <a:pt x="17872" y="3976"/>
                    <a:pt x="21600" y="10814"/>
                    <a:pt x="21600" y="18154"/>
                  </a:cubicBezTo>
                  <a:lnTo>
                    <a:pt x="0" y="18154"/>
                  </a:lnTo>
                  <a:lnTo>
                    <a:pt x="11704" y="-1"/>
                  </a:lnTo>
                  <a:close/>
                </a:path>
              </a:pathLst>
            </a:custGeom>
            <a:noFill/>
            <a:ln w="38100" cap="sq">
              <a:solidFill>
                <a:srgbClr val="0033CC"/>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5" name="Arc 151">
              <a:extLst>
                <a:ext uri="{FF2B5EF4-FFF2-40B4-BE49-F238E27FC236}">
                  <a16:creationId xmlns:a16="http://schemas.microsoft.com/office/drawing/2014/main" id="{B510ADC7-B9F4-088F-5EC2-79EF8E99CB6F}"/>
                </a:ext>
              </a:extLst>
            </p:cNvPr>
            <p:cNvSpPr>
              <a:spLocks/>
            </p:cNvSpPr>
            <p:nvPr/>
          </p:nvSpPr>
          <p:spPr bwMode="auto">
            <a:xfrm>
              <a:off x="2686" y="913"/>
              <a:ext cx="2965" cy="1105"/>
            </a:xfrm>
            <a:custGeom>
              <a:avLst/>
              <a:gdLst>
                <a:gd name="T0" fmla="*/ 0 w 32161"/>
                <a:gd name="T1" fmla="*/ 0 h 21600"/>
                <a:gd name="T2" fmla="*/ 0 w 32161"/>
                <a:gd name="T3" fmla="*/ 0 h 21600"/>
                <a:gd name="T4" fmla="*/ 0 w 32161"/>
                <a:gd name="T5" fmla="*/ 0 h 21600"/>
                <a:gd name="T6" fmla="*/ 0 60000 65536"/>
                <a:gd name="T7" fmla="*/ 0 60000 65536"/>
                <a:gd name="T8" fmla="*/ 0 60000 65536"/>
                <a:gd name="T9" fmla="*/ 0 w 32161"/>
                <a:gd name="T10" fmla="*/ 0 h 21600"/>
                <a:gd name="T11" fmla="*/ 32161 w 32161"/>
                <a:gd name="T12" fmla="*/ 21600 h 21600"/>
              </a:gdLst>
              <a:ahLst/>
              <a:cxnLst>
                <a:cxn ang="T6">
                  <a:pos x="T0" y="T1"/>
                </a:cxn>
                <a:cxn ang="T7">
                  <a:pos x="T2" y="T3"/>
                </a:cxn>
                <a:cxn ang="T8">
                  <a:pos x="T4" y="T5"/>
                </a:cxn>
              </a:cxnLst>
              <a:rect l="T9" t="T10" r="T11" b="T12"/>
              <a:pathLst>
                <a:path w="32161" h="21600" fill="none" extrusionOk="0">
                  <a:moveTo>
                    <a:pt x="-1" y="2757"/>
                  </a:moveTo>
                  <a:cubicBezTo>
                    <a:pt x="3226" y="949"/>
                    <a:pt x="6862" y="-1"/>
                    <a:pt x="10561" y="0"/>
                  </a:cubicBezTo>
                  <a:cubicBezTo>
                    <a:pt x="22490" y="0"/>
                    <a:pt x="32161" y="9670"/>
                    <a:pt x="32161" y="21600"/>
                  </a:cubicBezTo>
                </a:path>
                <a:path w="32161" h="21600" stroke="0" extrusionOk="0">
                  <a:moveTo>
                    <a:pt x="-1" y="2757"/>
                  </a:moveTo>
                  <a:cubicBezTo>
                    <a:pt x="3226" y="949"/>
                    <a:pt x="6862" y="-1"/>
                    <a:pt x="10561" y="0"/>
                  </a:cubicBezTo>
                  <a:cubicBezTo>
                    <a:pt x="22490" y="0"/>
                    <a:pt x="32161" y="9670"/>
                    <a:pt x="32161" y="21600"/>
                  </a:cubicBezTo>
                  <a:lnTo>
                    <a:pt x="10561" y="21600"/>
                  </a:lnTo>
                  <a:lnTo>
                    <a:pt x="-1" y="2757"/>
                  </a:lnTo>
                  <a:close/>
                </a:path>
              </a:pathLst>
            </a:custGeom>
            <a:noFill/>
            <a:ln w="38100" cap="sq">
              <a:solidFill>
                <a:srgbClr val="0033CC"/>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 name="Oval 152">
              <a:extLst>
                <a:ext uri="{FF2B5EF4-FFF2-40B4-BE49-F238E27FC236}">
                  <a16:creationId xmlns:a16="http://schemas.microsoft.com/office/drawing/2014/main" id="{C9277FEA-DBEC-E69F-0610-47A7C5D025CE}"/>
                </a:ext>
              </a:extLst>
            </p:cNvPr>
            <p:cNvSpPr>
              <a:spLocks noChangeArrowheads="1"/>
            </p:cNvSpPr>
            <p:nvPr/>
          </p:nvSpPr>
          <p:spPr bwMode="auto">
            <a:xfrm>
              <a:off x="5580" y="1995"/>
              <a:ext cx="384" cy="192"/>
            </a:xfrm>
            <a:prstGeom prst="ellipse">
              <a:avLst/>
            </a:prstGeom>
            <a:noFill/>
            <a:ln w="38100">
              <a:solidFill>
                <a:srgbClr val="0033C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sp>
          <p:nvSpPr>
            <p:cNvPr id="17" name="Oval 153">
              <a:extLst>
                <a:ext uri="{FF2B5EF4-FFF2-40B4-BE49-F238E27FC236}">
                  <a16:creationId xmlns:a16="http://schemas.microsoft.com/office/drawing/2014/main" id="{99FBB3F6-54B8-5223-F03C-E7E1DC0694BE}"/>
                </a:ext>
              </a:extLst>
            </p:cNvPr>
            <p:cNvSpPr>
              <a:spLocks noChangeArrowheads="1"/>
            </p:cNvSpPr>
            <p:nvPr/>
          </p:nvSpPr>
          <p:spPr bwMode="auto">
            <a:xfrm>
              <a:off x="2688" y="2208"/>
              <a:ext cx="384" cy="192"/>
            </a:xfrm>
            <a:prstGeom prst="ellipse">
              <a:avLst/>
            </a:prstGeom>
            <a:noFill/>
            <a:ln w="38100">
              <a:solidFill>
                <a:srgbClr val="0033CC"/>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Times New Roman" panose="02020603050405020304" pitchFamily="18" charset="0"/>
                  <a:ea typeface="ＭＳ Ｐゴシック" panose="020B0600070205080204" pitchFamily="34" charset="-128"/>
                </a:defRPr>
              </a:lvl1pPr>
              <a:lvl2pPr marL="37931725" indent="-37474525">
                <a:defRPr>
                  <a:solidFill>
                    <a:schemeClr val="tx1"/>
                  </a:solidFill>
                  <a:latin typeface="Times New Roman" panose="02020603050405020304" pitchFamily="18" charset="0"/>
                  <a:ea typeface="ＭＳ Ｐゴシック" panose="020B0600070205080204" pitchFamily="34" charset="-128"/>
                </a:defRPr>
              </a:lvl2pPr>
              <a:lvl3pPr marL="1143000" indent="-228600">
                <a:defRPr>
                  <a:solidFill>
                    <a:schemeClr val="tx1"/>
                  </a:solidFill>
                  <a:latin typeface="Times New Roman" panose="02020603050405020304" pitchFamily="18" charset="0"/>
                  <a:ea typeface="ＭＳ Ｐゴシック" panose="020B0600070205080204" pitchFamily="34" charset="-128"/>
                </a:defRPr>
              </a:lvl3pPr>
              <a:lvl4pPr marL="1600200" indent="-228600">
                <a:defRPr>
                  <a:solidFill>
                    <a:schemeClr val="tx1"/>
                  </a:solidFill>
                  <a:latin typeface="Times New Roman" panose="02020603050405020304" pitchFamily="18" charset="0"/>
                  <a:ea typeface="ＭＳ Ｐゴシック" panose="020B0600070205080204" pitchFamily="34" charset="-128"/>
                </a:defRPr>
              </a:lvl4pPr>
              <a:lvl5pPr marL="2057400" indent="-228600">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endParaRPr lang="en-US" altLang="en-US"/>
            </a:p>
          </p:txBody>
        </p:sp>
      </p:grpSp>
    </p:spTree>
    <p:extLst>
      <p:ext uri="{BB962C8B-B14F-4D97-AF65-F5344CB8AC3E}">
        <p14:creationId xmlns:p14="http://schemas.microsoft.com/office/powerpoint/2010/main" val="3067803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FB6DC-3DFB-4454-98B2-F58F363DC11D}"/>
              </a:ext>
            </a:extLst>
          </p:cNvPr>
          <p:cNvSpPr>
            <a:spLocks noGrp="1"/>
          </p:cNvSpPr>
          <p:nvPr>
            <p:ph type="title"/>
          </p:nvPr>
        </p:nvSpPr>
        <p:spPr>
          <a:ln>
            <a:solidFill>
              <a:schemeClr val="tx1"/>
            </a:solidFill>
          </a:ln>
        </p:spPr>
        <p:txBody>
          <a:bodyPr/>
          <a:lstStyle/>
          <a:p>
            <a:r>
              <a:rPr lang="en-US" altLang="en-US" dirty="0"/>
              <a:t>U.S. Corporation: Income Statement</a:t>
            </a:r>
            <a:endParaRPr lang="en-US" dirty="0">
              <a:solidFill>
                <a:schemeClr val="tx1"/>
              </a:solidFill>
            </a:endParaRPr>
          </a:p>
        </p:txBody>
      </p:sp>
      <p:sp>
        <p:nvSpPr>
          <p:cNvPr id="3" name="Content Placeholder 2">
            <a:extLst>
              <a:ext uri="{FF2B5EF4-FFF2-40B4-BE49-F238E27FC236}">
                <a16:creationId xmlns:a16="http://schemas.microsoft.com/office/drawing/2014/main" id="{5C806EC6-2E42-42E9-A601-2AC8749B9837}"/>
              </a:ext>
            </a:extLst>
          </p:cNvPr>
          <p:cNvSpPr>
            <a:spLocks noGrp="1"/>
          </p:cNvSpPr>
          <p:nvPr>
            <p:ph sz="quarter" idx="11"/>
          </p:nvPr>
        </p:nvSpPr>
        <p:spPr>
          <a:xfrm>
            <a:off x="1866900" y="1363843"/>
            <a:ext cx="8458200" cy="903232"/>
          </a:xfrm>
        </p:spPr>
        <p:txBody>
          <a:bodyPr/>
          <a:lstStyle/>
          <a:p>
            <a:pPr algn="ctr"/>
            <a:r>
              <a:rPr lang="en-US" b="1" dirty="0"/>
              <a:t>U.S. CORPORATION</a:t>
            </a:r>
            <a:br>
              <a:rPr lang="en-US" b="1" dirty="0"/>
            </a:br>
            <a:r>
              <a:rPr lang="en-US" sz="2400" b="1" dirty="0"/>
              <a:t>2024 Income Statement (in millions)</a:t>
            </a:r>
          </a:p>
        </p:txBody>
      </p:sp>
      <p:graphicFrame>
        <p:nvGraphicFramePr>
          <p:cNvPr id="7" name="Table 7">
            <a:extLst>
              <a:ext uri="{FF2B5EF4-FFF2-40B4-BE49-F238E27FC236}">
                <a16:creationId xmlns:a16="http://schemas.microsoft.com/office/drawing/2014/main" id="{8661904F-E47F-4CA2-8CA7-6176C50E66A7}"/>
              </a:ext>
            </a:extLst>
          </p:cNvPr>
          <p:cNvGraphicFramePr>
            <a:graphicFrameLocks noGrp="1"/>
          </p:cNvGraphicFramePr>
          <p:nvPr>
            <p:extLst>
              <p:ext uri="{D42A27DB-BD31-4B8C-83A1-F6EECF244321}">
                <p14:modId xmlns:p14="http://schemas.microsoft.com/office/powerpoint/2010/main" val="2655560110"/>
              </p:ext>
            </p:extLst>
          </p:nvPr>
        </p:nvGraphicFramePr>
        <p:xfrm>
          <a:off x="902677" y="2475485"/>
          <a:ext cx="10011508" cy="3738714"/>
        </p:xfrm>
        <a:graphic>
          <a:graphicData uri="http://schemas.openxmlformats.org/drawingml/2006/table">
            <a:tbl>
              <a:tblPr firstRow="1" bandRow="1">
                <a:tableStyleId>{2D5ABB26-0587-4C30-8999-92F81FD0307C}</a:tableStyleId>
              </a:tblPr>
              <a:tblGrid>
                <a:gridCol w="6203909">
                  <a:extLst>
                    <a:ext uri="{9D8B030D-6E8A-4147-A177-3AD203B41FA5}">
                      <a16:colId xmlns:a16="http://schemas.microsoft.com/office/drawing/2014/main" val="478748918"/>
                    </a:ext>
                  </a:extLst>
                </a:gridCol>
                <a:gridCol w="1908895">
                  <a:extLst>
                    <a:ext uri="{9D8B030D-6E8A-4147-A177-3AD203B41FA5}">
                      <a16:colId xmlns:a16="http://schemas.microsoft.com/office/drawing/2014/main" val="2807940045"/>
                    </a:ext>
                  </a:extLst>
                </a:gridCol>
                <a:gridCol w="1898704">
                  <a:extLst>
                    <a:ext uri="{9D8B030D-6E8A-4147-A177-3AD203B41FA5}">
                      <a16:colId xmlns:a16="http://schemas.microsoft.com/office/drawing/2014/main" val="1110501148"/>
                    </a:ext>
                  </a:extLst>
                </a:gridCol>
              </a:tblGrid>
              <a:tr h="235406">
                <a:tc>
                  <a:txBody>
                    <a:bodyPr/>
                    <a:lstStyle/>
                    <a:p>
                      <a:r>
                        <a:rPr lang="en-US" b="0" dirty="0">
                          <a:solidFill>
                            <a:schemeClr val="tx1"/>
                          </a:solidFill>
                        </a:rPr>
                        <a:t>Net sales</a:t>
                      </a:r>
                    </a:p>
                  </a:txBody>
                  <a:tcPr/>
                </a:tc>
                <a:tc>
                  <a:txBody>
                    <a:bodyPr/>
                    <a:lstStyle/>
                    <a:p>
                      <a:pPr algn="r"/>
                      <a:endParaRPr lang="en-US" b="0" dirty="0">
                        <a:solidFill>
                          <a:schemeClr val="tx1"/>
                        </a:solidFill>
                      </a:endParaRPr>
                    </a:p>
                  </a:txBody>
                  <a:tcPr/>
                </a:tc>
                <a:tc>
                  <a:txBody>
                    <a:bodyPr/>
                    <a:lstStyle/>
                    <a:p>
                      <a:pPr algn="r"/>
                      <a:r>
                        <a:rPr lang="en-US" b="0" dirty="0">
                          <a:solidFill>
                            <a:schemeClr val="tx1"/>
                          </a:solidFill>
                        </a:rPr>
                        <a:t>$1,509</a:t>
                      </a:r>
                    </a:p>
                  </a:txBody>
                  <a:tcPr/>
                </a:tc>
                <a:extLst>
                  <a:ext uri="{0D108BD9-81ED-4DB2-BD59-A6C34878D82A}">
                    <a16:rowId xmlns:a16="http://schemas.microsoft.com/office/drawing/2014/main" val="3793139127"/>
                  </a:ext>
                </a:extLst>
              </a:tr>
              <a:tr h="235406">
                <a:tc>
                  <a:txBody>
                    <a:bodyPr/>
                    <a:lstStyle/>
                    <a:p>
                      <a:r>
                        <a:rPr lang="en-US" dirty="0"/>
                        <a:t>Cost of goods sold</a:t>
                      </a:r>
                    </a:p>
                  </a:txBody>
                  <a:tcPr/>
                </a:tc>
                <a:tc>
                  <a:txBody>
                    <a:bodyPr/>
                    <a:lstStyle/>
                    <a:p>
                      <a:pPr algn="r"/>
                      <a:endParaRPr lang="en-US" dirty="0"/>
                    </a:p>
                  </a:txBody>
                  <a:tcPr/>
                </a:tc>
                <a:tc>
                  <a:txBody>
                    <a:bodyPr/>
                    <a:lstStyle/>
                    <a:p>
                      <a:pPr algn="r"/>
                      <a:r>
                        <a:rPr lang="en-IN" dirty="0"/>
                        <a:t>750</a:t>
                      </a:r>
                      <a:endParaRPr lang="en-US" dirty="0"/>
                    </a:p>
                  </a:txBody>
                  <a:tcPr/>
                </a:tc>
                <a:extLst>
                  <a:ext uri="{0D108BD9-81ED-4DB2-BD59-A6C34878D82A}">
                    <a16:rowId xmlns:a16="http://schemas.microsoft.com/office/drawing/2014/main" val="3498343698"/>
                  </a:ext>
                </a:extLst>
              </a:tr>
              <a:tr h="235406">
                <a:tc>
                  <a:txBody>
                    <a:bodyPr/>
                    <a:lstStyle/>
                    <a:p>
                      <a:r>
                        <a:rPr lang="en-US" dirty="0"/>
                        <a:t>Depreciation</a:t>
                      </a:r>
                    </a:p>
                  </a:txBody>
                  <a:tcPr/>
                </a:tc>
                <a:tc>
                  <a:txBody>
                    <a:bodyPr/>
                    <a:lstStyle/>
                    <a:p>
                      <a:pPr algn="r"/>
                      <a:endParaRPr lang="en-US" dirty="0"/>
                    </a:p>
                  </a:txBody>
                  <a:tcPr/>
                </a:tc>
                <a:tc>
                  <a:txBody>
                    <a:bodyPr/>
                    <a:lstStyle/>
                    <a:p>
                      <a:pPr algn="r"/>
                      <a:r>
                        <a:rPr lang="en-IN" u="sng" dirty="0"/>
                        <a:t>       65</a:t>
                      </a:r>
                      <a:endParaRPr lang="en-US" u="sng" dirty="0"/>
                    </a:p>
                  </a:txBody>
                  <a:tcPr/>
                </a:tc>
                <a:extLst>
                  <a:ext uri="{0D108BD9-81ED-4DB2-BD59-A6C34878D82A}">
                    <a16:rowId xmlns:a16="http://schemas.microsoft.com/office/drawing/2014/main" val="140975099"/>
                  </a:ext>
                </a:extLst>
              </a:tr>
              <a:tr h="406317">
                <a:tc>
                  <a:txBody>
                    <a:bodyPr/>
                    <a:lstStyle/>
                    <a:p>
                      <a:r>
                        <a:rPr lang="en-US" dirty="0"/>
                        <a:t>Earnings before interest and taxes (Operating Cash Flow)</a:t>
                      </a:r>
                    </a:p>
                  </a:txBody>
                  <a:tcPr/>
                </a:tc>
                <a:tc>
                  <a:txBody>
                    <a:bodyPr/>
                    <a:lstStyle/>
                    <a:p>
                      <a:pPr algn="r"/>
                      <a:endParaRPr lang="en-US" dirty="0"/>
                    </a:p>
                  </a:txBody>
                  <a:tcPr/>
                </a:tc>
                <a:tc>
                  <a:txBody>
                    <a:bodyPr/>
                    <a:lstStyle/>
                    <a:p>
                      <a:pPr algn="r"/>
                      <a:r>
                        <a:rPr lang="en-IN" dirty="0"/>
                        <a:t>$   694</a:t>
                      </a:r>
                      <a:endParaRPr lang="en-US" dirty="0"/>
                    </a:p>
                  </a:txBody>
                  <a:tcPr/>
                </a:tc>
                <a:extLst>
                  <a:ext uri="{0D108BD9-81ED-4DB2-BD59-A6C34878D82A}">
                    <a16:rowId xmlns:a16="http://schemas.microsoft.com/office/drawing/2014/main" val="156998615"/>
                  </a:ext>
                </a:extLst>
              </a:tr>
              <a:tr h="235406">
                <a:tc>
                  <a:txBody>
                    <a:bodyPr/>
                    <a:lstStyle/>
                    <a:p>
                      <a:r>
                        <a:rPr lang="en-US" dirty="0"/>
                        <a:t>Interest paid</a:t>
                      </a:r>
                    </a:p>
                  </a:txBody>
                  <a:tcPr/>
                </a:tc>
                <a:tc>
                  <a:txBody>
                    <a:bodyPr/>
                    <a:lstStyle/>
                    <a:p>
                      <a:pPr algn="r"/>
                      <a:endParaRPr lang="en-US" dirty="0"/>
                    </a:p>
                  </a:txBody>
                  <a:tcPr/>
                </a:tc>
                <a:tc>
                  <a:txBody>
                    <a:bodyPr/>
                    <a:lstStyle/>
                    <a:p>
                      <a:pPr algn="r"/>
                      <a:r>
                        <a:rPr lang="en-IN" u="sng" dirty="0"/>
                        <a:t>       70</a:t>
                      </a:r>
                      <a:endParaRPr lang="en-US" u="sng" dirty="0"/>
                    </a:p>
                  </a:txBody>
                  <a:tcPr/>
                </a:tc>
                <a:extLst>
                  <a:ext uri="{0D108BD9-81ED-4DB2-BD59-A6C34878D82A}">
                    <a16:rowId xmlns:a16="http://schemas.microsoft.com/office/drawing/2014/main" val="3637321221"/>
                  </a:ext>
                </a:extLst>
              </a:tr>
              <a:tr h="235406">
                <a:tc>
                  <a:txBody>
                    <a:bodyPr/>
                    <a:lstStyle/>
                    <a:p>
                      <a:r>
                        <a:rPr lang="en-US" dirty="0"/>
                        <a:t>Taxable income</a:t>
                      </a:r>
                    </a:p>
                  </a:txBody>
                  <a:tcPr/>
                </a:tc>
                <a:tc>
                  <a:txBody>
                    <a:bodyPr/>
                    <a:lstStyle/>
                    <a:p>
                      <a:pPr algn="r"/>
                      <a:endParaRPr lang="en-US" dirty="0"/>
                    </a:p>
                  </a:txBody>
                  <a:tcPr/>
                </a:tc>
                <a:tc>
                  <a:txBody>
                    <a:bodyPr/>
                    <a:lstStyle/>
                    <a:p>
                      <a:pPr algn="r"/>
                      <a:r>
                        <a:rPr lang="en-IN" dirty="0"/>
                        <a:t>$   624</a:t>
                      </a:r>
                      <a:endParaRPr lang="en-US" dirty="0"/>
                    </a:p>
                  </a:txBody>
                  <a:tcPr/>
                </a:tc>
                <a:extLst>
                  <a:ext uri="{0D108BD9-81ED-4DB2-BD59-A6C34878D82A}">
                    <a16:rowId xmlns:a16="http://schemas.microsoft.com/office/drawing/2014/main" val="58851441"/>
                  </a:ext>
                </a:extLst>
              </a:tr>
              <a:tr h="235406">
                <a:tc>
                  <a:txBody>
                    <a:bodyPr/>
                    <a:lstStyle/>
                    <a:p>
                      <a:r>
                        <a:rPr lang="en-US" dirty="0"/>
                        <a:t>Taxes (21%)</a:t>
                      </a:r>
                    </a:p>
                  </a:txBody>
                  <a:tcPr/>
                </a:tc>
                <a:tc>
                  <a:txBody>
                    <a:bodyPr/>
                    <a:lstStyle/>
                    <a:p>
                      <a:pPr algn="r"/>
                      <a:endParaRPr lang="en-US" dirty="0"/>
                    </a:p>
                  </a:txBody>
                  <a:tcPr/>
                </a:tc>
                <a:tc>
                  <a:txBody>
                    <a:bodyPr/>
                    <a:lstStyle/>
                    <a:p>
                      <a:pPr algn="r"/>
                      <a:r>
                        <a:rPr lang="en-IN" u="sng" dirty="0"/>
                        <a:t>     131</a:t>
                      </a:r>
                      <a:endParaRPr lang="en-US" u="sng" dirty="0"/>
                    </a:p>
                  </a:txBody>
                  <a:tcPr/>
                </a:tc>
                <a:extLst>
                  <a:ext uri="{0D108BD9-81ED-4DB2-BD59-A6C34878D82A}">
                    <a16:rowId xmlns:a16="http://schemas.microsoft.com/office/drawing/2014/main" val="1073528588"/>
                  </a:ext>
                </a:extLst>
              </a:tr>
              <a:tr h="235406">
                <a:tc>
                  <a:txBody>
                    <a:bodyPr/>
                    <a:lstStyle/>
                    <a:p>
                      <a:r>
                        <a:rPr lang="en-US" dirty="0"/>
                        <a:t>Net income</a:t>
                      </a:r>
                    </a:p>
                  </a:txBody>
                  <a:tcPr/>
                </a:tc>
                <a:tc>
                  <a:txBody>
                    <a:bodyPr/>
                    <a:lstStyle/>
                    <a:p>
                      <a:pPr algn="r"/>
                      <a:endParaRPr lang="en-US" dirty="0"/>
                    </a:p>
                  </a:txBody>
                  <a:tcPr/>
                </a:tc>
                <a:tc>
                  <a:txBody>
                    <a:bodyPr/>
                    <a:lstStyle/>
                    <a:p>
                      <a:pPr algn="r"/>
                      <a:r>
                        <a:rPr lang="en-IN" u="dbl" baseline="0" dirty="0">
                          <a:uFill>
                            <a:solidFill>
                              <a:srgbClr val="000000"/>
                            </a:solidFill>
                          </a:uFill>
                        </a:rPr>
                        <a:t>$   493</a:t>
                      </a:r>
                      <a:endParaRPr lang="en-US" u="dbl" baseline="0" dirty="0">
                        <a:uFill>
                          <a:solidFill>
                            <a:srgbClr val="000000"/>
                          </a:solidFill>
                        </a:uFill>
                      </a:endParaRPr>
                    </a:p>
                  </a:txBody>
                  <a:tcPr/>
                </a:tc>
                <a:extLst>
                  <a:ext uri="{0D108BD9-81ED-4DB2-BD59-A6C34878D82A}">
                    <a16:rowId xmlns:a16="http://schemas.microsoft.com/office/drawing/2014/main" val="3793735649"/>
                  </a:ext>
                </a:extLst>
              </a:tr>
              <a:tr h="235406">
                <a:tc>
                  <a:txBody>
                    <a:bodyPr/>
                    <a:lstStyle/>
                    <a:p>
                      <a:r>
                        <a:rPr lang="en-US" dirty="0"/>
                        <a:t>Dividends</a:t>
                      </a:r>
                    </a:p>
                  </a:txBody>
                  <a:tcPr/>
                </a:tc>
                <a:tc>
                  <a:txBody>
                    <a:bodyPr/>
                    <a:lstStyle/>
                    <a:p>
                      <a:pPr algn="r"/>
                      <a:r>
                        <a:rPr lang="en-IN" dirty="0"/>
                        <a:t>$ 123</a:t>
                      </a:r>
                      <a:endParaRPr lang="en-US" dirty="0"/>
                    </a:p>
                  </a:txBody>
                  <a:tcPr/>
                </a:tc>
                <a:tc>
                  <a:txBody>
                    <a:bodyPr/>
                    <a:lstStyle/>
                    <a:p>
                      <a:pPr algn="r"/>
                      <a:endParaRPr lang="en-US" dirty="0"/>
                    </a:p>
                  </a:txBody>
                  <a:tcPr/>
                </a:tc>
                <a:extLst>
                  <a:ext uri="{0D108BD9-81ED-4DB2-BD59-A6C34878D82A}">
                    <a16:rowId xmlns:a16="http://schemas.microsoft.com/office/drawing/2014/main" val="3549933915"/>
                  </a:ext>
                </a:extLst>
              </a:tr>
              <a:tr h="406317">
                <a:tc>
                  <a:txBody>
                    <a:bodyPr/>
                    <a:lstStyle/>
                    <a:p>
                      <a:r>
                        <a:rPr lang="en-US" dirty="0"/>
                        <a:t>Addition to retained earnings</a:t>
                      </a:r>
                    </a:p>
                  </a:txBody>
                  <a:tcPr/>
                </a:tc>
                <a:tc>
                  <a:txBody>
                    <a:bodyPr/>
                    <a:lstStyle/>
                    <a:p>
                      <a:pPr algn="r"/>
                      <a:r>
                        <a:rPr lang="en-IN" dirty="0"/>
                        <a:t>370</a:t>
                      </a:r>
                      <a:endParaRPr lang="en-US" dirty="0"/>
                    </a:p>
                  </a:txBody>
                  <a:tcPr/>
                </a:tc>
                <a:tc>
                  <a:txBody>
                    <a:bodyPr/>
                    <a:lstStyle/>
                    <a:p>
                      <a:pPr algn="r"/>
                      <a:endParaRPr lang="en-US" dirty="0"/>
                    </a:p>
                  </a:txBody>
                  <a:tcPr/>
                </a:tc>
                <a:extLst>
                  <a:ext uri="{0D108BD9-81ED-4DB2-BD59-A6C34878D82A}">
                    <a16:rowId xmlns:a16="http://schemas.microsoft.com/office/drawing/2014/main" val="977618990"/>
                  </a:ext>
                </a:extLst>
              </a:tr>
            </a:tbl>
          </a:graphicData>
        </a:graphic>
      </p:graphicFrame>
      <p:sp>
        <p:nvSpPr>
          <p:cNvPr id="6" name="Slide Number Placeholder 5">
            <a:extLst>
              <a:ext uri="{FF2B5EF4-FFF2-40B4-BE49-F238E27FC236}">
                <a16:creationId xmlns:a16="http://schemas.microsoft.com/office/drawing/2014/main" id="{5C99E7D0-025D-487A-8418-7FCE1CCF811E}"/>
              </a:ext>
            </a:extLst>
          </p:cNvPr>
          <p:cNvSpPr>
            <a:spLocks noGrp="1"/>
          </p:cNvSpPr>
          <p:nvPr>
            <p:ph type="sldNum" sz="quarter" idx="4"/>
          </p:nvPr>
        </p:nvSpPr>
        <p:spPr/>
        <p:txBody>
          <a:bodyPr/>
          <a:lstStyle/>
          <a:p>
            <a:fld id="{68151E55-6873-49E2-B8D5-2F265E6F1973}" type="slidenum">
              <a:rPr lang="en-US" smtClean="0"/>
              <a:pPr/>
              <a:t>22</a:t>
            </a:fld>
            <a:endParaRPr lang="en-US" dirty="0"/>
          </a:p>
        </p:txBody>
      </p:sp>
    </p:spTree>
    <p:extLst>
      <p:ext uri="{BB962C8B-B14F-4D97-AF65-F5344CB8AC3E}">
        <p14:creationId xmlns:p14="http://schemas.microsoft.com/office/powerpoint/2010/main" val="3283425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AC481-FA2A-4A46-88F6-2E68B1FF2655}"/>
              </a:ext>
            </a:extLst>
          </p:cNvPr>
          <p:cNvSpPr>
            <a:spLocks noGrp="1"/>
          </p:cNvSpPr>
          <p:nvPr>
            <p:ph type="title"/>
          </p:nvPr>
        </p:nvSpPr>
        <p:spPr>
          <a:ln>
            <a:solidFill>
              <a:schemeClr val="tx1"/>
            </a:solidFill>
          </a:ln>
        </p:spPr>
        <p:txBody>
          <a:bodyPr/>
          <a:lstStyle/>
          <a:p>
            <a:r>
              <a:rPr lang="en-US" altLang="en-US" noProof="0" dirty="0">
                <a:solidFill>
                  <a:schemeClr val="tx1"/>
                </a:solidFill>
              </a:rPr>
              <a:t>Cash Flow from Assets </a:t>
            </a:r>
            <a:r>
              <a:rPr lang="en-US" altLang="en-US" sz="1000" dirty="0"/>
              <a:t>3</a:t>
            </a:r>
            <a:endParaRPr lang="en-US" sz="1000" dirty="0"/>
          </a:p>
        </p:txBody>
      </p:sp>
      <p:sp>
        <p:nvSpPr>
          <p:cNvPr id="3" name="Content Placeholder 2">
            <a:extLst>
              <a:ext uri="{FF2B5EF4-FFF2-40B4-BE49-F238E27FC236}">
                <a16:creationId xmlns:a16="http://schemas.microsoft.com/office/drawing/2014/main" id="{D3CC9A2A-493A-4C57-A544-0980BEDF3CCD}"/>
              </a:ext>
            </a:extLst>
          </p:cNvPr>
          <p:cNvSpPr>
            <a:spLocks noGrp="1"/>
          </p:cNvSpPr>
          <p:nvPr>
            <p:ph sz="quarter" idx="11"/>
          </p:nvPr>
        </p:nvSpPr>
        <p:spPr>
          <a:xfrm>
            <a:off x="1866900" y="1332763"/>
            <a:ext cx="8458200" cy="903231"/>
          </a:xfrm>
        </p:spPr>
        <p:txBody>
          <a:bodyPr/>
          <a:lstStyle/>
          <a:p>
            <a:pPr marL="0" indent="0" algn="ctr">
              <a:buNone/>
            </a:pPr>
            <a:r>
              <a:rPr lang="en-US" b="1" noProof="0" dirty="0"/>
              <a:t>U.S. CORPORATION</a:t>
            </a:r>
            <a:br>
              <a:rPr lang="en-US" b="1" noProof="0" dirty="0"/>
            </a:br>
            <a:r>
              <a:rPr lang="en-US" b="1" noProof="0" dirty="0"/>
              <a:t>2024 Cash Flow from Assets</a:t>
            </a:r>
          </a:p>
        </p:txBody>
      </p:sp>
      <p:graphicFrame>
        <p:nvGraphicFramePr>
          <p:cNvPr id="4" name="Table 4">
            <a:extLst>
              <a:ext uri="{FF2B5EF4-FFF2-40B4-BE49-F238E27FC236}">
                <a16:creationId xmlns:a16="http://schemas.microsoft.com/office/drawing/2014/main" id="{1E2E5D00-09A7-4AC1-8D93-6069AAFCFEB5}"/>
              </a:ext>
            </a:extLst>
          </p:cNvPr>
          <p:cNvGraphicFramePr>
            <a:graphicFrameLocks noGrp="1"/>
          </p:cNvGraphicFramePr>
          <p:nvPr>
            <p:extLst>
              <p:ext uri="{D42A27DB-BD31-4B8C-83A1-F6EECF244321}">
                <p14:modId xmlns:p14="http://schemas.microsoft.com/office/powerpoint/2010/main" val="1693729271"/>
              </p:ext>
            </p:extLst>
          </p:nvPr>
        </p:nvGraphicFramePr>
        <p:xfrm>
          <a:off x="3047999" y="2636520"/>
          <a:ext cx="5521570" cy="1889760"/>
        </p:xfrm>
        <a:graphic>
          <a:graphicData uri="http://schemas.openxmlformats.org/drawingml/2006/table">
            <a:tbl>
              <a:tblPr firstRow="1" bandRow="1">
                <a:tableStyleId>{2D5ABB26-0587-4C30-8999-92F81FD0307C}</a:tableStyleId>
              </a:tblPr>
              <a:tblGrid>
                <a:gridCol w="2760785">
                  <a:extLst>
                    <a:ext uri="{9D8B030D-6E8A-4147-A177-3AD203B41FA5}">
                      <a16:colId xmlns:a16="http://schemas.microsoft.com/office/drawing/2014/main" val="1597124185"/>
                    </a:ext>
                  </a:extLst>
                </a:gridCol>
                <a:gridCol w="2760785">
                  <a:extLst>
                    <a:ext uri="{9D8B030D-6E8A-4147-A177-3AD203B41FA5}">
                      <a16:colId xmlns:a16="http://schemas.microsoft.com/office/drawing/2014/main" val="3791415316"/>
                    </a:ext>
                  </a:extLst>
                </a:gridCol>
              </a:tblGrid>
              <a:tr h="333895">
                <a:tc>
                  <a:txBody>
                    <a:bodyPr/>
                    <a:lstStyle/>
                    <a:p>
                      <a:r>
                        <a:rPr lang="en-US" sz="2000" b="0" dirty="0">
                          <a:solidFill>
                            <a:schemeClr val="tx1"/>
                          </a:solidFill>
                        </a:rPr>
                        <a:t>Operating cash flow</a:t>
                      </a:r>
                    </a:p>
                  </a:txBody>
                  <a:tcPr/>
                </a:tc>
                <a:tc>
                  <a:txBody>
                    <a:bodyPr/>
                    <a:lstStyle/>
                    <a:p>
                      <a:pPr algn="r"/>
                      <a:r>
                        <a:rPr lang="en-IN" sz="2000" b="0" dirty="0">
                          <a:solidFill>
                            <a:schemeClr val="tx1"/>
                          </a:solidFill>
                        </a:rPr>
                        <a:t>$628</a:t>
                      </a:r>
                      <a:endParaRPr lang="en-US" sz="2000" b="0" dirty="0">
                        <a:solidFill>
                          <a:schemeClr val="tx1"/>
                        </a:solidFill>
                      </a:endParaRPr>
                    </a:p>
                  </a:txBody>
                  <a:tcPr/>
                </a:tc>
                <a:extLst>
                  <a:ext uri="{0D108BD9-81ED-4DB2-BD59-A6C34878D82A}">
                    <a16:rowId xmlns:a16="http://schemas.microsoft.com/office/drawing/2014/main" val="1341681800"/>
                  </a:ext>
                </a:extLst>
              </a:tr>
              <a:tr h="370840">
                <a:tc>
                  <a:txBody>
                    <a:bodyPr/>
                    <a:lstStyle/>
                    <a:p>
                      <a:r>
                        <a:rPr lang="en-US" sz="2000" b="0" noProof="0" dirty="0"/>
                        <a:t>−</a:t>
                      </a:r>
                      <a:r>
                        <a:rPr lang="en-US" sz="2000" dirty="0">
                          <a:solidFill>
                            <a:schemeClr val="tx1"/>
                          </a:solidFill>
                        </a:rPr>
                        <a:t> Net capital spending</a:t>
                      </a:r>
                    </a:p>
                  </a:txBody>
                  <a:tcPr/>
                </a:tc>
                <a:tc>
                  <a:txBody>
                    <a:bodyPr/>
                    <a:lstStyle/>
                    <a:p>
                      <a:pPr algn="r"/>
                      <a:r>
                        <a:rPr lang="en-IN" sz="2000" dirty="0">
                          <a:solidFill>
                            <a:schemeClr val="tx1"/>
                          </a:solidFill>
                        </a:rPr>
                        <a:t>130</a:t>
                      </a:r>
                      <a:endParaRPr lang="en-US" sz="2000" dirty="0">
                        <a:solidFill>
                          <a:schemeClr val="tx1"/>
                        </a:solidFill>
                      </a:endParaRPr>
                    </a:p>
                  </a:txBody>
                  <a:tcPr/>
                </a:tc>
                <a:extLst>
                  <a:ext uri="{0D108BD9-81ED-4DB2-BD59-A6C34878D82A}">
                    <a16:rowId xmlns:a16="http://schemas.microsoft.com/office/drawing/2014/main" val="2479127068"/>
                  </a:ext>
                </a:extLst>
              </a:tr>
              <a:tr h="370840">
                <a:tc>
                  <a:txBody>
                    <a:bodyPr/>
                    <a:lstStyle/>
                    <a:p>
                      <a:r>
                        <a:rPr lang="en-US" sz="2000" b="0" noProof="0" dirty="0"/>
                        <a:t>−</a:t>
                      </a:r>
                      <a:r>
                        <a:rPr lang="en-US" sz="2000" dirty="0">
                          <a:solidFill>
                            <a:schemeClr val="tx1"/>
                          </a:solidFill>
                        </a:rPr>
                        <a:t> Change in N</a:t>
                      </a:r>
                      <a:r>
                        <a:rPr lang="en-US" sz="100" dirty="0">
                          <a:solidFill>
                            <a:schemeClr val="tx1"/>
                          </a:solidFill>
                        </a:rPr>
                        <a:t> </a:t>
                      </a:r>
                      <a:r>
                        <a:rPr lang="en-US" sz="2000" dirty="0">
                          <a:solidFill>
                            <a:schemeClr val="tx1"/>
                          </a:solidFill>
                        </a:rPr>
                        <a:t>W</a:t>
                      </a:r>
                      <a:r>
                        <a:rPr lang="en-US" sz="100" dirty="0">
                          <a:solidFill>
                            <a:schemeClr val="tx1"/>
                          </a:solidFill>
                        </a:rPr>
                        <a:t> </a:t>
                      </a:r>
                      <a:r>
                        <a:rPr lang="en-US" sz="2000" dirty="0">
                          <a:solidFill>
                            <a:schemeClr val="tx1"/>
                          </a:solidFill>
                        </a:rPr>
                        <a:t>C</a:t>
                      </a:r>
                    </a:p>
                  </a:txBody>
                  <a:tcPr/>
                </a:tc>
                <a:tc>
                  <a:txBody>
                    <a:bodyPr/>
                    <a:lstStyle/>
                    <a:p>
                      <a:pPr algn="r"/>
                      <a:r>
                        <a:rPr lang="en-IN" sz="2000" u="sng" baseline="0" dirty="0">
                          <a:solidFill>
                            <a:schemeClr val="tx1"/>
                          </a:solidFill>
                          <a:uFill>
                            <a:solidFill>
                              <a:schemeClr val="tx1"/>
                            </a:solidFill>
                          </a:uFill>
                        </a:rPr>
                        <a:t>  391</a:t>
                      </a:r>
                      <a:endParaRPr lang="en-US" sz="2000" u="sng" baseline="0" dirty="0">
                        <a:solidFill>
                          <a:schemeClr val="tx1"/>
                        </a:solidFill>
                        <a:uFill>
                          <a:solidFill>
                            <a:schemeClr val="tx1"/>
                          </a:solidFill>
                        </a:uFill>
                      </a:endParaRPr>
                    </a:p>
                  </a:txBody>
                  <a:tcPr/>
                </a:tc>
                <a:extLst>
                  <a:ext uri="{0D108BD9-81ED-4DB2-BD59-A6C34878D82A}">
                    <a16:rowId xmlns:a16="http://schemas.microsoft.com/office/drawing/2014/main" val="1385280770"/>
                  </a:ext>
                </a:extLst>
              </a:tr>
              <a:tr h="370840">
                <a:tc>
                  <a:txBody>
                    <a:bodyPr/>
                    <a:lstStyle/>
                    <a:p>
                      <a:pPr marL="0" indent="180975"/>
                      <a:r>
                        <a:rPr lang="en-US" sz="2000" dirty="0">
                          <a:solidFill>
                            <a:schemeClr val="tx1"/>
                          </a:solidFill>
                        </a:rPr>
                        <a:t>Cash flow from assets</a:t>
                      </a:r>
                    </a:p>
                  </a:txBody>
                  <a:tcPr/>
                </a:tc>
                <a:tc>
                  <a:txBody>
                    <a:bodyPr/>
                    <a:lstStyle/>
                    <a:p>
                      <a:pPr algn="r"/>
                      <a:r>
                        <a:rPr lang="en-IN" sz="2000" u="dbl" baseline="0" dirty="0">
                          <a:solidFill>
                            <a:schemeClr val="tx1"/>
                          </a:solidFill>
                          <a:uFill>
                            <a:solidFill>
                              <a:schemeClr val="tx1"/>
                            </a:solidFill>
                          </a:uFill>
                        </a:rPr>
                        <a:t>$107</a:t>
                      </a:r>
                      <a:endParaRPr lang="en-US" sz="2000" u="dbl" baseline="0" dirty="0">
                        <a:solidFill>
                          <a:schemeClr val="tx1"/>
                        </a:solidFill>
                        <a:uFill>
                          <a:solidFill>
                            <a:schemeClr val="tx1"/>
                          </a:solidFill>
                        </a:uFill>
                      </a:endParaRPr>
                    </a:p>
                  </a:txBody>
                  <a:tcPr/>
                </a:tc>
                <a:extLst>
                  <a:ext uri="{0D108BD9-81ED-4DB2-BD59-A6C34878D82A}">
                    <a16:rowId xmlns:a16="http://schemas.microsoft.com/office/drawing/2014/main" val="3082137022"/>
                  </a:ext>
                </a:extLst>
              </a:tr>
            </a:tbl>
          </a:graphicData>
        </a:graphic>
      </p:graphicFrame>
      <p:sp>
        <p:nvSpPr>
          <p:cNvPr id="6" name="Slide Number Placeholder 5">
            <a:extLst>
              <a:ext uri="{FF2B5EF4-FFF2-40B4-BE49-F238E27FC236}">
                <a16:creationId xmlns:a16="http://schemas.microsoft.com/office/drawing/2014/main" id="{7F7388C9-CE66-4ADB-9969-BA535382060B}"/>
              </a:ext>
            </a:extLst>
          </p:cNvPr>
          <p:cNvSpPr>
            <a:spLocks noGrp="1"/>
          </p:cNvSpPr>
          <p:nvPr>
            <p:ph type="sldNum" sz="quarter" idx="4"/>
          </p:nvPr>
        </p:nvSpPr>
        <p:spPr/>
        <p:txBody>
          <a:bodyPr/>
          <a:lstStyle/>
          <a:p>
            <a:fld id="{68151E55-6873-49E2-B8D5-2F265E6F1973}" type="slidenum">
              <a:rPr lang="en-US" smtClean="0"/>
              <a:pPr/>
              <a:t>23</a:t>
            </a:fld>
            <a:endParaRPr lang="en-US" dirty="0"/>
          </a:p>
        </p:txBody>
      </p:sp>
      <p:sp>
        <p:nvSpPr>
          <p:cNvPr id="5" name="TextBox 4">
            <a:extLst>
              <a:ext uri="{FF2B5EF4-FFF2-40B4-BE49-F238E27FC236}">
                <a16:creationId xmlns:a16="http://schemas.microsoft.com/office/drawing/2014/main" id="{9C42567E-C81E-43B9-E21A-F7A4E536CB8F}"/>
              </a:ext>
            </a:extLst>
          </p:cNvPr>
          <p:cNvSpPr txBox="1"/>
          <p:nvPr/>
        </p:nvSpPr>
        <p:spPr>
          <a:xfrm>
            <a:off x="2621281" y="5042264"/>
            <a:ext cx="6988629" cy="646331"/>
          </a:xfrm>
          <a:prstGeom prst="rect">
            <a:avLst/>
          </a:prstGeom>
          <a:noFill/>
        </p:spPr>
        <p:txBody>
          <a:bodyPr wrap="square" rtlCol="0">
            <a:spAutoFit/>
          </a:bodyPr>
          <a:lstStyle/>
          <a:p>
            <a:pPr eaLnBrk="1" hangingPunct="1"/>
            <a:r>
              <a:rPr lang="en-US" dirty="0">
                <a:solidFill>
                  <a:srgbClr val="221E1F"/>
                </a:solidFill>
                <a:latin typeface="STIX MathJax Main"/>
              </a:rPr>
              <a:t>The total cash flow from assets is given by operating cash flow (694) less the amounts invested in fixed assets and net working capital.</a:t>
            </a:r>
            <a:endParaRPr lang="en-US" dirty="0"/>
          </a:p>
        </p:txBody>
      </p:sp>
      <p:sp>
        <p:nvSpPr>
          <p:cNvPr id="7" name="TextBox 6">
            <a:extLst>
              <a:ext uri="{FF2B5EF4-FFF2-40B4-BE49-F238E27FC236}">
                <a16:creationId xmlns:a16="http://schemas.microsoft.com/office/drawing/2014/main" id="{B1CD8AD6-E835-2882-3D3C-06F39966D282}"/>
              </a:ext>
            </a:extLst>
          </p:cNvPr>
          <p:cNvSpPr txBox="1"/>
          <p:nvPr/>
        </p:nvSpPr>
        <p:spPr>
          <a:xfrm>
            <a:off x="8915890" y="2636520"/>
            <a:ext cx="2594785" cy="369332"/>
          </a:xfrm>
          <a:prstGeom prst="rect">
            <a:avLst/>
          </a:prstGeom>
          <a:noFill/>
        </p:spPr>
        <p:txBody>
          <a:bodyPr wrap="square" rtlCol="0">
            <a:spAutoFit/>
          </a:bodyPr>
          <a:lstStyle/>
          <a:p>
            <a:r>
              <a:rPr lang="en-US" dirty="0"/>
              <a:t>From Income statement</a:t>
            </a:r>
          </a:p>
        </p:txBody>
      </p:sp>
      <p:sp>
        <p:nvSpPr>
          <p:cNvPr id="8" name="TextBox 7">
            <a:extLst>
              <a:ext uri="{FF2B5EF4-FFF2-40B4-BE49-F238E27FC236}">
                <a16:creationId xmlns:a16="http://schemas.microsoft.com/office/drawing/2014/main" id="{ADE30C5B-4306-F5FC-CECA-83B02A6DD9C8}"/>
              </a:ext>
            </a:extLst>
          </p:cNvPr>
          <p:cNvSpPr txBox="1"/>
          <p:nvPr/>
        </p:nvSpPr>
        <p:spPr>
          <a:xfrm>
            <a:off x="8767032" y="3448467"/>
            <a:ext cx="2594785" cy="369332"/>
          </a:xfrm>
          <a:prstGeom prst="rect">
            <a:avLst/>
          </a:prstGeom>
          <a:noFill/>
        </p:spPr>
        <p:txBody>
          <a:bodyPr wrap="square" rtlCol="0">
            <a:spAutoFit/>
          </a:bodyPr>
          <a:lstStyle/>
          <a:p>
            <a:r>
              <a:rPr lang="en-US" dirty="0"/>
              <a:t>$1,075-$684   BS</a:t>
            </a:r>
          </a:p>
        </p:txBody>
      </p:sp>
      <p:sp>
        <p:nvSpPr>
          <p:cNvPr id="10" name="TextBox 9">
            <a:extLst>
              <a:ext uri="{FF2B5EF4-FFF2-40B4-BE49-F238E27FC236}">
                <a16:creationId xmlns:a16="http://schemas.microsoft.com/office/drawing/2014/main" id="{432E2C55-481C-A253-18D6-1333BEE5D21D}"/>
              </a:ext>
            </a:extLst>
          </p:cNvPr>
          <p:cNvSpPr txBox="1"/>
          <p:nvPr/>
        </p:nvSpPr>
        <p:spPr>
          <a:xfrm>
            <a:off x="8671988" y="3085131"/>
            <a:ext cx="3230919" cy="369332"/>
          </a:xfrm>
          <a:prstGeom prst="rect">
            <a:avLst/>
          </a:prstGeom>
          <a:noFill/>
        </p:spPr>
        <p:txBody>
          <a:bodyPr wrap="square" rtlCol="0">
            <a:spAutoFit/>
          </a:bodyPr>
          <a:lstStyle/>
          <a:p>
            <a:r>
              <a:rPr lang="en-US" dirty="0"/>
              <a:t>$1,709-$1,644+65 (dep)</a:t>
            </a:r>
          </a:p>
        </p:txBody>
      </p:sp>
    </p:spTree>
    <p:extLst>
      <p:ext uri="{BB962C8B-B14F-4D97-AF65-F5344CB8AC3E}">
        <p14:creationId xmlns:p14="http://schemas.microsoft.com/office/powerpoint/2010/main" val="15376511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DF588-D932-4FFF-DD83-B8594A5AA6B9}"/>
              </a:ext>
            </a:extLst>
          </p:cNvPr>
          <p:cNvSpPr>
            <a:spLocks noGrp="1"/>
          </p:cNvSpPr>
          <p:nvPr>
            <p:ph type="title"/>
          </p:nvPr>
        </p:nvSpPr>
        <p:spPr>
          <a:xfrm>
            <a:off x="1008185" y="192491"/>
            <a:ext cx="10140461" cy="1343438"/>
          </a:xfrm>
          <a:ln>
            <a:solidFill>
              <a:schemeClr val="tx1"/>
            </a:solidFill>
          </a:ln>
        </p:spPr>
        <p:txBody>
          <a:bodyPr>
            <a:normAutofit/>
          </a:bodyPr>
          <a:lstStyle/>
          <a:p>
            <a:r>
              <a:rPr lang="en-US" sz="2800" dirty="0">
                <a:latin typeface="Times New Roman" panose="02020603050405020304" pitchFamily="18" charset="0"/>
                <a:ea typeface="Times New Roman" panose="02020603050405020304" pitchFamily="18" charset="0"/>
                <a:cs typeface="Times New Roman" panose="02020603050405020304" pitchFamily="18" charset="0"/>
              </a:rPr>
              <a:t>Cash Flow to Creditors (bondholders) and Stockholders</a:t>
            </a:r>
            <a:endParaRPr lang="en-US" sz="2800" dirty="0"/>
          </a:p>
        </p:txBody>
      </p:sp>
      <p:sp>
        <p:nvSpPr>
          <p:cNvPr id="4" name="Content Placeholder 3">
            <a:extLst>
              <a:ext uri="{FF2B5EF4-FFF2-40B4-BE49-F238E27FC236}">
                <a16:creationId xmlns:a16="http://schemas.microsoft.com/office/drawing/2014/main" id="{4C04677A-1DC4-C7E2-CEA2-F3796CD9F3A5}"/>
              </a:ext>
            </a:extLst>
          </p:cNvPr>
          <p:cNvSpPr>
            <a:spLocks noGrp="1"/>
          </p:cNvSpPr>
          <p:nvPr>
            <p:ph sz="quarter" idx="11"/>
          </p:nvPr>
        </p:nvSpPr>
        <p:spPr>
          <a:xfrm>
            <a:off x="879231" y="1972492"/>
            <a:ext cx="9445869" cy="4275909"/>
          </a:xfrm>
        </p:spPr>
        <p:txBody>
          <a:bodyPr>
            <a:normAutofit fontScale="92500"/>
          </a:bodyPr>
          <a:lstStyle/>
          <a:p>
            <a:pPr marL="0">
              <a:spcBef>
                <a:spcPts val="0"/>
              </a:spcBef>
            </a:pPr>
            <a:r>
              <a:rPr lang="en-US" dirty="0">
                <a:effectLst/>
                <a:latin typeface="Times New Roman" panose="02020603050405020304" pitchFamily="18" charset="0"/>
                <a:ea typeface="Times New Roman" panose="02020603050405020304" pitchFamily="18" charset="0"/>
              </a:rPr>
              <a:t> </a:t>
            </a:r>
            <a:r>
              <a:rPr lang="en-US" i="1" u="sng" dirty="0">
                <a:effectLst/>
                <a:latin typeface="Times New Roman" panose="02020603050405020304" pitchFamily="18" charset="0"/>
                <a:ea typeface="Times New Roman" panose="02020603050405020304" pitchFamily="18" charset="0"/>
                <a:cs typeface="Times New Roman" panose="02020603050405020304" pitchFamily="18" charset="0"/>
              </a:rPr>
              <a:t>Cash flow to creditors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Interest paid </a:t>
            </a:r>
            <a:r>
              <a:rPr lang="en-US"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Net new borrowing = Interest paid </a:t>
            </a:r>
            <a:r>
              <a:rPr lang="en-US"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(Ending long-term debt </a:t>
            </a:r>
            <a:r>
              <a:rPr lang="en-US"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Beginning long-term debt)</a:t>
            </a:r>
            <a:br>
              <a:rPr lang="en-US" dirty="0">
                <a:effectLst/>
                <a:latin typeface="Times New Roman" panose="02020603050405020304" pitchFamily="18" charset="0"/>
                <a:ea typeface="Times New Roman" panose="02020603050405020304" pitchFamily="18" charset="0"/>
                <a:cs typeface="Times New Roman" panose="02020603050405020304" pitchFamily="18" charset="0"/>
              </a:rPr>
            </a:b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a:spcBef>
                <a:spcPts val="0"/>
              </a:spcBef>
            </a:pPr>
            <a:r>
              <a:rPr lang="en-US" i="1" u="sng" dirty="0">
                <a:effectLst/>
                <a:latin typeface="Times New Roman" panose="02020603050405020304" pitchFamily="18" charset="0"/>
                <a:ea typeface="Times New Roman" panose="02020603050405020304" pitchFamily="18" charset="0"/>
                <a:cs typeface="Times New Roman" panose="02020603050405020304" pitchFamily="18" charset="0"/>
              </a:rPr>
              <a:t>Cash flow to stockholders </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Dividends paid </a:t>
            </a:r>
            <a:r>
              <a:rPr lang="en-US"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Net new equity raised = Dividends paid </a:t>
            </a:r>
            <a:r>
              <a:rPr lang="en-US"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(Ending common stock, APIC, &amp; Treasury stock </a:t>
            </a:r>
            <a:r>
              <a:rPr lang="en-US" dirty="0">
                <a:solidFill>
                  <a:srgbClr val="000000"/>
                </a:solidFill>
                <a:effectLst/>
                <a:latin typeface="Times New Roman" panose="02020603050405020304" pitchFamily="18" charset="0"/>
                <a:ea typeface="MS Gothic" panose="020B0609070205080204" pitchFamily="49" charset="-128"/>
                <a:cs typeface="Times New Roman" panose="02020603050405020304" pitchFamily="18" charset="0"/>
              </a:rPr>
              <a:t>−</a:t>
            </a: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 Beginning common stock, APIC, &amp; Treasury stock)</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a:spcBef>
                <a:spcPts val="0"/>
              </a:spcBef>
            </a:pP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a:spcBef>
                <a:spcPts val="0"/>
              </a:spcBef>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It is important to point out that changes in retained earnings are not included in “net new equity raised.” The effect of this increase is captured in changes in net working capital and net capital spending. </a:t>
            </a:r>
          </a:p>
          <a:p>
            <a:pPr marL="0">
              <a:spcBef>
                <a:spcPts val="0"/>
              </a:spcBef>
            </a:pPr>
            <a:r>
              <a:rPr lang="en-US" dirty="0">
                <a:effectLst/>
                <a:latin typeface="Times New Roman" panose="02020603050405020304" pitchFamily="18" charset="0"/>
                <a:ea typeface="Times New Roman" panose="02020603050405020304" pitchFamily="18" charset="0"/>
              </a:rPr>
              <a:t> </a:t>
            </a:r>
          </a:p>
          <a:p>
            <a:endParaRPr lang="en-US" dirty="0"/>
          </a:p>
        </p:txBody>
      </p:sp>
      <p:sp>
        <p:nvSpPr>
          <p:cNvPr id="6" name="Text Placeholder 5">
            <a:extLst>
              <a:ext uri="{FF2B5EF4-FFF2-40B4-BE49-F238E27FC236}">
                <a16:creationId xmlns:a16="http://schemas.microsoft.com/office/drawing/2014/main" id="{72809DCD-26A7-E91C-ED49-59D161D162DB}"/>
              </a:ext>
            </a:extLst>
          </p:cNvPr>
          <p:cNvSpPr>
            <a:spLocks noGrp="1"/>
          </p:cNvSpPr>
          <p:nvPr>
            <p:ph type="body" sz="quarter" idx="13"/>
          </p:nvPr>
        </p:nvSpPr>
        <p:spPr/>
        <p:txBody>
          <a:bodyPr/>
          <a:lstStyle/>
          <a:p>
            <a:endParaRPr lang="en-US"/>
          </a:p>
        </p:txBody>
      </p:sp>
      <p:sp>
        <p:nvSpPr>
          <p:cNvPr id="7" name="Slide Number Placeholder 6">
            <a:extLst>
              <a:ext uri="{FF2B5EF4-FFF2-40B4-BE49-F238E27FC236}">
                <a16:creationId xmlns:a16="http://schemas.microsoft.com/office/drawing/2014/main" id="{1FBF9380-5265-9F54-5090-79283C11BC30}"/>
              </a:ext>
            </a:extLst>
          </p:cNvPr>
          <p:cNvSpPr>
            <a:spLocks noGrp="1"/>
          </p:cNvSpPr>
          <p:nvPr>
            <p:ph type="sldNum" sz="quarter" idx="10"/>
          </p:nvPr>
        </p:nvSpPr>
        <p:spPr/>
        <p:txBody>
          <a:bodyPr/>
          <a:lstStyle/>
          <a:p>
            <a:fld id="{68151E55-6873-49E2-B8D5-2F265E6F1973}" type="slidenum">
              <a:rPr lang="en-US" smtClean="0"/>
              <a:t>24</a:t>
            </a:fld>
            <a:endParaRPr lang="en-US"/>
          </a:p>
        </p:txBody>
      </p:sp>
    </p:spTree>
    <p:extLst>
      <p:ext uri="{BB962C8B-B14F-4D97-AF65-F5344CB8AC3E}">
        <p14:creationId xmlns:p14="http://schemas.microsoft.com/office/powerpoint/2010/main" val="174030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8C7A3-BE72-486B-B810-6CD36F5B7EE3}"/>
              </a:ext>
            </a:extLst>
          </p:cNvPr>
          <p:cNvSpPr>
            <a:spLocks noGrp="1"/>
          </p:cNvSpPr>
          <p:nvPr>
            <p:ph type="title"/>
          </p:nvPr>
        </p:nvSpPr>
        <p:spPr>
          <a:ln>
            <a:solidFill>
              <a:schemeClr val="tx1"/>
            </a:solidFill>
          </a:ln>
        </p:spPr>
        <p:txBody>
          <a:bodyPr>
            <a:normAutofit/>
          </a:bodyPr>
          <a:lstStyle/>
          <a:p>
            <a:r>
              <a:rPr lang="en-US" altLang="en-US" sz="3200" dirty="0"/>
              <a:t>Cash Flow to Creditors and Stockholders</a:t>
            </a:r>
            <a:endParaRPr lang="en-US" sz="3200" dirty="0"/>
          </a:p>
        </p:txBody>
      </p:sp>
      <p:sp>
        <p:nvSpPr>
          <p:cNvPr id="3" name="Content Placeholder 2">
            <a:extLst>
              <a:ext uri="{FF2B5EF4-FFF2-40B4-BE49-F238E27FC236}">
                <a16:creationId xmlns:a16="http://schemas.microsoft.com/office/drawing/2014/main" id="{2BE44DD0-1F39-476C-824A-2D2695B0ECFA}"/>
              </a:ext>
            </a:extLst>
          </p:cNvPr>
          <p:cNvSpPr>
            <a:spLocks noGrp="1"/>
          </p:cNvSpPr>
          <p:nvPr>
            <p:ph sz="quarter" idx="11"/>
          </p:nvPr>
        </p:nvSpPr>
        <p:spPr>
          <a:xfrm>
            <a:off x="562708" y="1181014"/>
            <a:ext cx="9762392" cy="903231"/>
          </a:xfrm>
        </p:spPr>
        <p:txBody>
          <a:bodyPr>
            <a:normAutofit lnSpcReduction="10000"/>
          </a:bodyPr>
          <a:lstStyle/>
          <a:p>
            <a:pPr marL="0" indent="0">
              <a:buNone/>
              <a:defRPr/>
            </a:pPr>
            <a:r>
              <a:rPr lang="en-US" altLang="en-US" sz="1800" b="1" u="sng" dirty="0">
                <a:solidFill>
                  <a:schemeClr val="tx2"/>
                </a:solidFill>
              </a:rPr>
              <a:t>Cash flow to creditors </a:t>
            </a:r>
            <a:r>
              <a:rPr lang="en-US" altLang="en-US" sz="1800" dirty="0">
                <a:solidFill>
                  <a:schemeClr val="tx2"/>
                </a:solidFill>
              </a:rPr>
              <a:t>is calculated as a firm’s interest payments to creditors less net new borrowing.</a:t>
            </a:r>
          </a:p>
          <a:p>
            <a:pPr marL="291600" lvl="1" indent="-291600">
              <a:spcBef>
                <a:spcPts val="1000"/>
              </a:spcBef>
              <a:defRPr/>
            </a:pPr>
            <a:r>
              <a:rPr lang="en-US" altLang="en-US" sz="1800" dirty="0">
                <a:solidFill>
                  <a:schemeClr val="tx2"/>
                </a:solidFill>
              </a:rPr>
              <a:t>Sometimes called </a:t>
            </a:r>
            <a:r>
              <a:rPr lang="en-US" altLang="en-US" sz="1800" i="1" dirty="0">
                <a:solidFill>
                  <a:schemeClr val="tx2"/>
                </a:solidFill>
              </a:rPr>
              <a:t>cash flow to bondholders.</a:t>
            </a:r>
            <a:endParaRPr lang="en-US" sz="1800" dirty="0"/>
          </a:p>
        </p:txBody>
      </p:sp>
      <p:sp>
        <p:nvSpPr>
          <p:cNvPr id="4" name="Content Placeholder 3">
            <a:extLst>
              <a:ext uri="{FF2B5EF4-FFF2-40B4-BE49-F238E27FC236}">
                <a16:creationId xmlns:a16="http://schemas.microsoft.com/office/drawing/2014/main" id="{FF64295C-D684-40E8-9E6E-10E2FB67E865}"/>
              </a:ext>
            </a:extLst>
          </p:cNvPr>
          <p:cNvSpPr>
            <a:spLocks noGrp="1"/>
          </p:cNvSpPr>
          <p:nvPr>
            <p:ph sz="quarter" idx="14"/>
          </p:nvPr>
        </p:nvSpPr>
        <p:spPr>
          <a:xfrm>
            <a:off x="1866900" y="2178722"/>
            <a:ext cx="8458200" cy="628696"/>
          </a:xfrm>
        </p:spPr>
        <p:txBody>
          <a:bodyPr/>
          <a:lstStyle/>
          <a:p>
            <a:pPr algn="ctr"/>
            <a:r>
              <a:rPr lang="en-US" sz="1800" b="1" dirty="0"/>
              <a:t>U.S. CORPORATION</a:t>
            </a:r>
            <a:br>
              <a:rPr lang="en-US" sz="1800" b="1" dirty="0"/>
            </a:br>
            <a:r>
              <a:rPr lang="en-US" sz="1800" b="1" dirty="0"/>
              <a:t>2024 Cash Flow to Creditors</a:t>
            </a:r>
          </a:p>
        </p:txBody>
      </p:sp>
      <p:graphicFrame>
        <p:nvGraphicFramePr>
          <p:cNvPr id="13" name="Table 13">
            <a:extLst>
              <a:ext uri="{FF2B5EF4-FFF2-40B4-BE49-F238E27FC236}">
                <a16:creationId xmlns:a16="http://schemas.microsoft.com/office/drawing/2014/main" id="{4554A134-A83C-4F76-8950-0F57CEDE2048}"/>
              </a:ext>
            </a:extLst>
          </p:cNvPr>
          <p:cNvGraphicFramePr>
            <a:graphicFrameLocks noGrp="1"/>
          </p:cNvGraphicFramePr>
          <p:nvPr>
            <p:extLst>
              <p:ext uri="{D42A27DB-BD31-4B8C-83A1-F6EECF244321}">
                <p14:modId xmlns:p14="http://schemas.microsoft.com/office/powerpoint/2010/main" val="58150858"/>
              </p:ext>
            </p:extLst>
          </p:nvPr>
        </p:nvGraphicFramePr>
        <p:xfrm>
          <a:off x="1866900" y="2881912"/>
          <a:ext cx="5603632" cy="1112520"/>
        </p:xfrm>
        <a:graphic>
          <a:graphicData uri="http://schemas.openxmlformats.org/drawingml/2006/table">
            <a:tbl>
              <a:tblPr firstRow="1" bandRow="1">
                <a:tableStyleId>{2D5ABB26-0587-4C30-8999-92F81FD0307C}</a:tableStyleId>
              </a:tblPr>
              <a:tblGrid>
                <a:gridCol w="2801816">
                  <a:extLst>
                    <a:ext uri="{9D8B030D-6E8A-4147-A177-3AD203B41FA5}">
                      <a16:colId xmlns:a16="http://schemas.microsoft.com/office/drawing/2014/main" val="3663948891"/>
                    </a:ext>
                  </a:extLst>
                </a:gridCol>
                <a:gridCol w="2801816">
                  <a:extLst>
                    <a:ext uri="{9D8B030D-6E8A-4147-A177-3AD203B41FA5}">
                      <a16:colId xmlns:a16="http://schemas.microsoft.com/office/drawing/2014/main" val="3784974432"/>
                    </a:ext>
                  </a:extLst>
                </a:gridCol>
              </a:tblGrid>
              <a:tr h="370840">
                <a:tc>
                  <a:txBody>
                    <a:bodyPr/>
                    <a:lstStyle/>
                    <a:p>
                      <a:r>
                        <a:rPr lang="en-US" sz="1800" dirty="0">
                          <a:solidFill>
                            <a:schemeClr val="tx1"/>
                          </a:solidFill>
                        </a:rPr>
                        <a:t> </a:t>
                      </a:r>
                      <a:r>
                        <a:rPr lang="en-US" sz="1800" b="0" dirty="0">
                          <a:solidFill>
                            <a:schemeClr val="tx1"/>
                          </a:solidFill>
                        </a:rPr>
                        <a:t>Interest paid</a:t>
                      </a:r>
                    </a:p>
                  </a:txBody>
                  <a:tcPr/>
                </a:tc>
                <a:tc>
                  <a:txBody>
                    <a:bodyPr/>
                    <a:lstStyle/>
                    <a:p>
                      <a:pPr algn="r"/>
                      <a:r>
                        <a:rPr lang="en-IN" sz="1800" b="0" dirty="0">
                          <a:solidFill>
                            <a:schemeClr val="tx1"/>
                          </a:solidFill>
                        </a:rPr>
                        <a:t>$70</a:t>
                      </a:r>
                      <a:endParaRPr lang="en-US" sz="1800" b="0" dirty="0">
                        <a:solidFill>
                          <a:schemeClr val="tx1"/>
                        </a:solidFill>
                      </a:endParaRPr>
                    </a:p>
                  </a:txBody>
                  <a:tcPr/>
                </a:tc>
                <a:extLst>
                  <a:ext uri="{0D108BD9-81ED-4DB2-BD59-A6C34878D82A}">
                    <a16:rowId xmlns:a16="http://schemas.microsoft.com/office/drawing/2014/main" val="1569033790"/>
                  </a:ext>
                </a:extLst>
              </a:tr>
              <a:tr h="370840">
                <a:tc>
                  <a:txBody>
                    <a:bodyPr/>
                    <a:lstStyle/>
                    <a:p>
                      <a:r>
                        <a:rPr lang="en-US" sz="1800" b="0" noProof="0" dirty="0"/>
                        <a:t>−</a:t>
                      </a:r>
                      <a:r>
                        <a:rPr lang="en-US" sz="1800" dirty="0">
                          <a:solidFill>
                            <a:schemeClr val="tx1"/>
                          </a:solidFill>
                        </a:rPr>
                        <a:t> Net new borrowing</a:t>
                      </a:r>
                    </a:p>
                  </a:txBody>
                  <a:tcPr/>
                </a:tc>
                <a:tc>
                  <a:txBody>
                    <a:bodyPr/>
                    <a:lstStyle/>
                    <a:p>
                      <a:pPr algn="r"/>
                      <a:r>
                        <a:rPr lang="en-IN" sz="1800" u="sng" baseline="0" dirty="0">
                          <a:solidFill>
                            <a:schemeClr val="tx1"/>
                          </a:solidFill>
                        </a:rPr>
                        <a:t>  46</a:t>
                      </a:r>
                      <a:endParaRPr lang="en-US" sz="1800" u="sng" baseline="0" dirty="0">
                        <a:solidFill>
                          <a:schemeClr val="tx1"/>
                        </a:solidFill>
                      </a:endParaRPr>
                    </a:p>
                  </a:txBody>
                  <a:tcPr/>
                </a:tc>
                <a:extLst>
                  <a:ext uri="{0D108BD9-81ED-4DB2-BD59-A6C34878D82A}">
                    <a16:rowId xmlns:a16="http://schemas.microsoft.com/office/drawing/2014/main" val="1643002602"/>
                  </a:ext>
                </a:extLst>
              </a:tr>
              <a:tr h="370840">
                <a:tc>
                  <a:txBody>
                    <a:bodyPr/>
                    <a:lstStyle/>
                    <a:p>
                      <a:pPr marL="0" indent="90488"/>
                      <a:r>
                        <a:rPr lang="en-US" sz="1800" dirty="0">
                          <a:solidFill>
                            <a:schemeClr val="tx1"/>
                          </a:solidFill>
                        </a:rPr>
                        <a:t>Cash flow to creditors</a:t>
                      </a:r>
                    </a:p>
                  </a:txBody>
                  <a:tcPr/>
                </a:tc>
                <a:tc>
                  <a:txBody>
                    <a:bodyPr/>
                    <a:lstStyle/>
                    <a:p>
                      <a:pPr algn="r"/>
                      <a:r>
                        <a:rPr lang="en-IN" sz="1800" u="dbl" baseline="0" dirty="0">
                          <a:solidFill>
                            <a:schemeClr val="tx1"/>
                          </a:solidFill>
                          <a:uFill>
                            <a:solidFill>
                              <a:schemeClr val="tx1"/>
                            </a:solidFill>
                          </a:uFill>
                        </a:rPr>
                        <a:t>$24</a:t>
                      </a:r>
                      <a:endParaRPr lang="en-US" sz="1800" u="dbl" baseline="0" dirty="0">
                        <a:solidFill>
                          <a:schemeClr val="tx1"/>
                        </a:solidFill>
                        <a:uFill>
                          <a:solidFill>
                            <a:schemeClr val="tx1"/>
                          </a:solidFill>
                        </a:uFill>
                      </a:endParaRPr>
                    </a:p>
                  </a:txBody>
                  <a:tcPr/>
                </a:tc>
                <a:extLst>
                  <a:ext uri="{0D108BD9-81ED-4DB2-BD59-A6C34878D82A}">
                    <a16:rowId xmlns:a16="http://schemas.microsoft.com/office/drawing/2014/main" val="2659618133"/>
                  </a:ext>
                </a:extLst>
              </a:tr>
            </a:tbl>
          </a:graphicData>
        </a:graphic>
      </p:graphicFrame>
      <p:sp>
        <p:nvSpPr>
          <p:cNvPr id="5" name="Content Placeholder 4">
            <a:extLst>
              <a:ext uri="{FF2B5EF4-FFF2-40B4-BE49-F238E27FC236}">
                <a16:creationId xmlns:a16="http://schemas.microsoft.com/office/drawing/2014/main" id="{AE7A26D2-09F1-45E6-BC66-E4E158707FE6}"/>
              </a:ext>
            </a:extLst>
          </p:cNvPr>
          <p:cNvSpPr>
            <a:spLocks noGrp="1"/>
          </p:cNvSpPr>
          <p:nvPr>
            <p:ph sz="quarter" idx="15"/>
          </p:nvPr>
        </p:nvSpPr>
        <p:spPr>
          <a:xfrm>
            <a:off x="706315" y="4126140"/>
            <a:ext cx="8458200" cy="556632"/>
          </a:xfrm>
        </p:spPr>
        <p:txBody>
          <a:bodyPr>
            <a:normAutofit lnSpcReduction="10000"/>
          </a:bodyPr>
          <a:lstStyle/>
          <a:p>
            <a:pPr marL="0" indent="0">
              <a:buNone/>
            </a:pPr>
            <a:r>
              <a:rPr lang="en-US" altLang="en-US" sz="1800" b="1" u="sng" dirty="0">
                <a:solidFill>
                  <a:schemeClr val="tx2"/>
                </a:solidFill>
              </a:rPr>
              <a:t>Cash flow to stockholders </a:t>
            </a:r>
            <a:r>
              <a:rPr lang="en-US" altLang="en-US" sz="1800" dirty="0">
                <a:solidFill>
                  <a:schemeClr val="tx2"/>
                </a:solidFill>
              </a:rPr>
              <a:t>is calculated as dividends paid out by a firm less net new equity raised.</a:t>
            </a:r>
            <a:endParaRPr lang="en-US" sz="1800" dirty="0"/>
          </a:p>
        </p:txBody>
      </p:sp>
      <p:sp>
        <p:nvSpPr>
          <p:cNvPr id="6" name="Content Placeholder 5">
            <a:extLst>
              <a:ext uri="{FF2B5EF4-FFF2-40B4-BE49-F238E27FC236}">
                <a16:creationId xmlns:a16="http://schemas.microsoft.com/office/drawing/2014/main" id="{1555C302-47B7-42CE-9B60-6601BD7403D9}"/>
              </a:ext>
            </a:extLst>
          </p:cNvPr>
          <p:cNvSpPr>
            <a:spLocks noGrp="1"/>
          </p:cNvSpPr>
          <p:nvPr>
            <p:ph sz="quarter" idx="16"/>
          </p:nvPr>
        </p:nvSpPr>
        <p:spPr>
          <a:xfrm>
            <a:off x="1866900" y="4717605"/>
            <a:ext cx="8458200" cy="597843"/>
          </a:xfrm>
        </p:spPr>
        <p:txBody>
          <a:bodyPr/>
          <a:lstStyle/>
          <a:p>
            <a:pPr marL="0" indent="0" algn="ctr">
              <a:buNone/>
            </a:pPr>
            <a:r>
              <a:rPr lang="en-US" sz="1800" b="1" dirty="0"/>
              <a:t>U.S. CORPORATION </a:t>
            </a:r>
            <a:br>
              <a:rPr lang="en-US" sz="1800" b="1" dirty="0"/>
            </a:br>
            <a:r>
              <a:rPr lang="en-US" sz="1800" b="1" dirty="0"/>
              <a:t>2024 Cash Flow to Stockholders</a:t>
            </a:r>
          </a:p>
        </p:txBody>
      </p:sp>
      <p:graphicFrame>
        <p:nvGraphicFramePr>
          <p:cNvPr id="14" name="Table 14">
            <a:extLst>
              <a:ext uri="{FF2B5EF4-FFF2-40B4-BE49-F238E27FC236}">
                <a16:creationId xmlns:a16="http://schemas.microsoft.com/office/drawing/2014/main" id="{D0E17352-556A-42C5-B5D7-09F5A8437053}"/>
              </a:ext>
            </a:extLst>
          </p:cNvPr>
          <p:cNvGraphicFramePr>
            <a:graphicFrameLocks noGrp="1"/>
          </p:cNvGraphicFramePr>
          <p:nvPr>
            <p:extLst>
              <p:ext uri="{D42A27DB-BD31-4B8C-83A1-F6EECF244321}">
                <p14:modId xmlns:p14="http://schemas.microsoft.com/office/powerpoint/2010/main" val="4289424939"/>
              </p:ext>
            </p:extLst>
          </p:nvPr>
        </p:nvGraphicFramePr>
        <p:xfrm>
          <a:off x="1219200" y="5350281"/>
          <a:ext cx="6452355" cy="1112520"/>
        </p:xfrm>
        <a:graphic>
          <a:graphicData uri="http://schemas.openxmlformats.org/drawingml/2006/table">
            <a:tbl>
              <a:tblPr firstRow="1" bandRow="1">
                <a:tableStyleId>{2D5ABB26-0587-4C30-8999-92F81FD0307C}</a:tableStyleId>
              </a:tblPr>
              <a:tblGrid>
                <a:gridCol w="3420526">
                  <a:extLst>
                    <a:ext uri="{9D8B030D-6E8A-4147-A177-3AD203B41FA5}">
                      <a16:colId xmlns:a16="http://schemas.microsoft.com/office/drawing/2014/main" val="2788758495"/>
                    </a:ext>
                  </a:extLst>
                </a:gridCol>
                <a:gridCol w="3031829">
                  <a:extLst>
                    <a:ext uri="{9D8B030D-6E8A-4147-A177-3AD203B41FA5}">
                      <a16:colId xmlns:a16="http://schemas.microsoft.com/office/drawing/2014/main" val="23525066"/>
                    </a:ext>
                  </a:extLst>
                </a:gridCol>
              </a:tblGrid>
              <a:tr h="370840">
                <a:tc>
                  <a:txBody>
                    <a:bodyPr/>
                    <a:lstStyle/>
                    <a:p>
                      <a:r>
                        <a:rPr lang="en-US" sz="1800" b="0" dirty="0">
                          <a:solidFill>
                            <a:schemeClr val="tx1"/>
                          </a:solidFill>
                        </a:rPr>
                        <a:t>Dividends paid</a:t>
                      </a:r>
                    </a:p>
                  </a:txBody>
                  <a:tcPr/>
                </a:tc>
                <a:tc>
                  <a:txBody>
                    <a:bodyPr/>
                    <a:lstStyle/>
                    <a:p>
                      <a:pPr algn="r"/>
                      <a:r>
                        <a:rPr lang="en-IN" sz="1800" b="0" dirty="0">
                          <a:solidFill>
                            <a:schemeClr val="tx1"/>
                          </a:solidFill>
                        </a:rPr>
                        <a:t>$123</a:t>
                      </a:r>
                      <a:endParaRPr lang="en-US" sz="1800" b="0" dirty="0">
                        <a:solidFill>
                          <a:schemeClr val="tx1"/>
                        </a:solidFill>
                      </a:endParaRPr>
                    </a:p>
                  </a:txBody>
                  <a:tcPr/>
                </a:tc>
                <a:extLst>
                  <a:ext uri="{0D108BD9-81ED-4DB2-BD59-A6C34878D82A}">
                    <a16:rowId xmlns:a16="http://schemas.microsoft.com/office/drawing/2014/main" val="3656630463"/>
                  </a:ext>
                </a:extLst>
              </a:tr>
              <a:tr h="370840">
                <a:tc>
                  <a:txBody>
                    <a:bodyPr/>
                    <a:lstStyle/>
                    <a:p>
                      <a:r>
                        <a:rPr lang="en-US" sz="1800" b="0" noProof="0" dirty="0"/>
                        <a:t>−</a:t>
                      </a:r>
                      <a:r>
                        <a:rPr lang="en-US" sz="1800" dirty="0">
                          <a:solidFill>
                            <a:schemeClr val="tx1"/>
                          </a:solidFill>
                        </a:rPr>
                        <a:t> Net new equity raised</a:t>
                      </a:r>
                    </a:p>
                  </a:txBody>
                  <a:tcPr/>
                </a:tc>
                <a:tc>
                  <a:txBody>
                    <a:bodyPr/>
                    <a:lstStyle/>
                    <a:p>
                      <a:pPr algn="r"/>
                      <a:r>
                        <a:rPr lang="en-IN" sz="1800" u="sng" baseline="0" dirty="0">
                          <a:solidFill>
                            <a:schemeClr val="tx1"/>
                          </a:solidFill>
                        </a:rPr>
                        <a:t>    40</a:t>
                      </a:r>
                      <a:endParaRPr lang="en-US" sz="1800" u="sng" baseline="0" dirty="0">
                        <a:solidFill>
                          <a:schemeClr val="tx1"/>
                        </a:solidFill>
                      </a:endParaRPr>
                    </a:p>
                  </a:txBody>
                  <a:tcPr/>
                </a:tc>
                <a:extLst>
                  <a:ext uri="{0D108BD9-81ED-4DB2-BD59-A6C34878D82A}">
                    <a16:rowId xmlns:a16="http://schemas.microsoft.com/office/drawing/2014/main" val="3706474885"/>
                  </a:ext>
                </a:extLst>
              </a:tr>
              <a:tr h="370840">
                <a:tc>
                  <a:txBody>
                    <a:bodyPr/>
                    <a:lstStyle/>
                    <a:p>
                      <a:pPr marL="0" indent="180975"/>
                      <a:r>
                        <a:rPr lang="en-US" sz="1800" dirty="0">
                          <a:solidFill>
                            <a:schemeClr val="tx1"/>
                          </a:solidFill>
                        </a:rPr>
                        <a:t>Cash flow to stockholders</a:t>
                      </a:r>
                    </a:p>
                  </a:txBody>
                  <a:tcPr/>
                </a:tc>
                <a:tc>
                  <a:txBody>
                    <a:bodyPr/>
                    <a:lstStyle/>
                    <a:p>
                      <a:pPr algn="r"/>
                      <a:r>
                        <a:rPr lang="en-IN" sz="1800" u="dbl" baseline="0" dirty="0">
                          <a:solidFill>
                            <a:schemeClr val="tx1"/>
                          </a:solidFill>
                          <a:uFill>
                            <a:solidFill>
                              <a:schemeClr val="tx1"/>
                            </a:solidFill>
                          </a:uFill>
                        </a:rPr>
                        <a:t>$  83</a:t>
                      </a:r>
                      <a:endParaRPr lang="en-US" sz="1800" u="dbl" baseline="0" dirty="0">
                        <a:solidFill>
                          <a:schemeClr val="tx1"/>
                        </a:solidFill>
                        <a:uFill>
                          <a:solidFill>
                            <a:schemeClr val="tx1"/>
                          </a:solidFill>
                        </a:uFill>
                      </a:endParaRPr>
                    </a:p>
                  </a:txBody>
                  <a:tcPr/>
                </a:tc>
                <a:extLst>
                  <a:ext uri="{0D108BD9-81ED-4DB2-BD59-A6C34878D82A}">
                    <a16:rowId xmlns:a16="http://schemas.microsoft.com/office/drawing/2014/main" val="1230792242"/>
                  </a:ext>
                </a:extLst>
              </a:tr>
            </a:tbl>
          </a:graphicData>
        </a:graphic>
      </p:graphicFrame>
      <p:sp>
        <p:nvSpPr>
          <p:cNvPr id="11" name="Slide Number Placeholder 10">
            <a:extLst>
              <a:ext uri="{FF2B5EF4-FFF2-40B4-BE49-F238E27FC236}">
                <a16:creationId xmlns:a16="http://schemas.microsoft.com/office/drawing/2014/main" id="{538C403F-AF10-41C2-845C-6085295E1C7B}"/>
              </a:ext>
            </a:extLst>
          </p:cNvPr>
          <p:cNvSpPr>
            <a:spLocks noGrp="1"/>
          </p:cNvSpPr>
          <p:nvPr>
            <p:ph type="sldNum" sz="quarter" idx="10"/>
          </p:nvPr>
        </p:nvSpPr>
        <p:spPr/>
        <p:txBody>
          <a:bodyPr/>
          <a:lstStyle/>
          <a:p>
            <a:fld id="{68151E55-6873-49E2-B8D5-2F265E6F1973}" type="slidenum">
              <a:rPr lang="en-US" smtClean="0"/>
              <a:t>25</a:t>
            </a:fld>
            <a:endParaRPr lang="en-US" dirty="0"/>
          </a:p>
        </p:txBody>
      </p:sp>
      <p:sp>
        <p:nvSpPr>
          <p:cNvPr id="7" name="TextBox 6">
            <a:extLst>
              <a:ext uri="{FF2B5EF4-FFF2-40B4-BE49-F238E27FC236}">
                <a16:creationId xmlns:a16="http://schemas.microsoft.com/office/drawing/2014/main" id="{7F5B8E50-A6F9-60CB-97D1-2798BAB49FC3}"/>
              </a:ext>
            </a:extLst>
          </p:cNvPr>
          <p:cNvSpPr txBox="1"/>
          <p:nvPr/>
        </p:nvSpPr>
        <p:spPr>
          <a:xfrm>
            <a:off x="7819292" y="2881912"/>
            <a:ext cx="3071446" cy="369332"/>
          </a:xfrm>
          <a:prstGeom prst="rect">
            <a:avLst/>
          </a:prstGeom>
          <a:noFill/>
        </p:spPr>
        <p:txBody>
          <a:bodyPr wrap="square" rtlCol="0">
            <a:spAutoFit/>
          </a:bodyPr>
          <a:lstStyle/>
          <a:p>
            <a:r>
              <a:rPr lang="en-US" dirty="0"/>
              <a:t>Income  statement</a:t>
            </a:r>
          </a:p>
        </p:txBody>
      </p:sp>
      <p:sp>
        <p:nvSpPr>
          <p:cNvPr id="9" name="TextBox 8">
            <a:extLst>
              <a:ext uri="{FF2B5EF4-FFF2-40B4-BE49-F238E27FC236}">
                <a16:creationId xmlns:a16="http://schemas.microsoft.com/office/drawing/2014/main" id="{4AB2102A-A6A6-8134-A7B1-F14A4CECDACE}"/>
              </a:ext>
            </a:extLst>
          </p:cNvPr>
          <p:cNvSpPr txBox="1"/>
          <p:nvPr/>
        </p:nvSpPr>
        <p:spPr>
          <a:xfrm>
            <a:off x="7819292" y="3251244"/>
            <a:ext cx="2145323" cy="369332"/>
          </a:xfrm>
          <a:prstGeom prst="rect">
            <a:avLst/>
          </a:prstGeom>
          <a:noFill/>
        </p:spPr>
        <p:txBody>
          <a:bodyPr wrap="square" rtlCol="0">
            <a:spAutoFit/>
          </a:bodyPr>
          <a:lstStyle/>
          <a:p>
            <a:r>
              <a:rPr lang="en-US" dirty="0"/>
              <a:t>Balance Sheet</a:t>
            </a:r>
          </a:p>
        </p:txBody>
      </p:sp>
      <p:sp>
        <p:nvSpPr>
          <p:cNvPr id="10" name="TextBox 9">
            <a:extLst>
              <a:ext uri="{FF2B5EF4-FFF2-40B4-BE49-F238E27FC236}">
                <a16:creationId xmlns:a16="http://schemas.microsoft.com/office/drawing/2014/main" id="{BE9E892B-CC7E-72EC-B5F7-135059D06DBC}"/>
              </a:ext>
            </a:extLst>
          </p:cNvPr>
          <p:cNvSpPr txBox="1"/>
          <p:nvPr/>
        </p:nvSpPr>
        <p:spPr>
          <a:xfrm>
            <a:off x="7948246" y="5373002"/>
            <a:ext cx="2016369" cy="369332"/>
          </a:xfrm>
          <a:prstGeom prst="rect">
            <a:avLst/>
          </a:prstGeom>
          <a:noFill/>
        </p:spPr>
        <p:txBody>
          <a:bodyPr wrap="square" rtlCol="0">
            <a:spAutoFit/>
          </a:bodyPr>
          <a:lstStyle/>
          <a:p>
            <a:r>
              <a:rPr lang="en-US" dirty="0"/>
              <a:t>Income statement</a:t>
            </a:r>
          </a:p>
        </p:txBody>
      </p:sp>
      <p:sp>
        <p:nvSpPr>
          <p:cNvPr id="12" name="TextBox 11">
            <a:extLst>
              <a:ext uri="{FF2B5EF4-FFF2-40B4-BE49-F238E27FC236}">
                <a16:creationId xmlns:a16="http://schemas.microsoft.com/office/drawing/2014/main" id="{8761E844-6912-CD8F-5E63-C29A5208A73B}"/>
              </a:ext>
            </a:extLst>
          </p:cNvPr>
          <p:cNvSpPr txBox="1"/>
          <p:nvPr/>
        </p:nvSpPr>
        <p:spPr>
          <a:xfrm>
            <a:off x="8042031" y="5742334"/>
            <a:ext cx="2403231" cy="369332"/>
          </a:xfrm>
          <a:prstGeom prst="rect">
            <a:avLst/>
          </a:prstGeom>
          <a:noFill/>
        </p:spPr>
        <p:txBody>
          <a:bodyPr wrap="square" rtlCol="0">
            <a:spAutoFit/>
          </a:bodyPr>
          <a:lstStyle/>
          <a:p>
            <a:r>
              <a:rPr lang="en-US" dirty="0"/>
              <a:t>BS  640-600</a:t>
            </a:r>
          </a:p>
        </p:txBody>
      </p:sp>
    </p:spTree>
    <p:extLst>
      <p:ext uri="{BB962C8B-B14F-4D97-AF65-F5344CB8AC3E}">
        <p14:creationId xmlns:p14="http://schemas.microsoft.com/office/powerpoint/2010/main" val="3098330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00644-AD69-CFA7-1D3D-E7490C1359E4}"/>
              </a:ext>
            </a:extLst>
          </p:cNvPr>
          <p:cNvSpPr>
            <a:spLocks noGrp="1"/>
          </p:cNvSpPr>
          <p:nvPr>
            <p:ph type="title"/>
          </p:nvPr>
        </p:nvSpPr>
        <p:spPr>
          <a:xfrm>
            <a:off x="457200" y="192492"/>
            <a:ext cx="10187354" cy="459406"/>
          </a:xfrm>
          <a:ln>
            <a:solidFill>
              <a:schemeClr val="accent1"/>
            </a:solidFill>
          </a:ln>
        </p:spPr>
        <p:txBody>
          <a:bodyPr>
            <a:normAutofit fontScale="90000"/>
          </a:bodyPr>
          <a:lstStyle/>
          <a:p>
            <a:r>
              <a:rPr lang="en-US" dirty="0"/>
              <a:t>Cash Flow  - </a:t>
            </a:r>
            <a:r>
              <a:rPr lang="en-US" dirty="0">
                <a:highlight>
                  <a:srgbClr val="FFFF00"/>
                </a:highlight>
              </a:rPr>
              <a:t>updated since last posting</a:t>
            </a:r>
          </a:p>
        </p:txBody>
      </p:sp>
      <p:sp>
        <p:nvSpPr>
          <p:cNvPr id="3" name="Content Placeholder 2">
            <a:extLst>
              <a:ext uri="{FF2B5EF4-FFF2-40B4-BE49-F238E27FC236}">
                <a16:creationId xmlns:a16="http://schemas.microsoft.com/office/drawing/2014/main" id="{BDBA6361-789D-A1E8-561E-50786474F91E}"/>
              </a:ext>
            </a:extLst>
          </p:cNvPr>
          <p:cNvSpPr>
            <a:spLocks noGrp="1"/>
          </p:cNvSpPr>
          <p:nvPr>
            <p:ph sz="quarter" idx="11"/>
          </p:nvPr>
        </p:nvSpPr>
        <p:spPr>
          <a:xfrm>
            <a:off x="457200" y="859955"/>
            <a:ext cx="9493028" cy="1633761"/>
          </a:xfrm>
        </p:spPr>
        <p:txBody>
          <a:bodyPr>
            <a:normAutofit fontScale="77500" lnSpcReduction="20000"/>
          </a:bodyPr>
          <a:lstStyle/>
          <a:p>
            <a:pPr marL="0" indent="0" fontAlgn="t">
              <a:buNone/>
            </a:pPr>
            <a:r>
              <a:rPr lang="en-US" sz="1900" b="1" u="sng" dirty="0"/>
              <a:t>Cash Flow from Assets     </a:t>
            </a:r>
          </a:p>
          <a:p>
            <a:pPr marL="0" indent="0" fontAlgn="t">
              <a:buNone/>
            </a:pPr>
            <a:r>
              <a:rPr lang="en-US" sz="1800" dirty="0"/>
              <a:t>    Operating cash flow</a:t>
            </a:r>
          </a:p>
          <a:p>
            <a:pPr marL="0" indent="0" algn="r" rtl="0" eaLnBrk="1" fontAlgn="t" latinLnBrk="0" hangingPunct="1">
              <a:spcBef>
                <a:spcPts val="0"/>
              </a:spcBef>
              <a:spcAft>
                <a:spcPts val="0"/>
              </a:spcAft>
              <a:buNone/>
            </a:pPr>
            <a:r>
              <a:rPr lang="en-IN" sz="1800" b="0" i="0" u="none" strike="noStrike" kern="1200" dirty="0">
                <a:solidFill>
                  <a:srgbClr val="000000"/>
                </a:solidFill>
                <a:effectLst/>
                <a:latin typeface="Aptos" panose="020B0004020202020204" pitchFamily="34" charset="0"/>
              </a:rPr>
              <a:t>$628</a:t>
            </a:r>
            <a:endParaRPr lang="en-US" sz="1800" b="0" i="0" u="none" strike="noStrike" dirty="0">
              <a:effectLst/>
              <a:latin typeface="Arial" panose="020B0604020202020204" pitchFamily="34" charset="0"/>
            </a:endParaRPr>
          </a:p>
          <a:p>
            <a:pPr marL="0" indent="0" algn="l" rtl="0" eaLnBrk="1" fontAlgn="t" latinLnBrk="0" hangingPunct="1">
              <a:spcBef>
                <a:spcPts val="0"/>
              </a:spcBef>
              <a:spcAft>
                <a:spcPts val="0"/>
              </a:spcAft>
              <a:buNone/>
            </a:pPr>
            <a:r>
              <a:rPr lang="en-US" sz="1800" dirty="0">
                <a:solidFill>
                  <a:srgbClr val="000000"/>
                </a:solidFill>
                <a:latin typeface="Aptos" panose="020B0004020202020204" pitchFamily="34" charset="0"/>
              </a:rPr>
              <a:t>      </a:t>
            </a:r>
            <a:r>
              <a:rPr lang="en-US" sz="1800" b="0" i="0" u="none" strike="noStrike" kern="1200" dirty="0">
                <a:solidFill>
                  <a:srgbClr val="000000"/>
                </a:solidFill>
                <a:effectLst/>
                <a:latin typeface="Aptos" panose="020B0004020202020204" pitchFamily="34" charset="0"/>
              </a:rPr>
              <a:t>− Net capital spending</a:t>
            </a:r>
            <a:endParaRPr lang="en-US" sz="1800" b="0" i="0" u="none" strike="noStrike" dirty="0">
              <a:effectLst/>
              <a:latin typeface="Arial" panose="020B0604020202020204" pitchFamily="34" charset="0"/>
            </a:endParaRPr>
          </a:p>
          <a:p>
            <a:pPr marL="0" indent="0" algn="r" rtl="0" eaLnBrk="1" fontAlgn="t" latinLnBrk="0" hangingPunct="1">
              <a:spcBef>
                <a:spcPts val="0"/>
              </a:spcBef>
              <a:spcAft>
                <a:spcPts val="0"/>
              </a:spcAft>
              <a:buNone/>
            </a:pPr>
            <a:r>
              <a:rPr lang="en-IN" sz="1800" b="0" i="0" u="none" strike="noStrike" kern="1200" dirty="0">
                <a:solidFill>
                  <a:srgbClr val="000000"/>
                </a:solidFill>
                <a:effectLst/>
                <a:latin typeface="Aptos" panose="020B0004020202020204" pitchFamily="34" charset="0"/>
              </a:rPr>
              <a:t>130</a:t>
            </a:r>
            <a:endParaRPr lang="en-US" sz="1800" b="0" i="0" u="none" strike="noStrike" dirty="0">
              <a:effectLst/>
              <a:latin typeface="Arial" panose="020B0604020202020204" pitchFamily="34" charset="0"/>
            </a:endParaRPr>
          </a:p>
          <a:p>
            <a:pPr marL="0" indent="0" algn="l" rtl="0" eaLnBrk="1" fontAlgn="t" latinLnBrk="0" hangingPunct="1">
              <a:spcBef>
                <a:spcPts val="0"/>
              </a:spcBef>
              <a:spcAft>
                <a:spcPts val="0"/>
              </a:spcAft>
              <a:buNone/>
            </a:pPr>
            <a:r>
              <a:rPr lang="en-US" sz="1800" dirty="0">
                <a:solidFill>
                  <a:srgbClr val="000000"/>
                </a:solidFill>
                <a:latin typeface="Aptos" panose="020B0004020202020204" pitchFamily="34" charset="0"/>
              </a:rPr>
              <a:t>      </a:t>
            </a:r>
            <a:r>
              <a:rPr lang="en-US" sz="1800" b="0" i="0" u="none" strike="noStrike" kern="1200" dirty="0">
                <a:solidFill>
                  <a:srgbClr val="000000"/>
                </a:solidFill>
                <a:effectLst/>
                <a:latin typeface="Aptos" panose="020B0004020202020204" pitchFamily="34" charset="0"/>
              </a:rPr>
              <a:t>− Change in N WC </a:t>
            </a:r>
            <a:endParaRPr lang="en-US" sz="1800" b="0" i="0" u="none" strike="noStrike" dirty="0">
              <a:effectLst/>
              <a:latin typeface="Arial" panose="020B0604020202020204" pitchFamily="34" charset="0"/>
            </a:endParaRPr>
          </a:p>
          <a:p>
            <a:pPr marL="0" indent="0" algn="r" rtl="0" eaLnBrk="1" fontAlgn="t" latinLnBrk="0" hangingPunct="1">
              <a:spcBef>
                <a:spcPts val="0"/>
              </a:spcBef>
              <a:spcAft>
                <a:spcPts val="0"/>
              </a:spcAft>
              <a:buNone/>
            </a:pPr>
            <a:r>
              <a:rPr lang="en-IN" sz="1800" i="0" u="sng" strike="noStrike" kern="1200" baseline="0" dirty="0">
                <a:solidFill>
                  <a:srgbClr val="000000"/>
                </a:solidFill>
                <a:effectLst/>
                <a:uFill>
                  <a:solidFill>
                    <a:srgbClr val="000000"/>
                  </a:solidFill>
                </a:uFill>
                <a:latin typeface="Aptos" panose="020B0004020202020204" pitchFamily="34" charset="0"/>
              </a:rPr>
              <a:t> 391</a:t>
            </a:r>
            <a:endParaRPr lang="en-US" sz="1800" i="0" u="none" strike="noStrike" dirty="0">
              <a:effectLst/>
              <a:latin typeface="Arial" panose="020B0604020202020204" pitchFamily="34" charset="0"/>
            </a:endParaRPr>
          </a:p>
          <a:p>
            <a:pPr marL="0" indent="0" algn="l" rtl="0" eaLnBrk="1" fontAlgn="t" latinLnBrk="0" hangingPunct="1">
              <a:spcBef>
                <a:spcPts val="0"/>
              </a:spcBef>
              <a:spcAft>
                <a:spcPts val="0"/>
              </a:spcAft>
              <a:buNone/>
            </a:pPr>
            <a:r>
              <a:rPr lang="en-US" sz="1800" b="1" i="0" u="none" strike="noStrike" kern="1200" dirty="0">
                <a:solidFill>
                  <a:srgbClr val="000000"/>
                </a:solidFill>
                <a:effectLst/>
                <a:latin typeface="Aptos" panose="020B0004020202020204" pitchFamily="34" charset="0"/>
              </a:rPr>
              <a:t>     </a:t>
            </a:r>
            <a:r>
              <a:rPr lang="en-US" sz="1900" b="1" i="0" u="none" strike="noStrike" kern="1200" dirty="0">
                <a:solidFill>
                  <a:srgbClr val="000000"/>
                </a:solidFill>
                <a:effectLst/>
                <a:latin typeface="Aptos" panose="020B0004020202020204" pitchFamily="34" charset="0"/>
              </a:rPr>
              <a:t>Cash flow from assets                                                                                                                                                                                 </a:t>
            </a:r>
            <a:r>
              <a:rPr lang="en-US" sz="1900" b="1" i="0" u="none" strike="noStrike" kern="1200" dirty="0">
                <a:solidFill>
                  <a:srgbClr val="000000"/>
                </a:solidFill>
                <a:effectLst/>
                <a:highlight>
                  <a:srgbClr val="FFFF00"/>
                </a:highlight>
                <a:latin typeface="Aptos" panose="020B0004020202020204" pitchFamily="34" charset="0"/>
              </a:rPr>
              <a:t>  </a:t>
            </a:r>
            <a:r>
              <a:rPr lang="en-IN" sz="1800" b="0" i="0" u="dbl" strike="noStrike" kern="1200" baseline="0" dirty="0">
                <a:solidFill>
                  <a:srgbClr val="000000"/>
                </a:solidFill>
                <a:effectLst/>
                <a:highlight>
                  <a:srgbClr val="FFFF00"/>
                </a:highlight>
                <a:uFill>
                  <a:solidFill>
                    <a:srgbClr val="000000"/>
                  </a:solidFill>
                </a:uFill>
                <a:latin typeface="Aptos" panose="020B0004020202020204" pitchFamily="34" charset="0"/>
              </a:rPr>
              <a:t>$107</a:t>
            </a:r>
            <a:endParaRPr lang="en-US" sz="1800" b="0" i="0" u="none" strike="noStrike" dirty="0">
              <a:effectLst/>
              <a:highlight>
                <a:srgbClr val="FFFF00"/>
              </a:highlight>
              <a:latin typeface="Arial" panose="020B0604020202020204" pitchFamily="34" charset="0"/>
            </a:endParaRPr>
          </a:p>
        </p:txBody>
      </p:sp>
      <p:graphicFrame>
        <p:nvGraphicFramePr>
          <p:cNvPr id="11" name="Table 13">
            <a:extLst>
              <a:ext uri="{FF2B5EF4-FFF2-40B4-BE49-F238E27FC236}">
                <a16:creationId xmlns:a16="http://schemas.microsoft.com/office/drawing/2014/main" id="{7DAA8AC2-2837-1E2E-98DB-845A2417CE51}"/>
              </a:ext>
            </a:extLst>
          </p:cNvPr>
          <p:cNvGraphicFramePr>
            <a:graphicFrameLocks noGrp="1"/>
          </p:cNvGraphicFramePr>
          <p:nvPr>
            <p:extLst>
              <p:ext uri="{D42A27DB-BD31-4B8C-83A1-F6EECF244321}">
                <p14:modId xmlns:p14="http://schemas.microsoft.com/office/powerpoint/2010/main" val="3125168167"/>
              </p:ext>
            </p:extLst>
          </p:nvPr>
        </p:nvGraphicFramePr>
        <p:xfrm>
          <a:off x="457200" y="2776131"/>
          <a:ext cx="9437077" cy="1112520"/>
        </p:xfrm>
        <a:graphic>
          <a:graphicData uri="http://schemas.openxmlformats.org/drawingml/2006/table">
            <a:tbl>
              <a:tblPr firstRow="1" bandRow="1">
                <a:tableStyleId>{2D5ABB26-0587-4C30-8999-92F81FD0307C}</a:tableStyleId>
              </a:tblPr>
              <a:tblGrid>
                <a:gridCol w="4711082">
                  <a:extLst>
                    <a:ext uri="{9D8B030D-6E8A-4147-A177-3AD203B41FA5}">
                      <a16:colId xmlns:a16="http://schemas.microsoft.com/office/drawing/2014/main" val="3663948891"/>
                    </a:ext>
                  </a:extLst>
                </a:gridCol>
                <a:gridCol w="4725995">
                  <a:extLst>
                    <a:ext uri="{9D8B030D-6E8A-4147-A177-3AD203B41FA5}">
                      <a16:colId xmlns:a16="http://schemas.microsoft.com/office/drawing/2014/main" val="378497443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noProof="0" dirty="0">
                          <a:solidFill>
                            <a:schemeClr val="tx1"/>
                          </a:solidFill>
                          <a:latin typeface="+mn-lt"/>
                          <a:ea typeface="+mn-ea"/>
                          <a:cs typeface="+mn-cs"/>
                        </a:rPr>
                        <a:t>         </a:t>
                      </a:r>
                      <a:r>
                        <a:rPr lang="en-US" sz="1800" b="0" kern="1200" dirty="0">
                          <a:solidFill>
                            <a:schemeClr val="tx1"/>
                          </a:solidFill>
                          <a:latin typeface="+mn-lt"/>
                          <a:ea typeface="+mn-ea"/>
                          <a:cs typeface="+mn-cs"/>
                        </a:rPr>
                        <a:t>Interest paid</a:t>
                      </a:r>
                      <a:endParaRPr lang="en-US" sz="1800" b="0" dirty="0">
                        <a:solidFill>
                          <a:schemeClr val="tx1"/>
                        </a:solidFill>
                      </a:endParaRPr>
                    </a:p>
                  </a:txBody>
                  <a:tcPr/>
                </a:tc>
                <a:tc>
                  <a:txBody>
                    <a:bodyPr/>
                    <a:lstStyle/>
                    <a:p>
                      <a:pPr algn="r"/>
                      <a:r>
                        <a:rPr lang="en-IN" sz="1800" b="0" dirty="0">
                          <a:solidFill>
                            <a:schemeClr val="tx1"/>
                          </a:solidFill>
                        </a:rPr>
                        <a:t>$70</a:t>
                      </a:r>
                      <a:endParaRPr lang="en-US" sz="1800" b="0" dirty="0">
                        <a:solidFill>
                          <a:schemeClr val="tx1"/>
                        </a:solidFill>
                      </a:endParaRPr>
                    </a:p>
                  </a:txBody>
                  <a:tcPr/>
                </a:tc>
                <a:extLst>
                  <a:ext uri="{0D108BD9-81ED-4DB2-BD59-A6C34878D82A}">
                    <a16:rowId xmlns:a16="http://schemas.microsoft.com/office/drawing/2014/main" val="1569033790"/>
                  </a:ext>
                </a:extLst>
              </a:tr>
              <a:tr h="370840">
                <a:tc>
                  <a:txBody>
                    <a:bodyPr/>
                    <a:lstStyle/>
                    <a:p>
                      <a:r>
                        <a:rPr lang="en-US" sz="1800" b="0" noProof="0" dirty="0"/>
                        <a:t>         </a:t>
                      </a:r>
                      <a:r>
                        <a:rPr lang="en-US" sz="1800" dirty="0">
                          <a:solidFill>
                            <a:schemeClr val="tx1"/>
                          </a:solidFill>
                        </a:rPr>
                        <a:t>Net new borrowing</a:t>
                      </a:r>
                    </a:p>
                  </a:txBody>
                  <a:tcPr/>
                </a:tc>
                <a:tc>
                  <a:txBody>
                    <a:bodyPr/>
                    <a:lstStyle/>
                    <a:p>
                      <a:pPr algn="r"/>
                      <a:r>
                        <a:rPr lang="en-IN" sz="1800" u="sng" baseline="0" dirty="0">
                          <a:solidFill>
                            <a:schemeClr val="tx1"/>
                          </a:solidFill>
                        </a:rPr>
                        <a:t>  46</a:t>
                      </a:r>
                      <a:endParaRPr lang="en-US" sz="1800" u="sng" baseline="0" dirty="0">
                        <a:solidFill>
                          <a:schemeClr val="tx1"/>
                        </a:solidFill>
                      </a:endParaRPr>
                    </a:p>
                  </a:txBody>
                  <a:tcPr/>
                </a:tc>
                <a:extLst>
                  <a:ext uri="{0D108BD9-81ED-4DB2-BD59-A6C34878D82A}">
                    <a16:rowId xmlns:a16="http://schemas.microsoft.com/office/drawing/2014/main" val="1643002602"/>
                  </a:ext>
                </a:extLst>
              </a:tr>
              <a:tr h="370840">
                <a:tc>
                  <a:txBody>
                    <a:bodyPr/>
                    <a:lstStyle/>
                    <a:p>
                      <a:pPr marL="0" indent="90488"/>
                      <a:r>
                        <a:rPr lang="en-US" sz="1600" b="1" i="1" dirty="0">
                          <a:solidFill>
                            <a:schemeClr val="tx1"/>
                          </a:solidFill>
                        </a:rPr>
                        <a:t>  Cash flow to creditors</a:t>
                      </a:r>
                    </a:p>
                  </a:txBody>
                  <a:tcPr/>
                </a:tc>
                <a:tc>
                  <a:txBody>
                    <a:bodyPr/>
                    <a:lstStyle/>
                    <a:p>
                      <a:pPr algn="r"/>
                      <a:r>
                        <a:rPr lang="en-IN" sz="1800" u="dbl" baseline="0" dirty="0">
                          <a:solidFill>
                            <a:schemeClr val="tx1"/>
                          </a:solidFill>
                          <a:highlight>
                            <a:srgbClr val="FFFF00"/>
                          </a:highlight>
                          <a:uFill>
                            <a:solidFill>
                              <a:schemeClr val="tx1"/>
                            </a:solidFill>
                          </a:uFill>
                        </a:rPr>
                        <a:t>$24</a:t>
                      </a:r>
                      <a:endParaRPr lang="en-US" sz="1800" u="dbl" baseline="0" dirty="0">
                        <a:solidFill>
                          <a:schemeClr val="tx1"/>
                        </a:solidFill>
                        <a:highlight>
                          <a:srgbClr val="FFFF00"/>
                        </a:highlight>
                        <a:uFill>
                          <a:solidFill>
                            <a:schemeClr val="tx1"/>
                          </a:solidFill>
                        </a:uFill>
                      </a:endParaRPr>
                    </a:p>
                  </a:txBody>
                  <a:tcPr/>
                </a:tc>
                <a:extLst>
                  <a:ext uri="{0D108BD9-81ED-4DB2-BD59-A6C34878D82A}">
                    <a16:rowId xmlns:a16="http://schemas.microsoft.com/office/drawing/2014/main" val="2659618133"/>
                  </a:ext>
                </a:extLst>
              </a:tr>
            </a:tbl>
          </a:graphicData>
        </a:graphic>
      </p:graphicFrame>
      <p:sp>
        <p:nvSpPr>
          <p:cNvPr id="13" name="TextBox 12">
            <a:extLst>
              <a:ext uri="{FF2B5EF4-FFF2-40B4-BE49-F238E27FC236}">
                <a16:creationId xmlns:a16="http://schemas.microsoft.com/office/drawing/2014/main" id="{899E7BC8-6A0E-A6A5-62B8-76C5EA4A2DFB}"/>
              </a:ext>
            </a:extLst>
          </p:cNvPr>
          <p:cNvSpPr txBox="1"/>
          <p:nvPr/>
        </p:nvSpPr>
        <p:spPr>
          <a:xfrm>
            <a:off x="457200" y="4171066"/>
            <a:ext cx="6096000" cy="338554"/>
          </a:xfrm>
          <a:prstGeom prst="rect">
            <a:avLst/>
          </a:prstGeom>
          <a:noFill/>
        </p:spPr>
        <p:txBody>
          <a:bodyPr wrap="square">
            <a:spAutoFit/>
          </a:bodyPr>
          <a:lstStyle/>
          <a:p>
            <a:pPr marL="285750" indent="-285750">
              <a:buFont typeface="Arial" panose="020B0604020202020204" pitchFamily="34" charset="0"/>
              <a:buChar char="•"/>
            </a:pPr>
            <a:r>
              <a:rPr lang="en-US" altLang="en-US" sz="1600" b="1" u="sng" dirty="0"/>
              <a:t>Cash flow to stockholders </a:t>
            </a:r>
            <a:endParaRPr lang="en-US" sz="1600" dirty="0"/>
          </a:p>
        </p:txBody>
      </p:sp>
      <p:graphicFrame>
        <p:nvGraphicFramePr>
          <p:cNvPr id="14" name="Table 14">
            <a:extLst>
              <a:ext uri="{FF2B5EF4-FFF2-40B4-BE49-F238E27FC236}">
                <a16:creationId xmlns:a16="http://schemas.microsoft.com/office/drawing/2014/main" id="{B0EB76EB-B106-BD66-F8B9-ACE895CFCB32}"/>
              </a:ext>
            </a:extLst>
          </p:cNvPr>
          <p:cNvGraphicFramePr>
            <a:graphicFrameLocks noGrp="1"/>
          </p:cNvGraphicFramePr>
          <p:nvPr>
            <p:extLst>
              <p:ext uri="{D42A27DB-BD31-4B8C-83A1-F6EECF244321}">
                <p14:modId xmlns:p14="http://schemas.microsoft.com/office/powerpoint/2010/main" val="2442457569"/>
              </p:ext>
            </p:extLst>
          </p:nvPr>
        </p:nvGraphicFramePr>
        <p:xfrm>
          <a:off x="457200" y="4509620"/>
          <a:ext cx="9493028" cy="1112520"/>
        </p:xfrm>
        <a:graphic>
          <a:graphicData uri="http://schemas.openxmlformats.org/drawingml/2006/table">
            <a:tbl>
              <a:tblPr firstRow="1" bandRow="1">
                <a:tableStyleId>{2D5ABB26-0587-4C30-8999-92F81FD0307C}</a:tableStyleId>
              </a:tblPr>
              <a:tblGrid>
                <a:gridCol w="4772105">
                  <a:extLst>
                    <a:ext uri="{9D8B030D-6E8A-4147-A177-3AD203B41FA5}">
                      <a16:colId xmlns:a16="http://schemas.microsoft.com/office/drawing/2014/main" val="2788758495"/>
                    </a:ext>
                  </a:extLst>
                </a:gridCol>
                <a:gridCol w="4720923">
                  <a:extLst>
                    <a:ext uri="{9D8B030D-6E8A-4147-A177-3AD203B41FA5}">
                      <a16:colId xmlns:a16="http://schemas.microsoft.com/office/drawing/2014/main" val="23525066"/>
                    </a:ext>
                  </a:extLst>
                </a:gridCol>
              </a:tblGrid>
              <a:tr h="370840">
                <a:tc>
                  <a:txBody>
                    <a:bodyPr/>
                    <a:lstStyle/>
                    <a:p>
                      <a:r>
                        <a:rPr lang="en-US" sz="1800" b="0" noProof="0" dirty="0"/>
                        <a:t>      </a:t>
                      </a:r>
                      <a:r>
                        <a:rPr lang="en-US" sz="1800" b="0" dirty="0">
                          <a:solidFill>
                            <a:schemeClr val="tx1"/>
                          </a:solidFill>
                        </a:rPr>
                        <a:t>Dividends paid</a:t>
                      </a:r>
                    </a:p>
                  </a:txBody>
                  <a:tcPr/>
                </a:tc>
                <a:tc>
                  <a:txBody>
                    <a:bodyPr/>
                    <a:lstStyle/>
                    <a:p>
                      <a:pPr algn="r"/>
                      <a:r>
                        <a:rPr lang="en-IN" sz="1800" b="0" dirty="0">
                          <a:solidFill>
                            <a:schemeClr val="tx1"/>
                          </a:solidFill>
                        </a:rPr>
                        <a:t>$123  </a:t>
                      </a:r>
                      <a:endParaRPr lang="en-US" sz="1800" b="0" dirty="0">
                        <a:solidFill>
                          <a:schemeClr val="tx1"/>
                        </a:solidFill>
                      </a:endParaRPr>
                    </a:p>
                  </a:txBody>
                  <a:tcPr/>
                </a:tc>
                <a:extLst>
                  <a:ext uri="{0D108BD9-81ED-4DB2-BD59-A6C34878D82A}">
                    <a16:rowId xmlns:a16="http://schemas.microsoft.com/office/drawing/2014/main" val="3656630463"/>
                  </a:ext>
                </a:extLst>
              </a:tr>
              <a:tr h="370840">
                <a:tc>
                  <a:txBody>
                    <a:bodyPr/>
                    <a:lstStyle/>
                    <a:p>
                      <a:r>
                        <a:rPr lang="en-US" sz="1800" b="0" noProof="0" dirty="0"/>
                        <a:t>    −</a:t>
                      </a:r>
                      <a:r>
                        <a:rPr lang="en-US" sz="1800" dirty="0">
                          <a:solidFill>
                            <a:schemeClr val="tx1"/>
                          </a:solidFill>
                        </a:rPr>
                        <a:t> Net new equity raised</a:t>
                      </a:r>
                    </a:p>
                  </a:txBody>
                  <a:tcPr/>
                </a:tc>
                <a:tc>
                  <a:txBody>
                    <a:bodyPr/>
                    <a:lstStyle/>
                    <a:p>
                      <a:pPr algn="r"/>
                      <a:r>
                        <a:rPr lang="en-IN" sz="1800" u="sng" baseline="0" dirty="0">
                          <a:solidFill>
                            <a:schemeClr val="tx1"/>
                          </a:solidFill>
                        </a:rPr>
                        <a:t>    40</a:t>
                      </a:r>
                      <a:endParaRPr lang="en-US" sz="1800" u="sng" baseline="0" dirty="0">
                        <a:solidFill>
                          <a:schemeClr val="tx1"/>
                        </a:solidFill>
                      </a:endParaRPr>
                    </a:p>
                  </a:txBody>
                  <a:tcPr/>
                </a:tc>
                <a:extLst>
                  <a:ext uri="{0D108BD9-81ED-4DB2-BD59-A6C34878D82A}">
                    <a16:rowId xmlns:a16="http://schemas.microsoft.com/office/drawing/2014/main" val="3706474885"/>
                  </a:ext>
                </a:extLst>
              </a:tr>
              <a:tr h="370840">
                <a:tc>
                  <a:txBody>
                    <a:bodyPr/>
                    <a:lstStyle/>
                    <a:p>
                      <a:pPr marL="0" indent="180975"/>
                      <a:r>
                        <a:rPr lang="en-US" sz="1600" b="1" dirty="0">
                          <a:solidFill>
                            <a:schemeClr val="tx1"/>
                          </a:solidFill>
                        </a:rPr>
                        <a:t>Cash flow to stockholders</a:t>
                      </a:r>
                    </a:p>
                  </a:txBody>
                  <a:tcPr/>
                </a:tc>
                <a:tc>
                  <a:txBody>
                    <a:bodyPr/>
                    <a:lstStyle/>
                    <a:p>
                      <a:pPr algn="r"/>
                      <a:r>
                        <a:rPr lang="en-IN" sz="1800" u="dbl" baseline="0" dirty="0">
                          <a:solidFill>
                            <a:schemeClr val="tx1"/>
                          </a:solidFill>
                          <a:highlight>
                            <a:srgbClr val="FFFF00"/>
                          </a:highlight>
                          <a:uFill>
                            <a:solidFill>
                              <a:schemeClr val="tx1"/>
                            </a:solidFill>
                          </a:uFill>
                        </a:rPr>
                        <a:t>$83</a:t>
                      </a:r>
                      <a:endParaRPr lang="en-US" sz="1800" u="dbl" baseline="0" dirty="0">
                        <a:solidFill>
                          <a:schemeClr val="tx1"/>
                        </a:solidFill>
                        <a:highlight>
                          <a:srgbClr val="FFFF00"/>
                        </a:highlight>
                        <a:uFill>
                          <a:solidFill>
                            <a:schemeClr val="tx1"/>
                          </a:solidFill>
                        </a:uFill>
                      </a:endParaRPr>
                    </a:p>
                  </a:txBody>
                  <a:tcPr/>
                </a:tc>
                <a:extLst>
                  <a:ext uri="{0D108BD9-81ED-4DB2-BD59-A6C34878D82A}">
                    <a16:rowId xmlns:a16="http://schemas.microsoft.com/office/drawing/2014/main" val="1230792242"/>
                  </a:ext>
                </a:extLst>
              </a:tr>
            </a:tbl>
          </a:graphicData>
        </a:graphic>
      </p:graphicFrame>
      <p:sp>
        <p:nvSpPr>
          <p:cNvPr id="16" name="TextBox 15">
            <a:extLst>
              <a:ext uri="{FF2B5EF4-FFF2-40B4-BE49-F238E27FC236}">
                <a16:creationId xmlns:a16="http://schemas.microsoft.com/office/drawing/2014/main" id="{73E025D0-9A94-6E64-E8BC-BA8C3C52B484}"/>
              </a:ext>
            </a:extLst>
          </p:cNvPr>
          <p:cNvSpPr txBox="1"/>
          <p:nvPr/>
        </p:nvSpPr>
        <p:spPr>
          <a:xfrm>
            <a:off x="633046" y="2475735"/>
            <a:ext cx="5920154" cy="338554"/>
          </a:xfrm>
          <a:prstGeom prst="rect">
            <a:avLst/>
          </a:prstGeom>
          <a:noFill/>
        </p:spPr>
        <p:txBody>
          <a:bodyPr wrap="square" rtlCol="0">
            <a:spAutoFit/>
          </a:bodyPr>
          <a:lstStyle/>
          <a:p>
            <a:r>
              <a:rPr lang="en-US" sz="1600" b="1" u="sng" dirty="0"/>
              <a:t>Cash Flow to Creditors</a:t>
            </a:r>
          </a:p>
        </p:txBody>
      </p:sp>
      <p:sp>
        <p:nvSpPr>
          <p:cNvPr id="4" name="Slide Number Placeholder 3">
            <a:extLst>
              <a:ext uri="{FF2B5EF4-FFF2-40B4-BE49-F238E27FC236}">
                <a16:creationId xmlns:a16="http://schemas.microsoft.com/office/drawing/2014/main" id="{A99E10BC-D4EB-1CB8-B43D-DE56714832E6}"/>
              </a:ext>
            </a:extLst>
          </p:cNvPr>
          <p:cNvSpPr>
            <a:spLocks noGrp="1"/>
          </p:cNvSpPr>
          <p:nvPr>
            <p:ph type="sldNum" sz="quarter" idx="10"/>
          </p:nvPr>
        </p:nvSpPr>
        <p:spPr/>
        <p:txBody>
          <a:bodyPr/>
          <a:lstStyle/>
          <a:p>
            <a:fld id="{68151E55-6873-49E2-B8D5-2F265E6F1973}" type="slidenum">
              <a:rPr lang="en-US" smtClean="0"/>
              <a:t>26</a:t>
            </a:fld>
            <a:endParaRPr lang="en-US" dirty="0"/>
          </a:p>
        </p:txBody>
      </p:sp>
    </p:spTree>
    <p:extLst>
      <p:ext uri="{BB962C8B-B14F-4D97-AF65-F5344CB8AC3E}">
        <p14:creationId xmlns:p14="http://schemas.microsoft.com/office/powerpoint/2010/main" val="7828498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AC481-FA2A-4A46-88F6-2E68B1FF2655}"/>
              </a:ext>
            </a:extLst>
          </p:cNvPr>
          <p:cNvSpPr>
            <a:spLocks noGrp="1"/>
          </p:cNvSpPr>
          <p:nvPr>
            <p:ph type="title"/>
          </p:nvPr>
        </p:nvSpPr>
        <p:spPr>
          <a:ln>
            <a:solidFill>
              <a:schemeClr val="tx1"/>
            </a:solidFill>
          </a:ln>
        </p:spPr>
        <p:txBody>
          <a:bodyPr/>
          <a:lstStyle/>
          <a:p>
            <a:r>
              <a:rPr lang="en-US" altLang="en-US" noProof="0" dirty="0">
                <a:solidFill>
                  <a:schemeClr val="tx1"/>
                </a:solidFill>
              </a:rPr>
              <a:t>Cash Flow Summary</a:t>
            </a:r>
            <a:endParaRPr lang="en-US" sz="1000" dirty="0"/>
          </a:p>
        </p:txBody>
      </p:sp>
      <p:graphicFrame>
        <p:nvGraphicFramePr>
          <p:cNvPr id="8" name="Table 8">
            <a:extLst>
              <a:ext uri="{FF2B5EF4-FFF2-40B4-BE49-F238E27FC236}">
                <a16:creationId xmlns:a16="http://schemas.microsoft.com/office/drawing/2014/main" id="{474DDAD6-20A3-457F-B158-F01530BD5E7B}"/>
              </a:ext>
            </a:extLst>
          </p:cNvPr>
          <p:cNvGraphicFramePr>
            <a:graphicFrameLocks noGrp="1"/>
          </p:cNvGraphicFramePr>
          <p:nvPr>
            <p:extLst>
              <p:ext uri="{D42A27DB-BD31-4B8C-83A1-F6EECF244321}">
                <p14:modId xmlns:p14="http://schemas.microsoft.com/office/powerpoint/2010/main" val="1986997088"/>
              </p:ext>
            </p:extLst>
          </p:nvPr>
        </p:nvGraphicFramePr>
        <p:xfrm>
          <a:off x="457200" y="1412250"/>
          <a:ext cx="11277599" cy="4654824"/>
        </p:xfrm>
        <a:graphic>
          <a:graphicData uri="http://schemas.openxmlformats.org/drawingml/2006/table">
            <a:tbl>
              <a:tblPr firstRow="1" bandRow="1">
                <a:tableStyleId>{2D5ABB26-0587-4C30-8999-92F81FD0307C}</a:tableStyleId>
              </a:tblPr>
              <a:tblGrid>
                <a:gridCol w="11277599">
                  <a:extLst>
                    <a:ext uri="{9D8B030D-6E8A-4147-A177-3AD203B41FA5}">
                      <a16:colId xmlns:a16="http://schemas.microsoft.com/office/drawing/2014/main" val="2585563791"/>
                    </a:ext>
                  </a:extLst>
                </a:gridCol>
              </a:tblGrid>
              <a:tr h="354164">
                <a:tc>
                  <a:txBody>
                    <a:bodyPr/>
                    <a:lstStyle/>
                    <a:p>
                      <a:r>
                        <a:rPr lang="en-US" sz="1400" dirty="0">
                          <a:solidFill>
                            <a:schemeClr val="tx1"/>
                          </a:solidFill>
                        </a:rPr>
                        <a:t>1. The cash flow identity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512604273"/>
                  </a:ext>
                </a:extLst>
              </a:tr>
              <a:tr h="494860">
                <a:tc>
                  <a:txBody>
                    <a:bodyPr/>
                    <a:lstStyle/>
                    <a:p>
                      <a:pPr algn="ctr"/>
                      <a:r>
                        <a:rPr lang="en-US" sz="1400" dirty="0"/>
                        <a:t>Cash flow from assets = Cash flow to creditors (bondholders) </a:t>
                      </a:r>
                    </a:p>
                    <a:p>
                      <a:pPr marL="0" indent="1524000" algn="ctr"/>
                      <a:r>
                        <a:rPr lang="en-US" sz="1400" dirty="0"/>
                        <a:t>+ Cash flow to stockholders (owners)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63832756"/>
                  </a:ext>
                </a:extLst>
              </a:tr>
              <a:tr h="354164">
                <a:tc>
                  <a:txBody>
                    <a:bodyPr/>
                    <a:lstStyle/>
                    <a:p>
                      <a:r>
                        <a:rPr lang="en-US" sz="1400" b="1" dirty="0">
                          <a:solidFill>
                            <a:schemeClr val="tx1"/>
                          </a:solidFill>
                        </a:rPr>
                        <a:t>2. Cash flow from assets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466193219"/>
                  </a:ext>
                </a:extLst>
              </a:tr>
              <a:tr h="1921221">
                <a:tc>
                  <a:txBody>
                    <a:bodyPr/>
                    <a:lstStyle/>
                    <a:p>
                      <a:pPr marL="0" indent="1343025" algn="l"/>
                      <a:r>
                        <a:rPr lang="en-US" sz="1400" dirty="0"/>
                        <a:t>Cash flow from assets = Operating cash flow </a:t>
                      </a:r>
                    </a:p>
                    <a:p>
                      <a:pPr marL="0" indent="361950" algn="ctr"/>
                      <a:r>
                        <a:rPr lang="en-US" sz="1400" dirty="0"/>
                        <a:t>− Net capital spending </a:t>
                      </a:r>
                    </a:p>
                    <a:p>
                      <a:pPr marL="0" indent="1524000" algn="ctr"/>
                      <a:r>
                        <a:rPr lang="en-US" sz="1400" dirty="0"/>
                        <a:t>− Change in net working capital (N</a:t>
                      </a:r>
                      <a:r>
                        <a:rPr lang="en-US" sz="100" dirty="0"/>
                        <a:t> </a:t>
                      </a:r>
                      <a:r>
                        <a:rPr lang="en-US" sz="1400" dirty="0"/>
                        <a:t>W</a:t>
                      </a:r>
                      <a:r>
                        <a:rPr lang="en-US" sz="100" dirty="0"/>
                        <a:t> </a:t>
                      </a:r>
                      <a:r>
                        <a:rPr lang="en-US" sz="1400" dirty="0"/>
                        <a:t>C) </a:t>
                      </a:r>
                    </a:p>
                    <a:p>
                      <a:pPr algn="l"/>
                      <a:r>
                        <a:rPr lang="en-US" sz="1400" dirty="0"/>
                        <a:t>where: </a:t>
                      </a:r>
                    </a:p>
                    <a:p>
                      <a:pPr marL="0" indent="361950" algn="ctr"/>
                      <a:r>
                        <a:rPr lang="en-US" sz="1400" dirty="0"/>
                        <a:t>Operating cash flow = Earnings before interest and taxes (E</a:t>
                      </a:r>
                      <a:r>
                        <a:rPr lang="en-US" sz="100" dirty="0"/>
                        <a:t> </a:t>
                      </a:r>
                      <a:r>
                        <a:rPr lang="en-US" sz="1400" dirty="0"/>
                        <a:t>B</a:t>
                      </a:r>
                      <a:r>
                        <a:rPr lang="en-US" sz="100" dirty="0"/>
                        <a:t> </a:t>
                      </a:r>
                      <a:r>
                        <a:rPr lang="en-US" sz="1400" dirty="0"/>
                        <a:t>I</a:t>
                      </a:r>
                      <a:r>
                        <a:rPr lang="en-US" sz="100" dirty="0"/>
                        <a:t> </a:t>
                      </a:r>
                      <a:r>
                        <a:rPr lang="en-US" sz="1400" dirty="0"/>
                        <a:t>T) </a:t>
                      </a:r>
                    </a:p>
                    <a:p>
                      <a:pPr marL="0" indent="450850" algn="ctr"/>
                      <a:r>
                        <a:rPr lang="en-US" sz="1400" dirty="0"/>
                        <a:t>+ Depreciation − Taxes </a:t>
                      </a:r>
                    </a:p>
                    <a:p>
                      <a:pPr marL="0" indent="1162050" algn="ctr"/>
                      <a:r>
                        <a:rPr lang="en-US" sz="1400" dirty="0"/>
                        <a:t>Net capital spending = Ending net fixed assets − Beginning net fixed assets </a:t>
                      </a:r>
                    </a:p>
                    <a:p>
                      <a:pPr marL="0" indent="0" algn="ctr"/>
                      <a:r>
                        <a:rPr lang="en-US" sz="1400" dirty="0"/>
                        <a:t>+ Depreciation </a:t>
                      </a:r>
                    </a:p>
                    <a:p>
                      <a:pPr marL="0" indent="90488" algn="ctr"/>
                      <a:r>
                        <a:rPr lang="en-US" sz="1400" dirty="0"/>
                        <a:t>Change in NWC = Ending NWC − Beginning N</a:t>
                      </a:r>
                      <a:r>
                        <a:rPr lang="en-US" sz="100" dirty="0"/>
                        <a:t> </a:t>
                      </a:r>
                      <a:r>
                        <a:rPr lang="en-US" sz="1400" dirty="0"/>
                        <a:t>W</a:t>
                      </a:r>
                      <a:r>
                        <a:rPr lang="en-US" sz="100" dirty="0"/>
                        <a:t> </a:t>
                      </a:r>
                      <a:r>
                        <a:rPr lang="en-US" sz="1400" dirty="0"/>
                        <a:t>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75954581"/>
                  </a:ext>
                </a:extLst>
              </a:tr>
              <a:tr h="354164">
                <a:tc>
                  <a:txBody>
                    <a:bodyPr/>
                    <a:lstStyle/>
                    <a:p>
                      <a:r>
                        <a:rPr lang="en-US" sz="1400" b="1" dirty="0"/>
                        <a:t>3. Cash flow to creditors (bondholders)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20073454"/>
                  </a:ext>
                </a:extLst>
              </a:tr>
              <a:tr h="354164">
                <a:tc>
                  <a:txBody>
                    <a:bodyPr/>
                    <a:lstStyle/>
                    <a:p>
                      <a:pPr algn="ctr"/>
                      <a:r>
                        <a:rPr lang="en-US" sz="1400" dirty="0"/>
                        <a:t>Cash flow to creditors = Interest paid − Net new borrowing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08846839"/>
                  </a:ext>
                </a:extLst>
              </a:tr>
              <a:tr h="354164">
                <a:tc>
                  <a:txBody>
                    <a:bodyPr/>
                    <a:lstStyle/>
                    <a:p>
                      <a:r>
                        <a:rPr lang="en-US" sz="1400" b="1" dirty="0">
                          <a:solidFill>
                            <a:schemeClr val="tx1"/>
                          </a:solidFill>
                        </a:rPr>
                        <a:t>4. Cash flow to stockholders (owners)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691591681"/>
                  </a:ext>
                </a:extLst>
              </a:tr>
              <a:tr h="354164">
                <a:tc>
                  <a:txBody>
                    <a:bodyPr/>
                    <a:lstStyle/>
                    <a:p>
                      <a:pPr algn="ctr"/>
                      <a:r>
                        <a:rPr lang="en-US" sz="1400" dirty="0"/>
                        <a:t>Cash flow to stockholders = Dividends paid − Net new equity raised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6567324"/>
                  </a:ext>
                </a:extLst>
              </a:tr>
            </a:tbl>
          </a:graphicData>
        </a:graphic>
      </p:graphicFrame>
      <p:sp>
        <p:nvSpPr>
          <p:cNvPr id="6" name="Slide Number Placeholder 5">
            <a:extLst>
              <a:ext uri="{FF2B5EF4-FFF2-40B4-BE49-F238E27FC236}">
                <a16:creationId xmlns:a16="http://schemas.microsoft.com/office/drawing/2014/main" id="{7F7388C9-CE66-4ADB-9969-BA535382060B}"/>
              </a:ext>
            </a:extLst>
          </p:cNvPr>
          <p:cNvSpPr>
            <a:spLocks noGrp="1"/>
          </p:cNvSpPr>
          <p:nvPr>
            <p:ph type="sldNum" sz="quarter" idx="4"/>
          </p:nvPr>
        </p:nvSpPr>
        <p:spPr/>
        <p:txBody>
          <a:bodyPr/>
          <a:lstStyle/>
          <a:p>
            <a:fld id="{68151E55-6873-49E2-B8D5-2F265E6F1973}" type="slidenum">
              <a:rPr lang="en-US" smtClean="0"/>
              <a:pPr/>
              <a:t>27</a:t>
            </a:fld>
            <a:endParaRPr lang="en-US" dirty="0"/>
          </a:p>
        </p:txBody>
      </p:sp>
    </p:spTree>
    <p:extLst>
      <p:ext uri="{BB962C8B-B14F-4D97-AF65-F5344CB8AC3E}">
        <p14:creationId xmlns:p14="http://schemas.microsoft.com/office/powerpoint/2010/main" val="30349049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126</TotalTime>
  <Words>2870</Words>
  <Application>Microsoft Office PowerPoint</Application>
  <PresentationFormat>Widescreen</PresentationFormat>
  <Paragraphs>389</Paragraphs>
  <Slides>27</Slides>
  <Notes>16</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7" baseType="lpstr">
      <vt:lpstr>Aptos</vt:lpstr>
      <vt:lpstr>Aptos Display</vt:lpstr>
      <vt:lpstr>Arial</vt:lpstr>
      <vt:lpstr>Roboto</vt:lpstr>
      <vt:lpstr>SourceSansPro</vt:lpstr>
      <vt:lpstr>STIX MathJax Main</vt:lpstr>
      <vt:lpstr>Times New Roman</vt:lpstr>
      <vt:lpstr>ui-sans-serif</vt:lpstr>
      <vt:lpstr>Office Theme</vt:lpstr>
      <vt:lpstr>Equation</vt:lpstr>
      <vt:lpstr>Financial Statements – Ch 2 Outline</vt:lpstr>
      <vt:lpstr>The Balance Sheet 1</vt:lpstr>
      <vt:lpstr>The Balance Sheet 1</vt:lpstr>
      <vt:lpstr>The Balance Sheet 1</vt:lpstr>
      <vt:lpstr>Construction of the Balance Sheet</vt:lpstr>
      <vt:lpstr>Net Working Capital</vt:lpstr>
      <vt:lpstr>PowerPoint Presentation</vt:lpstr>
      <vt:lpstr>Liquidity</vt:lpstr>
      <vt:lpstr>Debt versus equity</vt:lpstr>
      <vt:lpstr>Market Value Versus Book Value</vt:lpstr>
      <vt:lpstr>U.S. Corporation 2023 and 2024 Balance Sheets</vt:lpstr>
      <vt:lpstr>Income Statement</vt:lpstr>
      <vt:lpstr>U.S. Corporation: Income Statement</vt:lpstr>
      <vt:lpstr>The Income Statement 2</vt:lpstr>
      <vt:lpstr>The generally accepted accounting principles (GAAP)</vt:lpstr>
      <vt:lpstr>Taxes</vt:lpstr>
      <vt:lpstr>Cash Flow</vt:lpstr>
      <vt:lpstr>Cash Flow from Assets 1</vt:lpstr>
      <vt:lpstr>Cash Flow from Assets </vt:lpstr>
      <vt:lpstr>Cash Flow from Assets </vt:lpstr>
      <vt:lpstr>U.S. Corporation 2023 and 2024 Balance Sheets</vt:lpstr>
      <vt:lpstr>U.S. Corporation: Income Statement</vt:lpstr>
      <vt:lpstr>Cash Flow from Assets 3</vt:lpstr>
      <vt:lpstr>Cash Flow to Creditors (bondholders) and Stockholders</vt:lpstr>
      <vt:lpstr>Cash Flow to Creditors and Stockholders</vt:lpstr>
      <vt:lpstr>Cash Flow  - updated since last posting</vt:lpstr>
      <vt:lpstr>Cash Flow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El-Ashmawi, Amal</dc:creator>
  <cp:lastModifiedBy>El-Ashmawi, Amal</cp:lastModifiedBy>
  <cp:revision>15</cp:revision>
  <cp:lastPrinted>2024-08-24T20:28:31Z</cp:lastPrinted>
  <dcterms:created xsi:type="dcterms:W3CDTF">2024-08-23T10:12:06Z</dcterms:created>
  <dcterms:modified xsi:type="dcterms:W3CDTF">2024-08-29T12:54:16Z</dcterms:modified>
</cp:coreProperties>
</file>